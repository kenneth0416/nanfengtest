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Vacancy %</c:v>
                </c:pt>
              </c:strCache>
            </c:strRef>
          </c:tx>
          <c:spPr>
            <a:solidFill>
              <a:srgbClr val="2E7D55"/>
            </a:solidFill>
            <a:ln w="25400" cap="flat">
              <a:solidFill>
                <a:srgbClr val="2E7D5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55"/>
              </a:solidFill>
              <a:ln w="9525" cap="flat">
                <a:solidFill>
                  <a:srgbClr val="2E7D55"/>
                </a:solidFill>
                <a:prstDash val="solid"/>
                <a:round/>
              </a:ln>
              <a:effectLst/>
            </c:spPr>
          </c:marker>
          <c:cat>
            <c:multiLvlStrRef>
              <c:f>Sheet1!$A$2:$A$9</c:f>
              <c:multiLvlStrCache>
                <c:ptCount val="8"/>
                <c:lvl>
                  <c:pt idx="0">
                    <c:v>Q1 24</c:v>
                  </c:pt>
                  <c:pt idx="1">
                    <c:v>Q2 24</c:v>
                  </c:pt>
                  <c:pt idx="2">
                    <c:v>Q3 24</c:v>
                  </c:pt>
                  <c:pt idx="3">
                    <c:v>Q2 25</c:v>
                  </c:pt>
                  <c:pt idx="4">
                    <c:v>Q3 25</c:v>
                  </c:pt>
                  <c:pt idx="5">
                    <c:v>Q4 25</c:v>
                  </c:pt>
                  <c:pt idx="6">
                    <c:v>Q1 26</c:v>
                  </c:pt>
                  <c:pt idx="7">
                    <c:v>Q2 26</c:v>
                  </c:pt>
                </c:lvl>
              </c:multiLvlStrCache>
            </c:multiLvlStrRef>
          </c:cat>
          <c:val>
            <c:numRef>
              <c:f>Sheet1!$B$2:$B$9</c:f>
              <c:numCache>
                <c:formatCode>General</c:formatCode>
                <c:ptCount val="8"/>
                <c:pt idx="0">
                  <c:v>9.9</c:v>
                </c:pt>
                <c:pt idx="1">
                  <c:v>9.4</c:v>
                </c:pt>
                <c:pt idx="2">
                  <c:v>9.1</c:v>
                </c:pt>
                <c:pt idx="3">
                  <c:v>8.8</c:v>
                </c:pt>
                <c:pt idx="4">
                  <c:v>9</c:v>
                </c:pt>
                <c:pt idx="5">
                  <c:v>8.6</c:v>
                </c:pt>
                <c:pt idx="6">
                  <c:v>8.5</c:v>
                </c:pt>
                <c:pt idx="7">
                  <c:v>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1"/>
          <c:min val="7.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the team doesn't lack data, it lacks a way to notice what changed, trust the number, and turn it into a brief. This is a working proof of concept, live at the address on the slide; the screenshot is the real Monitor page from this morning. The faint line behind the title is real data: Central London vacancy falling from 9.9% to 8.0%.
Data notice: market figures are restated from public Knight Frank research for evaluating this PoC only. Knight Frank's terms don't allow AI use of its content, so a production version runs on the reports the team already subscribes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agent's real output from this week, not a mock-up: the four cards are the top of 'Worth a look today' on Monitor. The 'so what' line is the conversation the team should have; the agent writes a version of it on each card and links every number to the report and quarter it came from.
Flight to quality shows up as the gap between Grade A and overall vacancy, the clearest way to see occupiers choosing the best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cost today is the hand-offs. A figure from an agency report is copied into a spreadsheet, summarised in an email and pasted on a slide; each step drops something, usually the quarter, the source or the exact submarket, and the next reader has to write back and ask. The example on the left is City Core vacancy, 6.1% in Q2 2026.
With the agent, everyone reads from one shared library. The figure carries its quarter, definition, publisher and who uploaded it into every screen, answer and brief, so there is nothing to retell. Questions go straight to the Copilot instead of an analyst's inbox, and anything one person spots or flags, the whole team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jobs the business team already does every week: keep up with the market, make a call, report upwards. One tool for all three, shared by the whole team, so a signal one person spots can go straight into the brief someone else writes. The people named are examples of how different roles would use it, not separate versions of the app. All three screenshots are the live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decides whether the team will put the agent's numbers in a board paper. Three kinds of source, kept apart and labelled everywhere. Every figure the agent reads from a PDF has to pass three checks; anything doubtful goes into a shared queue and shows with a warning until someone settles it. The example on screen is real: the agent found that one Knight Frank report disagrees with itself.
Why Knight Frank is upload-only: its website terms forbid automated collection and AI use. The agent read those terms itself and classified it that way. For this PoC the figures are restated from public reports for evaluation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Everything on the left is done: the app is live, tested with the real model, and open source. The pilot is small and measured: four weeks, three to five people, and three numbers we agree up front. What I need from the business is the reports we already pay for, one person to own flagged figures, and a decision on data hosting and the model. Scan the code and try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3A5C"/>
          </a:solidFill>
          <a:ln/>
        </p:spPr>
      </p:sp>
      <p:sp>
        <p:nvSpPr>
          <p:cNvPr id="3" name="Shape 1"/>
          <p:cNvSpPr/>
          <p:nvPr/>
        </p:nvSpPr>
        <p:spPr>
          <a:xfrm>
            <a:off x="0" y="0"/>
            <a:ext cx="1463040" cy="82296"/>
          </a:xfrm>
          <a:prstGeom prst="rect">
            <a:avLst/>
          </a:prstGeom>
          <a:solidFill>
            <a:srgbClr val="B9781A"/>
          </a:solidFill>
          <a:ln/>
        </p:spPr>
      </p:sp>
      <p:pic>
        <p:nvPicPr>
          <p:cNvPr id="4" name="Image 0" descr="/tmp/claude-0/-home-user-nanfengtest/494dfdc6-8cf5-5478-905d-79a5906d19d6/scratchpad/deck/assets/app-icon-1024.png">    </p:cNvPr>
          <p:cNvPicPr>
            <a:picLocks noChangeAspect="1"/>
          </p:cNvPicPr>
          <p:nvPr/>
        </p:nvPicPr>
        <p:blipFill>
          <a:blip r:embed="rId1"/>
          <a:stretch>
            <a:fillRect/>
          </a:stretch>
        </p:blipFill>
        <p:spPr>
          <a:xfrm>
            <a:off x="548640" y="6400800"/>
            <a:ext cx="219456" cy="219456"/>
          </a:xfrm>
          <a:prstGeom prst="rect">
            <a:avLst/>
          </a:prstGeom>
        </p:spPr>
      </p:pic>
      <p:sp>
        <p:nvSpPr>
          <p:cNvPr id="5" name="Text 2"/>
          <p:cNvSpPr/>
          <p:nvPr/>
        </p:nvSpPr>
        <p:spPr>
          <a:xfrm>
            <a:off x="841248" y="6391656"/>
            <a:ext cx="7315200" cy="237744"/>
          </a:xfrm>
          <a:prstGeom prst="rect">
            <a:avLst/>
          </a:prstGeom>
          <a:noFill/>
          <a:ln/>
        </p:spPr>
        <p:txBody>
          <a:bodyPr wrap="square" lIns="0" tIns="0" rIns="0" bIns="0" rtlCol="0" anchor="ctr"/>
          <a:lstStyle/>
          <a:p>
            <a:pPr indent="0" marL="0">
              <a:buNone/>
            </a:pPr>
            <a:r>
              <a:rPr lang="en-US" sz="950" dirty="0">
                <a:solidFill>
                  <a:srgbClr val="6B7A90"/>
                </a:solidFill>
                <a:latin typeface="Source Sans 3" pitchFamily="34" charset="0"/>
                <a:ea typeface="Source Sans 3" pitchFamily="34" charset="-122"/>
                <a:cs typeface="Source Sans 3" pitchFamily="34" charset="-120"/>
              </a:rPr>
              <a:t>London Office Market Agent  ·  built for Nan Fung Group  ·  proof of concept, October 2026</a:t>
            </a:r>
            <a:endParaRPr lang="en-US" sz="950" dirty="0"/>
          </a:p>
        </p:txBody>
      </p:sp>
      <p:sp>
        <p:nvSpPr>
          <p:cNvPr id="25" name="Slide Number Placeholder 0"/>
          <p:cNvSpPr>
            <a:spLocks noGrp="1"/>
          </p:cNvSpPr>
          <p:nvPr>
            <p:ph type="sldNum" sz="quarter" idx="4294967295"/>
          </p:nvPr>
        </p:nvSpPr>
        <p:spPr>
          <a:xfrm>
            <a:off x="11274552" y="6391656"/>
            <a:ext cx="365760" cy="237744"/>
          </a:xfrm>
          <a:prstGeom prst="rect">
            <a:avLst/>
          </a:prstGeom>
          <a:extLst>
            <a:ext uri="{C572A759-6A51-4108-AA02-DFA0A04FC94B}">
              <ma14:wrappingTextBoxFlag xmlns:ma14="http://schemas.microsoft.com/office/mac/drawingml/2011/main" val="0"/>
            </a:ext>
          </a:extLst>
        </p:spPr>
        <p:txBody>
          <a:bodyPr/>
          <a:lstStyle>
            <a:lvl1pPr>
              <a:defRPr sz="950">
                <a:solidFill>
                  <a:srgbClr val="6B7A90"/>
                </a:solidFill>
                <a:latin typeface="IBM Plex Mono"/>
                <a:ea typeface="IBM Plex Mono"/>
                <a:cs typeface="IBM Plex Mono"/>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91656"/>
            <a:ext cx="365760" cy="237744"/>
          </a:xfrm>
          <a:prstGeom prst="rect">
            <a:avLst/>
          </a:prstGeom>
          <a:extLst>
            <a:ext uri="{C572A759-6A51-4108-AA02-DFA0A04FC94B}">
              <ma14:wrappingTextBoxFlag xmlns:ma14="http://schemas.microsoft.com/office/mac/drawingml/2011/main" val="0"/>
            </a:ext>
          </a:extLst>
        </p:spPr>
        <p:txBody>
          <a:bodyPr/>
          <a:lstStyle>
            <a:lvl1pPr>
              <a:defRPr sz="950">
                <a:solidFill>
                  <a:srgbClr val="6B7A90"/>
                </a:solidFill>
                <a:latin typeface="IBM Plex Mono"/>
                <a:ea typeface="IBM Plex Mono"/>
                <a:cs typeface="IBM Plex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hyperlink" Target="https://kenneth-london-office.convert-md.com" TargetMode="External"/><Relationship Id="rId5" Type="http://schemas.openxmlformats.org/officeDocument/2006/relationships/hyperlink" Target="https://github.com/Kenneth0416/nanfengtest" TargetMode="External"/><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kenneth-london-office.convert-md.com" TargetMode="External"/><Relationship Id="rId3" Type="http://schemas.openxmlformats.org/officeDocument/2006/relationships/hyperlink" Target="https://github.com/Kenneth0416/nanfengtest" TargetMode="External"/><Relationship Id="rId1" Type="http://schemas.openxmlformats.org/officeDocument/2006/relationships/image" Target="../media/image-6-1.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co-brand logo" descr="/tmp/claude-0/-home-user-nanfengtest/494dfdc6-8cf5-5478-905d-79a5906d19d6/scratchpad/deck/assets/cobrand-nanfung-on-navy@2x.png">    </p:cNvPr>
          <p:cNvPicPr>
            <a:picLocks noChangeAspect="1"/>
          </p:cNvPicPr>
          <p:nvPr/>
        </p:nvPicPr>
        <p:blipFill>
          <a:blip r:embed="rId2"/>
          <a:stretch>
            <a:fillRect/>
          </a:stretch>
        </p:blipFill>
        <p:spPr>
          <a:xfrm>
            <a:off x="640080" y="566928"/>
            <a:ext cx="3566160" cy="631062"/>
          </a:xfrm>
          <a:prstGeom prst="rect">
            <a:avLst/>
          </a:prstGeom>
        </p:spPr>
      </p:pic>
      <p:sp>
        <p:nvSpPr>
          <p:cNvPr id="3" name="Text 0"/>
          <p:cNvSpPr/>
          <p:nvPr/>
        </p:nvSpPr>
        <p:spPr>
          <a:xfrm>
            <a:off x="640080" y="1572768"/>
            <a:ext cx="5486400" cy="274320"/>
          </a:xfrm>
          <a:prstGeom prst="rect">
            <a:avLst/>
          </a:prstGeom>
          <a:noFill/>
          <a:ln/>
        </p:spPr>
        <p:txBody>
          <a:bodyPr wrap="square" lIns="0" tIns="0" rIns="0" bIns="0" rtlCol="0" anchor="ctr"/>
          <a:lstStyle/>
          <a:p>
            <a:pPr indent="0" marL="0">
              <a:buNone/>
            </a:pPr>
            <a:r>
              <a:rPr lang="en-US" sz="1150" b="1" spc="120" kern="0" dirty="0">
                <a:solidFill>
                  <a:srgbClr val="DEA54A"/>
                </a:solidFill>
                <a:latin typeface="Source Sans 3" pitchFamily="34" charset="0"/>
                <a:ea typeface="Source Sans 3" pitchFamily="34" charset="-122"/>
                <a:cs typeface="Source Sans 3" pitchFamily="34" charset="-120"/>
              </a:rPr>
              <a:t>PROOF OF CONCEPT  ·  FOR THE BUSINESS TEAM</a:t>
            </a:r>
            <a:endParaRPr lang="en-US" sz="1150" dirty="0"/>
          </a:p>
        </p:txBody>
      </p:sp>
      <p:sp>
        <p:nvSpPr>
          <p:cNvPr id="4" name="headline"/>
          <p:cNvSpPr/>
          <p:nvPr/>
        </p:nvSpPr>
        <p:spPr>
          <a:xfrm>
            <a:off x="640080" y="1874520"/>
            <a:ext cx="5486400" cy="173736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Archivo" pitchFamily="34" charset="0"/>
                <a:ea typeface="Archivo" pitchFamily="34" charset="-122"/>
                <a:cs typeface="Archivo" pitchFamily="34" charset="-120"/>
              </a:rPr>
              <a:t>Know what moved in London offices before Monday's meeting</a:t>
            </a:r>
            <a:endParaRPr lang="en-US" sz="3800" dirty="0"/>
          </a:p>
        </p:txBody>
      </p:sp>
      <p:sp>
        <p:nvSpPr>
          <p:cNvPr id="5" name="sub-headline"/>
          <p:cNvSpPr/>
          <p:nvPr/>
        </p:nvSpPr>
        <p:spPr>
          <a:xfrm>
            <a:off x="640080" y="3675888"/>
            <a:ext cx="5120640" cy="868680"/>
          </a:xfrm>
          <a:prstGeom prst="rect">
            <a:avLst/>
          </a:prstGeom>
          <a:noFill/>
          <a:ln/>
        </p:spPr>
        <p:txBody>
          <a:bodyPr wrap="square" lIns="0" tIns="0" rIns="0" bIns="0" rtlCol="0" anchor="t"/>
          <a:lstStyle/>
          <a:p>
            <a:pPr indent="0" marL="0">
              <a:buNone/>
            </a:pPr>
            <a:r>
              <a:rPr lang="en-US" sz="1600" dirty="0">
                <a:solidFill>
                  <a:srgbClr val="C9D3DF"/>
                </a:solidFill>
                <a:latin typeface="Source Sans 3" pitchFamily="34" charset="0"/>
                <a:ea typeface="Source Sans 3" pitchFamily="34" charset="-122"/>
                <a:cs typeface="Source Sans 3" pitchFamily="34" charset="-120"/>
              </a:rPr>
              <a:t>One AI market agent the whole team shares. It watches the market, answers questions with the source behind every number, and writes the weekly brief.</a:t>
            </a:r>
            <a:endParaRPr lang="en-US" sz="1600" dirty="0"/>
          </a:p>
        </p:txBody>
      </p:sp>
      <p:sp>
        <p:nvSpPr>
          <p:cNvPr id="6" name="try-it card"/>
          <p:cNvSpPr/>
          <p:nvPr/>
        </p:nvSpPr>
        <p:spPr>
          <a:xfrm>
            <a:off x="640080" y="4864608"/>
            <a:ext cx="4251960" cy="1261872"/>
          </a:xfrm>
          <a:prstGeom prst="roundRect">
            <a:avLst>
              <a:gd name="adj" fmla="val 5797"/>
            </a:avLst>
          </a:prstGeom>
          <a:solidFill>
            <a:srgbClr val="13243A"/>
          </a:solidFill>
          <a:ln w="9525">
            <a:solidFill>
              <a:srgbClr val="2C4A6E"/>
            </a:solidFill>
            <a:prstDash val="solid"/>
          </a:ln>
        </p:spPr>
      </p:sp>
      <p:pic>
        <p:nvPicPr>
          <p:cNvPr id="7" name="QR code to the live app" descr="/tmp/claude-0/-home-user-nanfengtest/494dfdc6-8cf5-5478-905d-79a5906d19d6/scratchpad/deck/assets/qr-site.png">    </p:cNvPr>
          <p:cNvPicPr>
            <a:picLocks noChangeAspect="1"/>
          </p:cNvPicPr>
          <p:nvPr/>
        </p:nvPicPr>
        <p:blipFill>
          <a:blip r:embed="rId3"/>
          <a:stretch>
            <a:fillRect/>
          </a:stretch>
        </p:blipFill>
        <p:spPr>
          <a:xfrm>
            <a:off x="768096" y="4992624"/>
            <a:ext cx="1005840" cy="1005840"/>
          </a:xfrm>
          <a:prstGeom prst="rect">
            <a:avLst/>
          </a:prstGeom>
        </p:spPr>
      </p:pic>
      <p:sp>
        <p:nvSpPr>
          <p:cNvPr id="8" name="try-it text"/>
          <p:cNvSpPr/>
          <p:nvPr/>
        </p:nvSpPr>
        <p:spPr>
          <a:xfrm>
            <a:off x="1901952" y="4992624"/>
            <a:ext cx="2926080" cy="1005840"/>
          </a:xfrm>
          <a:prstGeom prst="rect">
            <a:avLst/>
          </a:prstGeom>
          <a:noFill/>
          <a:ln/>
        </p:spPr>
        <p:txBody>
          <a:bodyPr wrap="square" lIns="0" tIns="0" rIns="0" bIns="0" rtlCol="0" anchor="ctr"/>
          <a:lstStyle/>
          <a:p>
            <a:pPr indent="0" marL="0">
              <a:spcAft>
                <a:spcPts val="300"/>
              </a:spcAft>
              <a:buNone/>
            </a:pPr>
            <a:r>
              <a:rPr lang="en-US" sz="1100" b="1" dirty="0">
                <a:solidFill>
                  <a:srgbClr val="DEA54A"/>
                </a:solidFill>
                <a:latin typeface="Source Sans 3" pitchFamily="34" charset="0"/>
                <a:ea typeface="Source Sans 3" pitchFamily="34" charset="-122"/>
                <a:cs typeface="Source Sans 3" pitchFamily="34" charset="-120"/>
              </a:rPr>
              <a:t>Try it now, no login</a:t>
            </a:r>
            <a:endParaRPr lang="en-US" sz="1100" dirty="0"/>
          </a:p>
          <a:p>
            <a:pPr indent="0" marL="0">
              <a:spcAft>
                <a:spcPts val="300"/>
              </a:spcAft>
              <a:buNone/>
            </a:pPr>
            <a:r>
              <a:rPr lang="en-US" sz="1050" u="sng" dirty="0">
                <a:solidFill>
                  <a:srgbClr val="FFFFFF"/>
                </a:solidFill>
                <a:latin typeface="IBM Plex Mono" pitchFamily="34" charset="0"/>
                <a:ea typeface="IBM Plex Mono" pitchFamily="34" charset="-122"/>
                <a:cs typeface="IBM Plex Mono" pitchFamily="34" charset="-120"/>
                <a:hlinkClick r:id="rId4" invalidUrl="" action="" tgtFrame="" tooltip="" history="1" highlightClick="0" endSnd="0">
                  <a:extLst>
                    <a:ext uri="{A12FA001-AC4F-418D-AE19-62706E023703}">
                      <ahyp:hlinkClr xmlns:ahyp="http://schemas.microsoft.com/office/drawing/2018/hyperlinkcolor" val="tx"/>
                    </a:ext>
                  </a:extLst>
                </a:hlinkClick>
              </a:rPr>
              <a:t>kenneth-london-office.convert-md.com</a:t>
            </a:r>
            <a:endParaRPr lang="en-US" sz="1100" dirty="0"/>
          </a:p>
          <a:p>
            <a:pPr indent="0" marL="0">
              <a:spcAft>
                <a:spcPts val="300"/>
              </a:spcAft>
              <a:buNone/>
            </a:pPr>
            <a:r>
              <a:rPr lang="en-US" sz="900" u="sng" dirty="0">
                <a:solidFill>
                  <a:srgbClr val="C9D3DF"/>
                </a:solidFill>
                <a:latin typeface="IBM Plex Mono" pitchFamily="34" charset="0"/>
                <a:ea typeface="IBM Plex Mono" pitchFamily="34" charset="-122"/>
                <a:cs typeface="IBM Plex Mono"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Code: github.com/Kenneth0416/nanfengtest</a:t>
            </a:r>
            <a:endParaRPr lang="en-US" sz="1100" dirty="0"/>
          </a:p>
        </p:txBody>
      </p:sp>
      <p:sp>
        <p:nvSpPr>
          <p:cNvPr id="9" name="Text 5"/>
          <p:cNvSpPr/>
          <p:nvPr/>
        </p:nvSpPr>
        <p:spPr>
          <a:xfrm>
            <a:off x="7223760" y="6556248"/>
            <a:ext cx="4572000" cy="201168"/>
          </a:xfrm>
          <a:prstGeom prst="rect">
            <a:avLst/>
          </a:prstGeom>
          <a:noFill/>
          <a:ln/>
        </p:spPr>
        <p:txBody>
          <a:bodyPr wrap="square" lIns="0" tIns="0" rIns="0" bIns="0" rtlCol="0" anchor="ctr"/>
          <a:lstStyle/>
          <a:p>
            <a:pPr algn="r" indent="0" marL="0">
              <a:buNone/>
            </a:pPr>
            <a:r>
              <a:rPr lang="en-US" sz="850" dirty="0">
                <a:solidFill>
                  <a:srgbClr val="7F8FA6"/>
                </a:solidFill>
                <a:latin typeface="Source Sans 3" pitchFamily="34" charset="0"/>
                <a:ea typeface="Source Sans 3" pitchFamily="34" charset="-122"/>
                <a:cs typeface="Source Sans 3" pitchFamily="34" charset="-120"/>
              </a:rPr>
              <a:t>Line: Central London vacancy, Q1 2024 to Q2 2026 (9.9% to 8.0%)</a:t>
            </a:r>
            <a:endParaRPr lang="en-US" sz="850" dirty="0"/>
          </a:p>
        </p:txBody>
      </p:sp>
      <p:pic>
        <p:nvPicPr>
          <p:cNvPr id="10" name="Monitor screenshot" descr="/tmp/claude-0/-home-user-nanfengtest/494dfdc6-8cf5-5478-905d-79a5906d19d6/scratchpad/deck/assets/f-monitor-full.png">    </p:cNvPr>
          <p:cNvPicPr>
            <a:picLocks noChangeAspect="1"/>
          </p:cNvPicPr>
          <p:nvPr/>
        </p:nvPicPr>
        <p:blipFill>
          <a:blip r:embed="rId6"/>
          <a:stretch>
            <a:fillRect/>
          </a:stretch>
        </p:blipFill>
        <p:spPr>
          <a:xfrm>
            <a:off x="5916168" y="795528"/>
            <a:ext cx="7644384" cy="53293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p:nvPr/>
        </p:nvSpPr>
        <p:spPr>
          <a:xfrm>
            <a:off x="548640" y="384048"/>
            <a:ext cx="8229600" cy="274320"/>
          </a:xfrm>
          <a:prstGeom prst="rect">
            <a:avLst/>
          </a:prstGeom>
          <a:noFill/>
          <a:ln/>
        </p:spPr>
        <p:txBody>
          <a:bodyPr wrap="square" lIns="0" tIns="0" rIns="0" bIns="0" rtlCol="0" anchor="ctr"/>
          <a:lstStyle/>
          <a:p>
            <a:pPr indent="0" marL="0">
              <a:buNone/>
            </a:pPr>
            <a:r>
              <a:rPr lang="en-US" sz="1100" b="1" spc="120" kern="0" dirty="0">
                <a:solidFill>
                  <a:srgbClr val="B9781A"/>
                </a:solidFill>
                <a:latin typeface="Source Sans 3" pitchFamily="34" charset="0"/>
                <a:ea typeface="Source Sans 3" pitchFamily="34" charset="-122"/>
                <a:cs typeface="Source Sans 3" pitchFamily="34" charset="-120"/>
              </a:rPr>
              <a:t>A REAL MONDAY  ·  11 OCTOBER 2026</a:t>
            </a:r>
            <a:endParaRPr lang="en-US" sz="1100" dirty="0"/>
          </a:p>
        </p:txBody>
      </p:sp>
      <p:sp>
        <p:nvSpPr>
          <p:cNvPr id="3" name="title"/>
          <p:cNvSpPr/>
          <p:nvPr/>
        </p:nvSpPr>
        <p:spPr>
          <a:xfrm>
            <a:off x="548640" y="658368"/>
            <a:ext cx="11064240" cy="658368"/>
          </a:xfrm>
          <a:prstGeom prst="rect">
            <a:avLst/>
          </a:prstGeom>
          <a:noFill/>
          <a:ln/>
        </p:spPr>
        <p:txBody>
          <a:bodyPr wrap="square" lIns="0" tIns="0" rIns="0" bIns="0" rtlCol="0" anchor="ctr"/>
          <a:lstStyle/>
          <a:p>
            <a:pPr indent="0" marL="0">
              <a:buNone/>
            </a:pPr>
            <a:r>
              <a:rPr lang="en-US" sz="3100" b="1" dirty="0">
                <a:solidFill>
                  <a:srgbClr val="0F1A2A"/>
                </a:solidFill>
                <a:latin typeface="Archivo" pitchFamily="34" charset="0"/>
                <a:ea typeface="Archivo" pitchFamily="34" charset="-122"/>
                <a:cs typeface="Archivo" pitchFamily="34" charset="-120"/>
              </a:rPr>
              <a:t>What the agent flagged for the team this week</a:t>
            </a:r>
            <a:endParaRPr lang="en-US" sz="3100" dirty="0"/>
          </a:p>
        </p:txBody>
      </p:sp>
      <p:sp>
        <p:nvSpPr>
          <p:cNvPr id="4" name="subtitle"/>
          <p:cNvSpPr/>
          <p:nvPr/>
        </p:nvSpPr>
        <p:spPr>
          <a:xfrm>
            <a:off x="548640" y="1316736"/>
            <a:ext cx="11064240" cy="384048"/>
          </a:xfrm>
          <a:prstGeom prst="rect">
            <a:avLst/>
          </a:prstGeom>
          <a:noFill/>
          <a:ln/>
        </p:spPr>
        <p:txBody>
          <a:bodyPr wrap="square" lIns="0" tIns="0" rIns="0" bIns="0" rtlCol="0" anchor="ctr"/>
          <a:lstStyle/>
          <a:p>
            <a:pPr indent="0" marL="0">
              <a:buNone/>
            </a:pPr>
            <a:r>
              <a:rPr lang="en-US" sz="1500" dirty="0">
                <a:solidFill>
                  <a:srgbClr val="42506A"/>
                </a:solidFill>
                <a:latin typeface="Source Sans 3" pitchFamily="34" charset="0"/>
                <a:ea typeface="Source Sans 3" pitchFamily="34" charset="-122"/>
                <a:cs typeface="Source Sans 3" pitchFamily="34" charset="-120"/>
              </a:rPr>
              <a:t>Read overnight from 9 agency reports, Bank of England data and 81 news items. Four things worth a meeting:</a:t>
            </a:r>
            <a:endParaRPr lang="en-US" sz="1500" dirty="0"/>
          </a:p>
        </p:txBody>
      </p:sp>
      <p:sp>
        <p:nvSpPr>
          <p:cNvPr id="5" name="tile 1"/>
          <p:cNvSpPr/>
          <p:nvPr/>
        </p:nvSpPr>
        <p:spPr>
          <a:xfrm>
            <a:off x="548640" y="1901952"/>
            <a:ext cx="2615184" cy="3584448"/>
          </a:xfrm>
          <a:prstGeom prst="roundRect">
            <a:avLst>
              <a:gd name="adj" fmla="val 2797"/>
            </a:avLst>
          </a:prstGeom>
          <a:solidFill>
            <a:srgbClr val="F4F6F8"/>
          </a:solidFill>
          <a:ln/>
        </p:spPr>
      </p:sp>
      <p:sp>
        <p:nvSpPr>
          <p:cNvPr id="6" name="Shape 4"/>
          <p:cNvSpPr/>
          <p:nvPr/>
        </p:nvSpPr>
        <p:spPr>
          <a:xfrm>
            <a:off x="548640" y="1901952"/>
            <a:ext cx="64008" cy="3584448"/>
          </a:xfrm>
          <a:prstGeom prst="rect">
            <a:avLst/>
          </a:prstGeom>
          <a:solidFill>
            <a:srgbClr val="2E7D55"/>
          </a:solidFill>
          <a:ln/>
        </p:spPr>
      </p:sp>
      <p:sp>
        <p:nvSpPr>
          <p:cNvPr id="7" name="tile 1 number"/>
          <p:cNvSpPr/>
          <p:nvPr/>
        </p:nvSpPr>
        <p:spPr>
          <a:xfrm>
            <a:off x="804672" y="2103120"/>
            <a:ext cx="2249424" cy="749808"/>
          </a:xfrm>
          <a:prstGeom prst="rect">
            <a:avLst/>
          </a:prstGeom>
          <a:noFill/>
          <a:ln/>
        </p:spPr>
        <p:txBody>
          <a:bodyPr wrap="square" lIns="0" tIns="0" rIns="0" bIns="0" rtlCol="0" anchor="ctr"/>
          <a:lstStyle/>
          <a:p>
            <a:pPr indent="0" marL="0">
              <a:buNone/>
            </a:pPr>
            <a:r>
              <a:rPr lang="en-US" sz="4000" b="1" dirty="0">
                <a:solidFill>
                  <a:srgbClr val="2E7D55"/>
                </a:solidFill>
                <a:latin typeface="IBM Plex Mono" pitchFamily="34" charset="0"/>
                <a:ea typeface="IBM Plex Mono" pitchFamily="34" charset="-122"/>
                <a:cs typeface="IBM Plex Mono" pitchFamily="34" charset="-120"/>
              </a:rPr>
              <a:t>8.0%</a:t>
            </a:r>
            <a:endParaRPr lang="en-US" sz="4000" dirty="0"/>
          </a:p>
        </p:txBody>
      </p:sp>
      <p:sp>
        <p:nvSpPr>
          <p:cNvPr id="8" name="Text 6"/>
          <p:cNvSpPr/>
          <p:nvPr/>
        </p:nvSpPr>
        <p:spPr>
          <a:xfrm>
            <a:off x="804672" y="2852928"/>
            <a:ext cx="2203704" cy="329184"/>
          </a:xfrm>
          <a:prstGeom prst="rect">
            <a:avLst/>
          </a:prstGeom>
          <a:noFill/>
          <a:ln/>
        </p:spPr>
        <p:txBody>
          <a:bodyPr wrap="square" lIns="0" tIns="0" rIns="0" bIns="0" rtlCol="0" anchor="t"/>
          <a:lstStyle/>
          <a:p>
            <a:pPr indent="0" marL="0">
              <a:buNone/>
            </a:pPr>
            <a:r>
              <a:rPr lang="en-US" sz="1350" b="1" dirty="0">
                <a:solidFill>
                  <a:srgbClr val="0F1A2A"/>
                </a:solidFill>
                <a:latin typeface="Source Sans 3" pitchFamily="34" charset="0"/>
                <a:ea typeface="Source Sans 3" pitchFamily="34" charset="-122"/>
                <a:cs typeface="Source Sans 3" pitchFamily="34" charset="-120"/>
              </a:rPr>
              <a:t>Central London vacancy</a:t>
            </a:r>
            <a:endParaRPr lang="en-US" sz="1350" dirty="0"/>
          </a:p>
        </p:txBody>
      </p:sp>
      <p:sp>
        <p:nvSpPr>
          <p:cNvPr id="9" name="Text 7"/>
          <p:cNvSpPr/>
          <p:nvPr/>
        </p:nvSpPr>
        <p:spPr>
          <a:xfrm>
            <a:off x="804672" y="3200400"/>
            <a:ext cx="2203704" cy="868680"/>
          </a:xfrm>
          <a:prstGeom prst="rect">
            <a:avLst/>
          </a:prstGeom>
          <a:noFill/>
          <a:ln/>
        </p:spPr>
        <p:txBody>
          <a:bodyPr wrap="square" lIns="0" tIns="0" rIns="0" bIns="0" rtlCol="0" anchor="t"/>
          <a:lstStyle/>
          <a:p>
            <a:pPr indent="0" marL="0">
              <a:lnSpc>
                <a:spcPct val="105000"/>
              </a:lnSpc>
              <a:buNone/>
            </a:pPr>
            <a:r>
              <a:rPr lang="en-US" sz="1250" dirty="0">
                <a:solidFill>
                  <a:srgbClr val="42506A"/>
                </a:solidFill>
                <a:latin typeface="Source Sans 3" pitchFamily="34" charset="0"/>
                <a:ea typeface="Source Sans 3" pitchFamily="34" charset="-122"/>
                <a:cs typeface="Source Sans 3" pitchFamily="34" charset="-120"/>
              </a:rPr>
              <a:t>Down from 8.5% last quarter and 9.9% in Q1 2024. Take-up 3.10m sq ft, 11% above the long-term average.</a:t>
            </a:r>
            <a:endParaRPr lang="en-US" sz="1250" dirty="0"/>
          </a:p>
        </p:txBody>
      </p:sp>
      <p:sp>
        <p:nvSpPr>
          <p:cNvPr id="10" name="Shape 8"/>
          <p:cNvSpPr/>
          <p:nvPr/>
        </p:nvSpPr>
        <p:spPr>
          <a:xfrm>
            <a:off x="804672" y="4187952"/>
            <a:ext cx="2103120" cy="0"/>
          </a:xfrm>
          <a:prstGeom prst="line">
            <a:avLst/>
          </a:prstGeom>
          <a:noFill/>
          <a:ln w="9525">
            <a:solidFill>
              <a:srgbClr val="D3DAE1"/>
            </a:solidFill>
            <a:prstDash val="solid"/>
          </a:ln>
        </p:spPr>
      </p:sp>
      <p:sp>
        <p:nvSpPr>
          <p:cNvPr id="11" name="tile 1 so what"/>
          <p:cNvSpPr/>
          <p:nvPr/>
        </p:nvSpPr>
        <p:spPr>
          <a:xfrm>
            <a:off x="804672" y="4297680"/>
            <a:ext cx="2203704" cy="1051560"/>
          </a:xfrm>
          <a:prstGeom prst="rect">
            <a:avLst/>
          </a:prstGeom>
          <a:noFill/>
          <a:ln/>
        </p:spPr>
        <p:txBody>
          <a:bodyPr wrap="square" lIns="0" tIns="0" rIns="0" bIns="0" rtlCol="0" anchor="t"/>
          <a:lstStyle/>
          <a:p>
            <a:pPr indent="0" marL="0">
              <a:spcAft>
                <a:spcPts val="300"/>
              </a:spcAft>
              <a:buNone/>
            </a:pPr>
            <a:r>
              <a:rPr lang="en-US" sz="950" b="1" spc="150" kern="0" dirty="0">
                <a:solidFill>
                  <a:srgbClr val="B9781A"/>
                </a:solidFill>
                <a:latin typeface="Source Sans 3" pitchFamily="34" charset="0"/>
                <a:ea typeface="Source Sans 3" pitchFamily="34" charset="-122"/>
                <a:cs typeface="Source Sans 3" pitchFamily="34" charset="-120"/>
              </a:rPr>
              <a:t>SO WHAT FOR US</a:t>
            </a:r>
            <a:endParaRPr lang="en-US" sz="950" dirty="0"/>
          </a:p>
          <a:p>
            <a:pPr indent="0" marL="0">
              <a:spcAft>
                <a:spcPts val="300"/>
              </a:spcAft>
              <a:buNone/>
            </a:pPr>
            <a:r>
              <a:rPr lang="en-US" sz="1300" b="1" dirty="0">
                <a:solidFill>
                  <a:srgbClr val="0F1A2A"/>
                </a:solidFill>
                <a:latin typeface="Source Sans 3" pitchFamily="34" charset="0"/>
                <a:ea typeface="Source Sans 3" pitchFamily="34" charset="-122"/>
                <a:cs typeface="Source Sans 3" pitchFamily="34" charset="-120"/>
              </a:rPr>
              <a:t>Demand is back: hold firmer terms on lettings and renewals.</a:t>
            </a:r>
            <a:endParaRPr lang="en-US" sz="950" dirty="0"/>
          </a:p>
        </p:txBody>
      </p:sp>
      <p:graphicFrame>
        <p:nvGraphicFramePr>
          <p:cNvPr id="12" name="vacancy sparkline" descr=""/>
          <p:cNvGraphicFramePr/>
          <p:nvPr/>
        </p:nvGraphicFramePr>
        <p:xfrm>
          <a:off x="1965960" y="2103120"/>
          <a:ext cx="1051560" cy="685800"/>
        </p:xfrm>
        <a:graphic xmlns:a="http://schemas.openxmlformats.org/drawingml/2006/main">
          <a:graphicData uri="http://schemas.openxmlformats.org/drawingml/2006/chart">
            <c:chart xmlns:c="http://schemas.openxmlformats.org/drawingml/2006/chart" r:id="rId1"/>
          </a:graphicData>
        </a:graphic>
      </p:graphicFrame>
      <p:sp>
        <p:nvSpPr>
          <p:cNvPr id="13" name="tile 2"/>
          <p:cNvSpPr/>
          <p:nvPr/>
        </p:nvSpPr>
        <p:spPr>
          <a:xfrm>
            <a:off x="3364992" y="1901952"/>
            <a:ext cx="2615184" cy="3584448"/>
          </a:xfrm>
          <a:prstGeom prst="roundRect">
            <a:avLst>
              <a:gd name="adj" fmla="val 2797"/>
            </a:avLst>
          </a:prstGeom>
          <a:solidFill>
            <a:srgbClr val="F4F6F8"/>
          </a:solidFill>
          <a:ln/>
        </p:spPr>
      </p:sp>
      <p:sp>
        <p:nvSpPr>
          <p:cNvPr id="14" name="Shape 11"/>
          <p:cNvSpPr/>
          <p:nvPr/>
        </p:nvSpPr>
        <p:spPr>
          <a:xfrm>
            <a:off x="3364992" y="1901952"/>
            <a:ext cx="64008" cy="3584448"/>
          </a:xfrm>
          <a:prstGeom prst="rect">
            <a:avLst/>
          </a:prstGeom>
          <a:solidFill>
            <a:srgbClr val="1B3A5C"/>
          </a:solidFill>
          <a:ln/>
        </p:spPr>
      </p:sp>
      <p:sp>
        <p:nvSpPr>
          <p:cNvPr id="15" name="tile 2 number"/>
          <p:cNvSpPr/>
          <p:nvPr/>
        </p:nvSpPr>
        <p:spPr>
          <a:xfrm>
            <a:off x="3621024" y="2103120"/>
            <a:ext cx="2249424" cy="749808"/>
          </a:xfrm>
          <a:prstGeom prst="rect">
            <a:avLst/>
          </a:prstGeom>
          <a:noFill/>
          <a:ln/>
        </p:spPr>
        <p:txBody>
          <a:bodyPr wrap="square" lIns="0" tIns="0" rIns="0" bIns="0" rtlCol="0" anchor="ctr"/>
          <a:lstStyle/>
          <a:p>
            <a:pPr indent="0" marL="0">
              <a:buNone/>
            </a:pPr>
            <a:r>
              <a:rPr lang="en-US" sz="4000" b="1" dirty="0">
                <a:solidFill>
                  <a:srgbClr val="1B3A5C"/>
                </a:solidFill>
                <a:latin typeface="IBM Plex Mono" pitchFamily="34" charset="0"/>
                <a:ea typeface="IBM Plex Mono" pitchFamily="34" charset="-122"/>
                <a:cs typeface="IBM Plex Mono" pitchFamily="34" charset="-120"/>
              </a:rPr>
              <a:t>6.4pp</a:t>
            </a:r>
            <a:endParaRPr lang="en-US" sz="4000" dirty="0"/>
          </a:p>
        </p:txBody>
      </p:sp>
      <p:sp>
        <p:nvSpPr>
          <p:cNvPr id="16" name="Text 13"/>
          <p:cNvSpPr/>
          <p:nvPr/>
        </p:nvSpPr>
        <p:spPr>
          <a:xfrm>
            <a:off x="3621024" y="2852928"/>
            <a:ext cx="2203704" cy="329184"/>
          </a:xfrm>
          <a:prstGeom prst="rect">
            <a:avLst/>
          </a:prstGeom>
          <a:noFill/>
          <a:ln/>
        </p:spPr>
        <p:txBody>
          <a:bodyPr wrap="square" lIns="0" tIns="0" rIns="0" bIns="0" rtlCol="0" anchor="t"/>
          <a:lstStyle/>
          <a:p>
            <a:pPr indent="0" marL="0">
              <a:buNone/>
            </a:pPr>
            <a:r>
              <a:rPr lang="en-US" sz="1350" b="1" dirty="0">
                <a:solidFill>
                  <a:srgbClr val="0F1A2A"/>
                </a:solidFill>
                <a:latin typeface="Source Sans 3" pitchFamily="34" charset="0"/>
                <a:ea typeface="Source Sans 3" pitchFamily="34" charset="-122"/>
                <a:cs typeface="Source Sans 3" pitchFamily="34" charset="-120"/>
              </a:rPr>
              <a:t>White City Grade A gap</a:t>
            </a:r>
            <a:endParaRPr lang="en-US" sz="1350" dirty="0"/>
          </a:p>
        </p:txBody>
      </p:sp>
      <p:sp>
        <p:nvSpPr>
          <p:cNvPr id="17" name="Text 14"/>
          <p:cNvSpPr/>
          <p:nvPr/>
        </p:nvSpPr>
        <p:spPr>
          <a:xfrm>
            <a:off x="3621024" y="3200400"/>
            <a:ext cx="2203704" cy="868680"/>
          </a:xfrm>
          <a:prstGeom prst="rect">
            <a:avLst/>
          </a:prstGeom>
          <a:noFill/>
          <a:ln/>
        </p:spPr>
        <p:txBody>
          <a:bodyPr wrap="square" lIns="0" tIns="0" rIns="0" bIns="0" rtlCol="0" anchor="t"/>
          <a:lstStyle/>
          <a:p>
            <a:pPr indent="0" marL="0">
              <a:lnSpc>
                <a:spcPct val="105000"/>
              </a:lnSpc>
              <a:buNone/>
            </a:pPr>
            <a:r>
              <a:rPr lang="en-US" sz="1250" dirty="0">
                <a:solidFill>
                  <a:srgbClr val="42506A"/>
                </a:solidFill>
                <a:latin typeface="Source Sans 3" pitchFamily="34" charset="0"/>
                <a:ea typeface="Source Sans 3" pitchFamily="34" charset="-122"/>
                <a:cs typeface="Source Sans 3" pitchFamily="34" charset="-120"/>
              </a:rPr>
              <a:t>Grade A 11.5% vacant against 17.9% for all space; the gap widened from 5.0pp last quarter.</a:t>
            </a:r>
            <a:endParaRPr lang="en-US" sz="1250" dirty="0"/>
          </a:p>
        </p:txBody>
      </p:sp>
      <p:sp>
        <p:nvSpPr>
          <p:cNvPr id="18" name="Shape 15"/>
          <p:cNvSpPr/>
          <p:nvPr/>
        </p:nvSpPr>
        <p:spPr>
          <a:xfrm>
            <a:off x="3621024" y="4187952"/>
            <a:ext cx="2103120" cy="0"/>
          </a:xfrm>
          <a:prstGeom prst="line">
            <a:avLst/>
          </a:prstGeom>
          <a:noFill/>
          <a:ln w="9525">
            <a:solidFill>
              <a:srgbClr val="D3DAE1"/>
            </a:solidFill>
            <a:prstDash val="solid"/>
          </a:ln>
        </p:spPr>
      </p:sp>
      <p:sp>
        <p:nvSpPr>
          <p:cNvPr id="19" name="tile 2 so what"/>
          <p:cNvSpPr/>
          <p:nvPr/>
        </p:nvSpPr>
        <p:spPr>
          <a:xfrm>
            <a:off x="3621024" y="4297680"/>
            <a:ext cx="2203704" cy="1051560"/>
          </a:xfrm>
          <a:prstGeom prst="rect">
            <a:avLst/>
          </a:prstGeom>
          <a:noFill/>
          <a:ln/>
        </p:spPr>
        <p:txBody>
          <a:bodyPr wrap="square" lIns="0" tIns="0" rIns="0" bIns="0" rtlCol="0" anchor="t"/>
          <a:lstStyle/>
          <a:p>
            <a:pPr indent="0" marL="0">
              <a:spcAft>
                <a:spcPts val="300"/>
              </a:spcAft>
              <a:buNone/>
            </a:pPr>
            <a:r>
              <a:rPr lang="en-US" sz="950" b="1" spc="150" kern="0" dirty="0">
                <a:solidFill>
                  <a:srgbClr val="B9781A"/>
                </a:solidFill>
                <a:latin typeface="Source Sans 3" pitchFamily="34" charset="0"/>
                <a:ea typeface="Source Sans 3" pitchFamily="34" charset="-122"/>
                <a:cs typeface="Source Sans 3" pitchFamily="34" charset="-120"/>
              </a:rPr>
              <a:t>SO WHAT FOR US</a:t>
            </a:r>
            <a:endParaRPr lang="en-US" sz="950" dirty="0"/>
          </a:p>
          <a:p>
            <a:pPr indent="0" marL="0">
              <a:spcAft>
                <a:spcPts val="300"/>
              </a:spcAft>
              <a:buNone/>
            </a:pPr>
            <a:r>
              <a:rPr lang="en-US" sz="1300" b="1" dirty="0">
                <a:solidFill>
                  <a:srgbClr val="0F1A2A"/>
                </a:solidFill>
                <a:latin typeface="Source Sans 3" pitchFamily="34" charset="0"/>
                <a:ea typeface="Source Sans 3" pitchFamily="34" charset="-122"/>
                <a:cs typeface="Source Sans 3" pitchFamily="34" charset="-120"/>
              </a:rPr>
              <a:t>Flight to quality: refurbish older floors or price them to let.</a:t>
            </a:r>
            <a:endParaRPr lang="en-US" sz="950" dirty="0"/>
          </a:p>
        </p:txBody>
      </p:sp>
      <p:sp>
        <p:nvSpPr>
          <p:cNvPr id="20" name="tile 3"/>
          <p:cNvSpPr/>
          <p:nvPr/>
        </p:nvSpPr>
        <p:spPr>
          <a:xfrm>
            <a:off x="6181344" y="1901952"/>
            <a:ext cx="2615184" cy="3584448"/>
          </a:xfrm>
          <a:prstGeom prst="roundRect">
            <a:avLst>
              <a:gd name="adj" fmla="val 2797"/>
            </a:avLst>
          </a:prstGeom>
          <a:solidFill>
            <a:srgbClr val="F4F6F8"/>
          </a:solidFill>
          <a:ln/>
        </p:spPr>
      </p:sp>
      <p:sp>
        <p:nvSpPr>
          <p:cNvPr id="21" name="Shape 18"/>
          <p:cNvSpPr/>
          <p:nvPr/>
        </p:nvSpPr>
        <p:spPr>
          <a:xfrm>
            <a:off x="6181344" y="1901952"/>
            <a:ext cx="64008" cy="3584448"/>
          </a:xfrm>
          <a:prstGeom prst="rect">
            <a:avLst/>
          </a:prstGeom>
          <a:solidFill>
            <a:srgbClr val="B4452E"/>
          </a:solidFill>
          <a:ln/>
        </p:spPr>
      </p:sp>
      <p:sp>
        <p:nvSpPr>
          <p:cNvPr id="22" name="tile 3 number"/>
          <p:cNvSpPr/>
          <p:nvPr/>
        </p:nvSpPr>
        <p:spPr>
          <a:xfrm>
            <a:off x="6437376" y="2103120"/>
            <a:ext cx="2249424" cy="749808"/>
          </a:xfrm>
          <a:prstGeom prst="rect">
            <a:avLst/>
          </a:prstGeom>
          <a:noFill/>
          <a:ln/>
        </p:spPr>
        <p:txBody>
          <a:bodyPr wrap="square" lIns="0" tIns="0" rIns="0" bIns="0" rtlCol="0" anchor="ctr"/>
          <a:lstStyle/>
          <a:p>
            <a:pPr indent="0" marL="0">
              <a:buNone/>
            </a:pPr>
            <a:r>
              <a:rPr lang="en-US" sz="4000" b="1" dirty="0">
                <a:solidFill>
                  <a:srgbClr val="B4452E"/>
                </a:solidFill>
                <a:latin typeface="IBM Plex Mono" pitchFamily="34" charset="0"/>
                <a:ea typeface="IBM Plex Mono" pitchFamily="34" charset="-122"/>
                <a:cs typeface="IBM Plex Mono" pitchFamily="34" charset="-120"/>
              </a:rPr>
              <a:t>−77%</a:t>
            </a:r>
            <a:endParaRPr lang="en-US" sz="4000" dirty="0"/>
          </a:p>
        </p:txBody>
      </p:sp>
      <p:sp>
        <p:nvSpPr>
          <p:cNvPr id="23" name="Text 20"/>
          <p:cNvSpPr/>
          <p:nvPr/>
        </p:nvSpPr>
        <p:spPr>
          <a:xfrm>
            <a:off x="6437376" y="2852928"/>
            <a:ext cx="2203704" cy="329184"/>
          </a:xfrm>
          <a:prstGeom prst="rect">
            <a:avLst/>
          </a:prstGeom>
          <a:noFill/>
          <a:ln/>
        </p:spPr>
        <p:txBody>
          <a:bodyPr wrap="square" lIns="0" tIns="0" rIns="0" bIns="0" rtlCol="0" anchor="t"/>
          <a:lstStyle/>
          <a:p>
            <a:pPr indent="0" marL="0">
              <a:buNone/>
            </a:pPr>
            <a:r>
              <a:rPr lang="en-US" sz="1350" b="1" dirty="0">
                <a:solidFill>
                  <a:srgbClr val="0F1A2A"/>
                </a:solidFill>
                <a:latin typeface="Source Sans 3" pitchFamily="34" charset="0"/>
                <a:ea typeface="Source Sans 3" pitchFamily="34" charset="-122"/>
                <a:cs typeface="Source Sans 3" pitchFamily="34" charset="-120"/>
              </a:rPr>
              <a:t>City &amp; Southbank investment</a:t>
            </a:r>
            <a:endParaRPr lang="en-US" sz="1350" dirty="0"/>
          </a:p>
        </p:txBody>
      </p:sp>
      <p:sp>
        <p:nvSpPr>
          <p:cNvPr id="24" name="Text 21"/>
          <p:cNvSpPr/>
          <p:nvPr/>
        </p:nvSpPr>
        <p:spPr>
          <a:xfrm>
            <a:off x="6437376" y="3200400"/>
            <a:ext cx="2203704" cy="868680"/>
          </a:xfrm>
          <a:prstGeom prst="rect">
            <a:avLst/>
          </a:prstGeom>
          <a:noFill/>
          <a:ln/>
        </p:spPr>
        <p:txBody>
          <a:bodyPr wrap="square" lIns="0" tIns="0" rIns="0" bIns="0" rtlCol="0" anchor="t"/>
          <a:lstStyle/>
          <a:p>
            <a:pPr indent="0" marL="0">
              <a:lnSpc>
                <a:spcPct val="105000"/>
              </a:lnSpc>
              <a:buNone/>
            </a:pPr>
            <a:r>
              <a:rPr lang="en-US" sz="1250" dirty="0">
                <a:solidFill>
                  <a:srgbClr val="42506A"/>
                </a:solidFill>
                <a:latin typeface="Source Sans 3" pitchFamily="34" charset="0"/>
                <a:ea typeface="Source Sans 3" pitchFamily="34" charset="-122"/>
                <a:cs typeface="Source Sans 3" pitchFamily="34" charset="-120"/>
              </a:rPr>
              <a:t>£0.37bn traded in Q2 2026 against a long-term average of £1.60bn a quarter.</a:t>
            </a:r>
            <a:endParaRPr lang="en-US" sz="1250" dirty="0"/>
          </a:p>
        </p:txBody>
      </p:sp>
      <p:sp>
        <p:nvSpPr>
          <p:cNvPr id="25" name="Shape 22"/>
          <p:cNvSpPr/>
          <p:nvPr/>
        </p:nvSpPr>
        <p:spPr>
          <a:xfrm>
            <a:off x="6437376" y="4187952"/>
            <a:ext cx="2103120" cy="0"/>
          </a:xfrm>
          <a:prstGeom prst="line">
            <a:avLst/>
          </a:prstGeom>
          <a:noFill/>
          <a:ln w="9525">
            <a:solidFill>
              <a:srgbClr val="D3DAE1"/>
            </a:solidFill>
            <a:prstDash val="solid"/>
          </a:ln>
        </p:spPr>
      </p:sp>
      <p:sp>
        <p:nvSpPr>
          <p:cNvPr id="26" name="tile 3 so what"/>
          <p:cNvSpPr/>
          <p:nvPr/>
        </p:nvSpPr>
        <p:spPr>
          <a:xfrm>
            <a:off x="6437376" y="4297680"/>
            <a:ext cx="2203704" cy="1051560"/>
          </a:xfrm>
          <a:prstGeom prst="rect">
            <a:avLst/>
          </a:prstGeom>
          <a:noFill/>
          <a:ln/>
        </p:spPr>
        <p:txBody>
          <a:bodyPr wrap="square" lIns="0" tIns="0" rIns="0" bIns="0" rtlCol="0" anchor="t"/>
          <a:lstStyle/>
          <a:p>
            <a:pPr indent="0" marL="0">
              <a:spcAft>
                <a:spcPts val="300"/>
              </a:spcAft>
              <a:buNone/>
            </a:pPr>
            <a:r>
              <a:rPr lang="en-US" sz="950" b="1" spc="150" kern="0" dirty="0">
                <a:solidFill>
                  <a:srgbClr val="B9781A"/>
                </a:solidFill>
                <a:latin typeface="Source Sans 3" pitchFamily="34" charset="0"/>
                <a:ea typeface="Source Sans 3" pitchFamily="34" charset="-122"/>
                <a:cs typeface="Source Sans 3" pitchFamily="34" charset="-120"/>
              </a:rPr>
              <a:t>SO WHAT FOR US</a:t>
            </a:r>
            <a:endParaRPr lang="en-US" sz="950" dirty="0"/>
          </a:p>
          <a:p>
            <a:pPr indent="0" marL="0">
              <a:spcAft>
                <a:spcPts val="300"/>
              </a:spcAft>
              <a:buNone/>
            </a:pPr>
            <a:r>
              <a:rPr lang="en-US" sz="1300" b="1" dirty="0">
                <a:solidFill>
                  <a:srgbClr val="0F1A2A"/>
                </a:solidFill>
                <a:latin typeface="Source Sans 3" pitchFamily="34" charset="0"/>
                <a:ea typeface="Source Sans 3" pitchFamily="34" charset="-122"/>
                <a:cs typeface="Source Sans 3" pitchFamily="34" charset="-120"/>
              </a:rPr>
              <a:t>Few comparables: take care with valuations; fewer rival bidders.</a:t>
            </a:r>
            <a:endParaRPr lang="en-US" sz="950" dirty="0"/>
          </a:p>
        </p:txBody>
      </p:sp>
      <p:sp>
        <p:nvSpPr>
          <p:cNvPr id="27" name="tile 4"/>
          <p:cNvSpPr/>
          <p:nvPr/>
        </p:nvSpPr>
        <p:spPr>
          <a:xfrm>
            <a:off x="8997696" y="1901952"/>
            <a:ext cx="2615184" cy="3584448"/>
          </a:xfrm>
          <a:prstGeom prst="roundRect">
            <a:avLst>
              <a:gd name="adj" fmla="val 2797"/>
            </a:avLst>
          </a:prstGeom>
          <a:solidFill>
            <a:srgbClr val="F4F6F8"/>
          </a:solidFill>
          <a:ln/>
        </p:spPr>
      </p:sp>
      <p:sp>
        <p:nvSpPr>
          <p:cNvPr id="28" name="Shape 25"/>
          <p:cNvSpPr/>
          <p:nvPr/>
        </p:nvSpPr>
        <p:spPr>
          <a:xfrm>
            <a:off x="8997696" y="1901952"/>
            <a:ext cx="64008" cy="3584448"/>
          </a:xfrm>
          <a:prstGeom prst="rect">
            <a:avLst/>
          </a:prstGeom>
          <a:solidFill>
            <a:srgbClr val="B9781A"/>
          </a:solidFill>
          <a:ln/>
        </p:spPr>
      </p:sp>
      <p:sp>
        <p:nvSpPr>
          <p:cNvPr id="29" name="tile 4 number"/>
          <p:cNvSpPr/>
          <p:nvPr/>
        </p:nvSpPr>
        <p:spPr>
          <a:xfrm>
            <a:off x="9253728" y="2103120"/>
            <a:ext cx="2249424" cy="749808"/>
          </a:xfrm>
          <a:prstGeom prst="rect">
            <a:avLst/>
          </a:prstGeom>
          <a:noFill/>
          <a:ln/>
        </p:spPr>
        <p:txBody>
          <a:bodyPr wrap="square" lIns="0" tIns="0" rIns="0" bIns="0" rtlCol="0" anchor="ctr"/>
          <a:lstStyle/>
          <a:p>
            <a:pPr indent="0" marL="0">
              <a:buNone/>
            </a:pPr>
            <a:r>
              <a:rPr lang="en-US" sz="4000" b="1" dirty="0">
                <a:solidFill>
                  <a:srgbClr val="B9781A"/>
                </a:solidFill>
                <a:latin typeface="IBM Plex Mono" pitchFamily="34" charset="0"/>
                <a:ea typeface="IBM Plex Mono" pitchFamily="34" charset="-122"/>
                <a:cs typeface="IBM Plex Mono" pitchFamily="34" charset="-120"/>
              </a:rPr>
              <a:t>540k</a:t>
            </a:r>
            <a:pPr indent="0" marL="0">
              <a:buNone/>
            </a:pPr>
            <a:r>
              <a:rPr lang="en-US" sz="1800" b="1" dirty="0">
                <a:solidFill>
                  <a:srgbClr val="42506A"/>
                </a:solidFill>
                <a:latin typeface="IBM Plex Mono" pitchFamily="34" charset="0"/>
                <a:ea typeface="IBM Plex Mono" pitchFamily="34" charset="-122"/>
                <a:cs typeface="IBM Plex Mono" pitchFamily="34" charset="-120"/>
              </a:rPr>
              <a:t> sq ft</a:t>
            </a:r>
            <a:endParaRPr lang="en-US" sz="4000" dirty="0"/>
          </a:p>
        </p:txBody>
      </p:sp>
      <p:sp>
        <p:nvSpPr>
          <p:cNvPr id="30" name="Text 27"/>
          <p:cNvSpPr/>
          <p:nvPr/>
        </p:nvSpPr>
        <p:spPr>
          <a:xfrm>
            <a:off x="9253728" y="2852928"/>
            <a:ext cx="2203704" cy="329184"/>
          </a:xfrm>
          <a:prstGeom prst="rect">
            <a:avLst/>
          </a:prstGeom>
          <a:noFill/>
          <a:ln/>
        </p:spPr>
        <p:txBody>
          <a:bodyPr wrap="square" lIns="0" tIns="0" rIns="0" bIns="0" rtlCol="0" anchor="t"/>
          <a:lstStyle/>
          <a:p>
            <a:pPr indent="0" marL="0">
              <a:buNone/>
            </a:pPr>
            <a:r>
              <a:rPr lang="en-US" sz="1350" b="1" dirty="0">
                <a:solidFill>
                  <a:srgbClr val="0F1A2A"/>
                </a:solidFill>
                <a:latin typeface="Source Sans 3" pitchFamily="34" charset="0"/>
                <a:ea typeface="Source Sans 3" pitchFamily="34" charset="-122"/>
                <a:cs typeface="Source Sans 3" pitchFamily="34" charset="-120"/>
              </a:rPr>
              <a:t>City Core speculative space</a:t>
            </a:r>
            <a:endParaRPr lang="en-US" sz="1350" dirty="0"/>
          </a:p>
        </p:txBody>
      </p:sp>
      <p:sp>
        <p:nvSpPr>
          <p:cNvPr id="31" name="Text 28"/>
          <p:cNvSpPr/>
          <p:nvPr/>
        </p:nvSpPr>
        <p:spPr>
          <a:xfrm>
            <a:off x="9253728" y="3200400"/>
            <a:ext cx="2203704" cy="868680"/>
          </a:xfrm>
          <a:prstGeom prst="rect">
            <a:avLst/>
          </a:prstGeom>
          <a:noFill/>
          <a:ln/>
        </p:spPr>
        <p:txBody>
          <a:bodyPr wrap="square" lIns="0" tIns="0" rIns="0" bIns="0" rtlCol="0" anchor="t"/>
          <a:lstStyle/>
          <a:p>
            <a:pPr indent="0" marL="0">
              <a:lnSpc>
                <a:spcPct val="105000"/>
              </a:lnSpc>
              <a:buNone/>
            </a:pPr>
            <a:r>
              <a:rPr lang="en-US" sz="1250" dirty="0">
                <a:solidFill>
                  <a:srgbClr val="42506A"/>
                </a:solidFill>
                <a:latin typeface="Source Sans 3" pitchFamily="34" charset="0"/>
                <a:ea typeface="Source Sans 3" pitchFamily="34" charset="-122"/>
                <a:cs typeface="Source Sans 3" pitchFamily="34" charset="-120"/>
              </a:rPr>
              <a:t>81 Newgate Street, EC1: under construction, no pre-let, due Q4 2026.</a:t>
            </a:r>
            <a:endParaRPr lang="en-US" sz="1250" dirty="0"/>
          </a:p>
        </p:txBody>
      </p:sp>
      <p:sp>
        <p:nvSpPr>
          <p:cNvPr id="32" name="Shape 29"/>
          <p:cNvSpPr/>
          <p:nvPr/>
        </p:nvSpPr>
        <p:spPr>
          <a:xfrm>
            <a:off x="9253728" y="4187952"/>
            <a:ext cx="2103120" cy="0"/>
          </a:xfrm>
          <a:prstGeom prst="line">
            <a:avLst/>
          </a:prstGeom>
          <a:noFill/>
          <a:ln w="9525">
            <a:solidFill>
              <a:srgbClr val="D3DAE1"/>
            </a:solidFill>
            <a:prstDash val="solid"/>
          </a:ln>
        </p:spPr>
      </p:sp>
      <p:sp>
        <p:nvSpPr>
          <p:cNvPr id="33" name="tile 4 so what"/>
          <p:cNvSpPr/>
          <p:nvPr/>
        </p:nvSpPr>
        <p:spPr>
          <a:xfrm>
            <a:off x="9253728" y="4297680"/>
            <a:ext cx="2203704" cy="1051560"/>
          </a:xfrm>
          <a:prstGeom prst="rect">
            <a:avLst/>
          </a:prstGeom>
          <a:noFill/>
          <a:ln/>
        </p:spPr>
        <p:txBody>
          <a:bodyPr wrap="square" lIns="0" tIns="0" rIns="0" bIns="0" rtlCol="0" anchor="t"/>
          <a:lstStyle/>
          <a:p>
            <a:pPr indent="0" marL="0">
              <a:spcAft>
                <a:spcPts val="300"/>
              </a:spcAft>
              <a:buNone/>
            </a:pPr>
            <a:r>
              <a:rPr lang="en-US" sz="950" b="1" spc="150" kern="0" dirty="0">
                <a:solidFill>
                  <a:srgbClr val="B9781A"/>
                </a:solidFill>
                <a:latin typeface="Source Sans 3" pitchFamily="34" charset="0"/>
                <a:ea typeface="Source Sans 3" pitchFamily="34" charset="-122"/>
                <a:cs typeface="Source Sans 3" pitchFamily="34" charset="-120"/>
              </a:rPr>
              <a:t>SO WHAT FOR US</a:t>
            </a:r>
            <a:endParaRPr lang="en-US" sz="950" dirty="0"/>
          </a:p>
          <a:p>
            <a:pPr indent="0" marL="0">
              <a:spcAft>
                <a:spcPts val="300"/>
              </a:spcAft>
              <a:buNone/>
            </a:pPr>
            <a:r>
              <a:rPr lang="en-US" sz="1300" b="1" dirty="0">
                <a:solidFill>
                  <a:srgbClr val="0F1A2A"/>
                </a:solidFill>
                <a:latin typeface="Source Sans 3" pitchFamily="34" charset="0"/>
                <a:ea typeface="Source Sans 3" pitchFamily="34" charset="-122"/>
                <a:cs typeface="Source Sans 3" pitchFamily="34" charset="-120"/>
              </a:rPr>
              <a:t>New competition for City tenants near St Paul's from this quarter.</a:t>
            </a:r>
            <a:endParaRPr lang="en-US" sz="950" dirty="0"/>
          </a:p>
        </p:txBody>
      </p:sp>
      <p:sp>
        <p:nvSpPr>
          <p:cNvPr id="34" name="Text 31"/>
          <p:cNvSpPr/>
          <p:nvPr/>
        </p:nvSpPr>
        <p:spPr>
          <a:xfrm>
            <a:off x="548640" y="5577840"/>
            <a:ext cx="11064240" cy="347472"/>
          </a:xfrm>
          <a:prstGeom prst="rect">
            <a:avLst/>
          </a:prstGeom>
          <a:noFill/>
          <a:ln/>
        </p:spPr>
        <p:txBody>
          <a:bodyPr wrap="square" lIns="0" tIns="0" rIns="0" bIns="0" rtlCol="0" anchor="ctr"/>
          <a:lstStyle/>
          <a:p>
            <a:pPr indent="0" marL="0">
              <a:buNone/>
            </a:pPr>
            <a:r>
              <a:rPr lang="en-US" sz="1300" b="1" dirty="0">
                <a:solidFill>
                  <a:srgbClr val="0F1A2A"/>
                </a:solidFill>
                <a:latin typeface="Source Sans 3" pitchFamily="34" charset="0"/>
                <a:ea typeface="Source Sans 3" pitchFamily="34" charset="-122"/>
                <a:cs typeface="Source Sans 3" pitchFamily="34" charset="-120"/>
              </a:rPr>
              <a:t>Also this week: </a:t>
            </a:r>
            <a:pPr indent="0" marL="0">
              <a:buNone/>
            </a:pPr>
            <a:r>
              <a:rPr lang="en-US" sz="1300" dirty="0">
                <a:solidFill>
                  <a:srgbClr val="42506A"/>
                </a:solidFill>
                <a:latin typeface="Source Sans 3" pitchFamily="34" charset="0"/>
                <a:ea typeface="Source Sans 3" pitchFamily="34" charset="-122"/>
                <a:cs typeface="Source Sans 3" pitchFamily="34" charset="-120"/>
              </a:rPr>
              <a:t>Canary Wharf prime rent +8.7% to £62.50/sq ft. Each figure opens the report page it came from, and one click puts it in the team brief.</a:t>
            </a:r>
            <a:endParaRPr lang="en-US" sz="1300" dirty="0"/>
          </a:p>
        </p:txBody>
      </p:sp>
      <p:sp>
        <p:nvSpPr>
          <p:cNvPr id="35" name="footnote"/>
          <p:cNvSpPr/>
          <p:nvPr/>
        </p:nvSpPr>
        <p:spPr>
          <a:xfrm>
            <a:off x="548640" y="6053328"/>
            <a:ext cx="11064240" cy="274320"/>
          </a:xfrm>
          <a:prstGeom prst="rect">
            <a:avLst/>
          </a:prstGeom>
          <a:noFill/>
          <a:ln/>
        </p:spPr>
        <p:txBody>
          <a:bodyPr wrap="square" lIns="0" tIns="0" rIns="0" bIns="0" rtlCol="0" anchor="ctr"/>
          <a:lstStyle/>
          <a:p>
            <a:pPr indent="0" marL="0">
              <a:buNone/>
            </a:pPr>
            <a:r>
              <a:rPr lang="en-US" sz="900" dirty="0">
                <a:solidFill>
                  <a:srgbClr val="6B7A90"/>
                </a:solidFill>
                <a:latin typeface="Source Sans 3" pitchFamily="34" charset="0"/>
                <a:ea typeface="Source Sans 3" pitchFamily="34" charset="-122"/>
                <a:cs typeface="Source Sans 3" pitchFamily="34" charset="-120"/>
              </a:rPr>
              <a:t>Sources: Knight Frank, London Offices Spotlight Q2 2026 and The London Office Market Report (long-term averages), restated for evaluating this PoC only; developer and planning announcements (81 Newgate Street). The agent's own signals, 11 Oct 2026.</a:t>
            </a:r>
            <a:endParaRPr lang="en-US" sz="900" dirty="0"/>
          </a:p>
        </p:txBody>
      </p:sp>
      <p:sp>
        <p:nvSpPr>
          <p:cNvPr id="25" name="Slide Number Placeholder 0"/>
          <p:cNvSpPr>
            <a:spLocks noGrp="1"/>
          </p:cNvSpPr>
          <p:nvPr>
            <p:ph type="sldNum" sz="quarter" idx="4294967295"/>
          </p:nvPr>
        </p:nvSpPr>
        <p:spPr>
          <a:xfrm>
            <a:off x="11274552" y="6391656"/>
            <a:ext cx="365760" cy="237744"/>
          </a:xfrm>
          <a:prstGeom prst="rect">
            <a:avLst/>
          </a:prstGeom>
          <a:extLst>
            <a:ext uri="{C572A759-6A51-4108-AA02-DFA0A04FC94B}">
              <ma14:wrappingTextBoxFlag xmlns:ma14="http://schemas.microsoft.com/office/mac/drawingml/2011/main" val="0"/>
            </a:ext>
          </a:extLst>
        </p:spPr>
        <p:txBody>
          <a:bodyPr/>
          <a:lstStyle>
            <a:lvl1pPr>
              <a:defRPr sz="950">
                <a:solidFill>
                  <a:srgbClr val="6B7A90"/>
                </a:solidFill>
                <a:latin typeface="IBM Plex Mono"/>
                <a:ea typeface="IBM Plex Mono"/>
                <a:cs typeface="IBM Plex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p:nvPr/>
        </p:nvSpPr>
        <p:spPr>
          <a:xfrm>
            <a:off x="548640" y="384048"/>
            <a:ext cx="8229600" cy="274320"/>
          </a:xfrm>
          <a:prstGeom prst="rect">
            <a:avLst/>
          </a:prstGeom>
          <a:noFill/>
          <a:ln/>
        </p:spPr>
        <p:txBody>
          <a:bodyPr wrap="square" lIns="0" tIns="0" rIns="0" bIns="0" rtlCol="0" anchor="ctr"/>
          <a:lstStyle/>
          <a:p>
            <a:pPr indent="0" marL="0">
              <a:buNone/>
            </a:pPr>
            <a:r>
              <a:rPr lang="en-US" sz="1100" b="1" spc="120" kern="0" dirty="0">
                <a:solidFill>
                  <a:srgbClr val="B9781A"/>
                </a:solidFill>
                <a:latin typeface="Source Sans 3" pitchFamily="34" charset="0"/>
                <a:ea typeface="Source Sans 3" pitchFamily="34" charset="-122"/>
                <a:cs typeface="Source Sans 3" pitchFamily="34" charset="-120"/>
              </a:rPr>
              <a:t>WHY IT MATTERS</a:t>
            </a:r>
            <a:endParaRPr lang="en-US" sz="1100" dirty="0"/>
          </a:p>
        </p:txBody>
      </p:sp>
      <p:sp>
        <p:nvSpPr>
          <p:cNvPr id="3" name="title"/>
          <p:cNvSpPr/>
          <p:nvPr/>
        </p:nvSpPr>
        <p:spPr>
          <a:xfrm>
            <a:off x="548640" y="658368"/>
            <a:ext cx="11064240" cy="658368"/>
          </a:xfrm>
          <a:prstGeom prst="rect">
            <a:avLst/>
          </a:prstGeom>
          <a:noFill/>
          <a:ln/>
        </p:spPr>
        <p:txBody>
          <a:bodyPr wrap="square" lIns="0" tIns="0" rIns="0" bIns="0" rtlCol="0" anchor="ctr"/>
          <a:lstStyle/>
          <a:p>
            <a:pPr indent="0" marL="0">
              <a:buNone/>
            </a:pPr>
            <a:r>
              <a:rPr lang="en-US" sz="3100" b="1" dirty="0">
                <a:solidFill>
                  <a:srgbClr val="0F1A2A"/>
                </a:solidFill>
                <a:latin typeface="Archivo" pitchFamily="34" charset="0"/>
                <a:ea typeface="Archivo" pitchFamily="34" charset="-122"/>
                <a:cs typeface="Archivo" pitchFamily="34" charset="-120"/>
              </a:rPr>
              <a:t>Fewer hand-offs, nothing lost in the retelling</a:t>
            </a:r>
            <a:endParaRPr lang="en-US" sz="3100" dirty="0"/>
          </a:p>
        </p:txBody>
      </p:sp>
      <p:sp>
        <p:nvSpPr>
          <p:cNvPr id="4" name="subtitle"/>
          <p:cNvSpPr/>
          <p:nvPr/>
        </p:nvSpPr>
        <p:spPr>
          <a:xfrm>
            <a:off x="548640" y="1316736"/>
            <a:ext cx="11064240" cy="384048"/>
          </a:xfrm>
          <a:prstGeom prst="rect">
            <a:avLst/>
          </a:prstGeom>
          <a:noFill/>
          <a:ln/>
        </p:spPr>
        <p:txBody>
          <a:bodyPr wrap="square" lIns="0" tIns="0" rIns="0" bIns="0" rtlCol="0" anchor="ctr"/>
          <a:lstStyle/>
          <a:p>
            <a:pPr indent="0" marL="0">
              <a:buNone/>
            </a:pPr>
            <a:r>
              <a:rPr lang="en-US" sz="1500" dirty="0">
                <a:solidFill>
                  <a:srgbClr val="42506A"/>
                </a:solidFill>
                <a:latin typeface="Source Sans 3" pitchFamily="34" charset="0"/>
                <a:ea typeface="Source Sans 3" pitchFamily="34" charset="-122"/>
                <a:cs typeface="Source Sans 3" pitchFamily="34" charset="-120"/>
              </a:rPr>
              <a:t>Today a market number passes through several people before it reaches a decision. Each hop costs a message and drops a detail.</a:t>
            </a:r>
            <a:endParaRPr lang="en-US" sz="1500" dirty="0"/>
          </a:p>
        </p:txBody>
      </p:sp>
      <p:sp>
        <p:nvSpPr>
          <p:cNvPr id="5" name="today panel"/>
          <p:cNvSpPr/>
          <p:nvPr/>
        </p:nvSpPr>
        <p:spPr>
          <a:xfrm>
            <a:off x="548640" y="1901952"/>
            <a:ext cx="5532120" cy="3310128"/>
          </a:xfrm>
          <a:prstGeom prst="roundRect">
            <a:avLst>
              <a:gd name="adj" fmla="val 2210"/>
            </a:avLst>
          </a:prstGeom>
          <a:solidFill>
            <a:srgbClr val="F4F6F8"/>
          </a:solidFill>
          <a:ln/>
        </p:spPr>
      </p:sp>
      <p:sp>
        <p:nvSpPr>
          <p:cNvPr id="6" name="Text 4"/>
          <p:cNvSpPr/>
          <p:nvPr/>
        </p:nvSpPr>
        <p:spPr>
          <a:xfrm>
            <a:off x="777240" y="2011680"/>
            <a:ext cx="5120640" cy="274320"/>
          </a:xfrm>
          <a:prstGeom prst="rect">
            <a:avLst/>
          </a:prstGeom>
          <a:noFill/>
          <a:ln/>
        </p:spPr>
        <p:txBody>
          <a:bodyPr wrap="square" lIns="0" tIns="0" rIns="0" bIns="0" rtlCol="0" anchor="ctr"/>
          <a:lstStyle/>
          <a:p>
            <a:pPr indent="0" marL="0">
              <a:buNone/>
            </a:pPr>
            <a:r>
              <a:rPr lang="en-US" sz="1050" b="1" spc="120" kern="0" dirty="0">
                <a:solidFill>
                  <a:srgbClr val="6B7A90"/>
                </a:solidFill>
                <a:latin typeface="Source Sans 3" pitchFamily="34" charset="0"/>
                <a:ea typeface="Source Sans 3" pitchFamily="34" charset="-122"/>
                <a:cs typeface="Source Sans 3" pitchFamily="34" charset="-120"/>
              </a:rPr>
              <a:t>TODAY: ONE FIGURE, HAND TO HAND</a:t>
            </a:r>
            <a:endParaRPr lang="en-US" sz="1050" dirty="0"/>
          </a:p>
        </p:txBody>
      </p:sp>
      <p:sp>
        <p:nvSpPr>
          <p:cNvPr id="7" name="hop 1"/>
          <p:cNvSpPr/>
          <p:nvPr/>
        </p:nvSpPr>
        <p:spPr>
          <a:xfrm>
            <a:off x="777240" y="2377440"/>
            <a:ext cx="3108960" cy="530352"/>
          </a:xfrm>
          <a:prstGeom prst="roundRect">
            <a:avLst>
              <a:gd name="adj" fmla="val 10345"/>
            </a:avLst>
          </a:prstGeom>
          <a:solidFill>
            <a:srgbClr val="FFFFFF"/>
          </a:solidFill>
          <a:ln w="9525">
            <a:solidFill>
              <a:srgbClr val="D3DAE1"/>
            </a:solidFill>
            <a:prstDash val="solid"/>
          </a:ln>
        </p:spPr>
      </p:sp>
      <p:sp>
        <p:nvSpPr>
          <p:cNvPr id="8" name="Text 6"/>
          <p:cNvSpPr/>
          <p:nvPr/>
        </p:nvSpPr>
        <p:spPr>
          <a:xfrm>
            <a:off x="896112" y="2414016"/>
            <a:ext cx="2971800" cy="457200"/>
          </a:xfrm>
          <a:prstGeom prst="rect">
            <a:avLst/>
          </a:prstGeom>
          <a:noFill/>
          <a:ln/>
        </p:spPr>
        <p:txBody>
          <a:bodyPr wrap="square" lIns="0" tIns="0" rIns="0" bIns="0" rtlCol="0" anchor="ctr"/>
          <a:lstStyle/>
          <a:p>
            <a:pPr indent="0" marL="0">
              <a:buNone/>
            </a:pPr>
            <a:r>
              <a:rPr lang="en-US" sz="950" b="1" dirty="0">
                <a:solidFill>
                  <a:srgbClr val="6B7A90"/>
                </a:solidFill>
                <a:latin typeface="Source Sans 3" pitchFamily="34" charset="0"/>
                <a:ea typeface="Source Sans 3" pitchFamily="34" charset="-122"/>
                <a:cs typeface="Source Sans 3" pitchFamily="34" charset="-120"/>
              </a:rPr>
              <a:t>Agency report</a:t>
            </a:r>
            <a:endParaRPr lang="en-US" sz="950" dirty="0"/>
          </a:p>
          <a:p>
            <a:pPr indent="0" marL="0">
              <a:buNone/>
            </a:pPr>
            <a:r>
              <a:rPr lang="en-US" sz="1150" b="1" dirty="0">
                <a:solidFill>
                  <a:srgbClr val="0F1A2A"/>
                </a:solidFill>
                <a:latin typeface="Source Sans 3" pitchFamily="34" charset="0"/>
                <a:ea typeface="Source Sans 3" pitchFamily="34" charset="-122"/>
                <a:cs typeface="Source Sans 3" pitchFamily="34" charset="-120"/>
              </a:rPr>
              <a:t>City Core vacancy 6.1% · Q2 2026 · all grades</a:t>
            </a:r>
            <a:endParaRPr lang="en-US" sz="950" dirty="0"/>
          </a:p>
        </p:txBody>
      </p:sp>
      <p:sp>
        <p:nvSpPr>
          <p:cNvPr id="9" name="Shape 7"/>
          <p:cNvSpPr/>
          <p:nvPr/>
        </p:nvSpPr>
        <p:spPr>
          <a:xfrm>
            <a:off x="1097280" y="2907792"/>
            <a:ext cx="0" cy="155448"/>
          </a:xfrm>
          <a:prstGeom prst="line">
            <a:avLst/>
          </a:prstGeom>
          <a:noFill/>
          <a:ln w="12700">
            <a:solidFill>
              <a:srgbClr val="6B7A90"/>
            </a:solidFill>
            <a:prstDash val="solid"/>
            <a:tailEnd type="triangle"/>
          </a:ln>
        </p:spPr>
      </p:sp>
      <p:sp>
        <p:nvSpPr>
          <p:cNvPr id="10" name="hop 2"/>
          <p:cNvSpPr/>
          <p:nvPr/>
        </p:nvSpPr>
        <p:spPr>
          <a:xfrm>
            <a:off x="777240" y="3063240"/>
            <a:ext cx="3108960" cy="530352"/>
          </a:xfrm>
          <a:prstGeom prst="roundRect">
            <a:avLst>
              <a:gd name="adj" fmla="val 10345"/>
            </a:avLst>
          </a:prstGeom>
          <a:solidFill>
            <a:srgbClr val="FFFFFF"/>
          </a:solidFill>
          <a:ln w="9525">
            <a:solidFill>
              <a:srgbClr val="D3DAE1"/>
            </a:solidFill>
            <a:prstDash val="solid"/>
          </a:ln>
        </p:spPr>
      </p:sp>
      <p:sp>
        <p:nvSpPr>
          <p:cNvPr id="11" name="Text 9"/>
          <p:cNvSpPr/>
          <p:nvPr/>
        </p:nvSpPr>
        <p:spPr>
          <a:xfrm>
            <a:off x="896112" y="3099816"/>
            <a:ext cx="2971800" cy="457200"/>
          </a:xfrm>
          <a:prstGeom prst="rect">
            <a:avLst/>
          </a:prstGeom>
          <a:noFill/>
          <a:ln/>
        </p:spPr>
        <p:txBody>
          <a:bodyPr wrap="square" lIns="0" tIns="0" rIns="0" bIns="0" rtlCol="0" anchor="ctr"/>
          <a:lstStyle/>
          <a:p>
            <a:pPr indent="0" marL="0">
              <a:buNone/>
            </a:pPr>
            <a:r>
              <a:rPr lang="en-US" sz="950" b="1" dirty="0">
                <a:solidFill>
                  <a:srgbClr val="6B7A90"/>
                </a:solidFill>
                <a:latin typeface="Source Sans 3" pitchFamily="34" charset="0"/>
                <a:ea typeface="Source Sans 3" pitchFamily="34" charset="-122"/>
                <a:cs typeface="Source Sans 3" pitchFamily="34" charset="-120"/>
              </a:rPr>
              <a:t>Analyst's spreadsheet</a:t>
            </a:r>
            <a:endParaRPr lang="en-US" sz="950" dirty="0"/>
          </a:p>
          <a:p>
            <a:pPr indent="0" marL="0">
              <a:buNone/>
            </a:pPr>
            <a:r>
              <a:rPr lang="en-US" sz="1200" dirty="0">
                <a:solidFill>
                  <a:srgbClr val="0F1A2A"/>
                </a:solidFill>
                <a:latin typeface="Source Sans 3" pitchFamily="34" charset="0"/>
                <a:ea typeface="Source Sans 3" pitchFamily="34" charset="-122"/>
                <a:cs typeface="Source Sans 3" pitchFamily="34" charset="-120"/>
              </a:rPr>
              <a:t>City vacancy 6.1%</a:t>
            </a:r>
            <a:endParaRPr lang="en-US" sz="950" dirty="0"/>
          </a:p>
        </p:txBody>
      </p:sp>
      <p:sp>
        <p:nvSpPr>
          <p:cNvPr id="12" name="Shape 10"/>
          <p:cNvSpPr/>
          <p:nvPr/>
        </p:nvSpPr>
        <p:spPr>
          <a:xfrm>
            <a:off x="1097280" y="3593592"/>
            <a:ext cx="0" cy="155448"/>
          </a:xfrm>
          <a:prstGeom prst="line">
            <a:avLst/>
          </a:prstGeom>
          <a:noFill/>
          <a:ln w="12700">
            <a:solidFill>
              <a:srgbClr val="6B7A90"/>
            </a:solidFill>
            <a:prstDash val="solid"/>
            <a:tailEnd type="triangle"/>
          </a:ln>
        </p:spPr>
      </p:sp>
      <p:sp>
        <p:nvSpPr>
          <p:cNvPr id="13" name="Shape 11"/>
          <p:cNvSpPr/>
          <p:nvPr/>
        </p:nvSpPr>
        <p:spPr>
          <a:xfrm>
            <a:off x="3931920" y="3328416"/>
            <a:ext cx="182880" cy="0"/>
          </a:xfrm>
          <a:prstGeom prst="line">
            <a:avLst/>
          </a:prstGeom>
          <a:noFill/>
          <a:ln w="12700">
            <a:solidFill>
              <a:srgbClr val="B4452E"/>
            </a:solidFill>
            <a:prstDash val="dash"/>
          </a:ln>
        </p:spPr>
      </p:sp>
      <p:sp>
        <p:nvSpPr>
          <p:cNvPr id="14" name="Text 12"/>
          <p:cNvSpPr/>
          <p:nvPr/>
        </p:nvSpPr>
        <p:spPr>
          <a:xfrm>
            <a:off x="4169664" y="3063240"/>
            <a:ext cx="1828800" cy="530352"/>
          </a:xfrm>
          <a:prstGeom prst="rect">
            <a:avLst/>
          </a:prstGeom>
          <a:noFill/>
          <a:ln/>
        </p:spPr>
        <p:txBody>
          <a:bodyPr wrap="square" lIns="0" tIns="0" rIns="0" bIns="0" rtlCol="0" anchor="ctr"/>
          <a:lstStyle/>
          <a:p>
            <a:pPr indent="0" marL="0">
              <a:buNone/>
            </a:pPr>
            <a:r>
              <a:rPr lang="en-US" sz="1100" i="1" dirty="0">
                <a:solidFill>
                  <a:srgbClr val="B4452E"/>
                </a:solidFill>
                <a:latin typeface="Source Sans 3" pitchFamily="34" charset="0"/>
                <a:ea typeface="Source Sans 3" pitchFamily="34" charset="-122"/>
                <a:cs typeface="Source Sans 3" pitchFamily="34" charset="-120"/>
              </a:rPr>
              <a:t>quarter and source dropped</a:t>
            </a:r>
            <a:endParaRPr lang="en-US" sz="1100" dirty="0"/>
          </a:p>
        </p:txBody>
      </p:sp>
      <p:sp>
        <p:nvSpPr>
          <p:cNvPr id="15" name="hop 3"/>
          <p:cNvSpPr/>
          <p:nvPr/>
        </p:nvSpPr>
        <p:spPr>
          <a:xfrm>
            <a:off x="777240" y="3749040"/>
            <a:ext cx="3108960" cy="530352"/>
          </a:xfrm>
          <a:prstGeom prst="roundRect">
            <a:avLst>
              <a:gd name="adj" fmla="val 10345"/>
            </a:avLst>
          </a:prstGeom>
          <a:solidFill>
            <a:srgbClr val="FFFFFF"/>
          </a:solidFill>
          <a:ln w="9525">
            <a:solidFill>
              <a:srgbClr val="D3DAE1"/>
            </a:solidFill>
            <a:prstDash val="solid"/>
          </a:ln>
        </p:spPr>
      </p:sp>
      <p:sp>
        <p:nvSpPr>
          <p:cNvPr id="16" name="Text 14"/>
          <p:cNvSpPr/>
          <p:nvPr/>
        </p:nvSpPr>
        <p:spPr>
          <a:xfrm>
            <a:off x="896112" y="3785616"/>
            <a:ext cx="2971800" cy="457200"/>
          </a:xfrm>
          <a:prstGeom prst="rect">
            <a:avLst/>
          </a:prstGeom>
          <a:noFill/>
          <a:ln/>
        </p:spPr>
        <p:txBody>
          <a:bodyPr wrap="square" lIns="0" tIns="0" rIns="0" bIns="0" rtlCol="0" anchor="ctr"/>
          <a:lstStyle/>
          <a:p>
            <a:pPr indent="0" marL="0">
              <a:buNone/>
            </a:pPr>
            <a:r>
              <a:rPr lang="en-US" sz="950" b="1" dirty="0">
                <a:solidFill>
                  <a:srgbClr val="6B7A90"/>
                </a:solidFill>
                <a:latin typeface="Source Sans 3" pitchFamily="34" charset="0"/>
                <a:ea typeface="Source Sans 3" pitchFamily="34" charset="-122"/>
                <a:cs typeface="Source Sans 3" pitchFamily="34" charset="-120"/>
              </a:rPr>
              <a:t>Email to the deal team</a:t>
            </a:r>
            <a:endParaRPr lang="en-US" sz="950" dirty="0"/>
          </a:p>
          <a:p>
            <a:pPr indent="0" marL="0">
              <a:buNone/>
            </a:pPr>
            <a:r>
              <a:rPr lang="en-US" sz="1200" dirty="0">
                <a:solidFill>
                  <a:srgbClr val="0F1A2A"/>
                </a:solidFill>
                <a:latin typeface="Source Sans 3" pitchFamily="34" charset="0"/>
                <a:ea typeface="Source Sans 3" pitchFamily="34" charset="-122"/>
                <a:cs typeface="Source Sans 3" pitchFamily="34" charset="-120"/>
              </a:rPr>
              <a:t>City vacancy around 6%</a:t>
            </a:r>
            <a:endParaRPr lang="en-US" sz="950" dirty="0"/>
          </a:p>
        </p:txBody>
      </p:sp>
      <p:sp>
        <p:nvSpPr>
          <p:cNvPr id="17" name="Shape 15"/>
          <p:cNvSpPr/>
          <p:nvPr/>
        </p:nvSpPr>
        <p:spPr>
          <a:xfrm>
            <a:off x="1097280" y="4279392"/>
            <a:ext cx="0" cy="155448"/>
          </a:xfrm>
          <a:prstGeom prst="line">
            <a:avLst/>
          </a:prstGeom>
          <a:noFill/>
          <a:ln w="12700">
            <a:solidFill>
              <a:srgbClr val="6B7A90"/>
            </a:solidFill>
            <a:prstDash val="solid"/>
            <a:tailEnd type="triangle"/>
          </a:ln>
        </p:spPr>
      </p:sp>
      <p:sp>
        <p:nvSpPr>
          <p:cNvPr id="18" name="Shape 16"/>
          <p:cNvSpPr/>
          <p:nvPr/>
        </p:nvSpPr>
        <p:spPr>
          <a:xfrm>
            <a:off x="3931920" y="4014216"/>
            <a:ext cx="182880" cy="0"/>
          </a:xfrm>
          <a:prstGeom prst="line">
            <a:avLst/>
          </a:prstGeom>
          <a:noFill/>
          <a:ln w="12700">
            <a:solidFill>
              <a:srgbClr val="B4452E"/>
            </a:solidFill>
            <a:prstDash val="dash"/>
          </a:ln>
        </p:spPr>
      </p:sp>
      <p:sp>
        <p:nvSpPr>
          <p:cNvPr id="19" name="Text 17"/>
          <p:cNvSpPr/>
          <p:nvPr/>
        </p:nvSpPr>
        <p:spPr>
          <a:xfrm>
            <a:off x="4169664" y="3749040"/>
            <a:ext cx="1828800" cy="530352"/>
          </a:xfrm>
          <a:prstGeom prst="rect">
            <a:avLst/>
          </a:prstGeom>
          <a:noFill/>
          <a:ln/>
        </p:spPr>
        <p:txBody>
          <a:bodyPr wrap="square" lIns="0" tIns="0" rIns="0" bIns="0" rtlCol="0" anchor="ctr"/>
          <a:lstStyle/>
          <a:p>
            <a:pPr indent="0" marL="0">
              <a:buNone/>
            </a:pPr>
            <a:r>
              <a:rPr lang="en-US" sz="1100" i="1" dirty="0">
                <a:solidFill>
                  <a:srgbClr val="B4452E"/>
                </a:solidFill>
                <a:latin typeface="Source Sans 3" pitchFamily="34" charset="0"/>
                <a:ea typeface="Source Sans 3" pitchFamily="34" charset="-122"/>
                <a:cs typeface="Source Sans 3" pitchFamily="34" charset="-120"/>
              </a:rPr>
              <a:t>City Core becomes 'the City'</a:t>
            </a:r>
            <a:endParaRPr lang="en-US" sz="1100" dirty="0"/>
          </a:p>
        </p:txBody>
      </p:sp>
      <p:sp>
        <p:nvSpPr>
          <p:cNvPr id="20" name="hop 4"/>
          <p:cNvSpPr/>
          <p:nvPr/>
        </p:nvSpPr>
        <p:spPr>
          <a:xfrm>
            <a:off x="777240" y="4434840"/>
            <a:ext cx="3108960" cy="530352"/>
          </a:xfrm>
          <a:prstGeom prst="roundRect">
            <a:avLst>
              <a:gd name="adj" fmla="val 10345"/>
            </a:avLst>
          </a:prstGeom>
          <a:solidFill>
            <a:srgbClr val="FFFFFF"/>
          </a:solidFill>
          <a:ln w="9525">
            <a:solidFill>
              <a:srgbClr val="D3DAE1"/>
            </a:solidFill>
            <a:prstDash val="solid"/>
          </a:ln>
        </p:spPr>
      </p:sp>
      <p:sp>
        <p:nvSpPr>
          <p:cNvPr id="21" name="Text 19"/>
          <p:cNvSpPr/>
          <p:nvPr/>
        </p:nvSpPr>
        <p:spPr>
          <a:xfrm>
            <a:off x="896112" y="4471416"/>
            <a:ext cx="2971800" cy="457200"/>
          </a:xfrm>
          <a:prstGeom prst="rect">
            <a:avLst/>
          </a:prstGeom>
          <a:noFill/>
          <a:ln/>
        </p:spPr>
        <p:txBody>
          <a:bodyPr wrap="square" lIns="0" tIns="0" rIns="0" bIns="0" rtlCol="0" anchor="ctr"/>
          <a:lstStyle/>
          <a:p>
            <a:pPr indent="0" marL="0">
              <a:buNone/>
            </a:pPr>
            <a:r>
              <a:rPr lang="en-US" sz="950" b="1" dirty="0">
                <a:solidFill>
                  <a:srgbClr val="6B7A90"/>
                </a:solidFill>
                <a:latin typeface="Source Sans 3" pitchFamily="34" charset="0"/>
                <a:ea typeface="Source Sans 3" pitchFamily="34" charset="-122"/>
                <a:cs typeface="Source Sans 3" pitchFamily="34" charset="-120"/>
              </a:rPr>
              <a:t>IC slide</a:t>
            </a:r>
            <a:endParaRPr lang="en-US" sz="950" dirty="0"/>
          </a:p>
          <a:p>
            <a:pPr indent="0" marL="0">
              <a:buNone/>
            </a:pPr>
            <a:r>
              <a:rPr lang="en-US" sz="1200" dirty="0">
                <a:solidFill>
                  <a:srgbClr val="0F1A2A"/>
                </a:solidFill>
                <a:latin typeface="Source Sans 3" pitchFamily="34" charset="0"/>
                <a:ea typeface="Source Sans 3" pitchFamily="34" charset="-122"/>
                <a:cs typeface="Source Sans 3" pitchFamily="34" charset="-120"/>
              </a:rPr>
              <a:t>City vacancy ~6%, tight</a:t>
            </a:r>
            <a:endParaRPr lang="en-US" sz="950" dirty="0"/>
          </a:p>
        </p:txBody>
      </p:sp>
      <p:sp>
        <p:nvSpPr>
          <p:cNvPr id="22" name="Shape 20"/>
          <p:cNvSpPr/>
          <p:nvPr/>
        </p:nvSpPr>
        <p:spPr>
          <a:xfrm>
            <a:off x="3931920" y="4700016"/>
            <a:ext cx="182880" cy="0"/>
          </a:xfrm>
          <a:prstGeom prst="line">
            <a:avLst/>
          </a:prstGeom>
          <a:noFill/>
          <a:ln w="12700">
            <a:solidFill>
              <a:srgbClr val="B4452E"/>
            </a:solidFill>
            <a:prstDash val="dash"/>
          </a:ln>
        </p:spPr>
      </p:sp>
      <p:sp>
        <p:nvSpPr>
          <p:cNvPr id="23" name="Text 21"/>
          <p:cNvSpPr/>
          <p:nvPr/>
        </p:nvSpPr>
        <p:spPr>
          <a:xfrm>
            <a:off x="4169664" y="4434840"/>
            <a:ext cx="1828800" cy="530352"/>
          </a:xfrm>
          <a:prstGeom prst="rect">
            <a:avLst/>
          </a:prstGeom>
          <a:noFill/>
          <a:ln/>
        </p:spPr>
        <p:txBody>
          <a:bodyPr wrap="square" lIns="0" tIns="0" rIns="0" bIns="0" rtlCol="0" anchor="ctr"/>
          <a:lstStyle/>
          <a:p>
            <a:pPr indent="0" marL="0">
              <a:buNone/>
            </a:pPr>
            <a:r>
              <a:rPr lang="en-US" sz="1100" i="1" dirty="0">
                <a:solidFill>
                  <a:srgbClr val="B4452E"/>
                </a:solidFill>
                <a:latin typeface="Source Sans 3" pitchFamily="34" charset="0"/>
                <a:ea typeface="Source Sans 3" pitchFamily="34" charset="-122"/>
                <a:cs typeface="Source Sans 3" pitchFamily="34" charset="-120"/>
              </a:rPr>
              <a:t>"Which quarter? Whose figure?" Another email.</a:t>
            </a:r>
            <a:endParaRPr lang="en-US" sz="1100" dirty="0"/>
          </a:p>
        </p:txBody>
      </p:sp>
      <p:sp>
        <p:nvSpPr>
          <p:cNvPr id="24" name="agent panel"/>
          <p:cNvSpPr/>
          <p:nvPr/>
        </p:nvSpPr>
        <p:spPr>
          <a:xfrm>
            <a:off x="6355080" y="1901952"/>
            <a:ext cx="5285232" cy="3310128"/>
          </a:xfrm>
          <a:prstGeom prst="roundRect">
            <a:avLst>
              <a:gd name="adj" fmla="val 2210"/>
            </a:avLst>
          </a:prstGeom>
          <a:solidFill>
            <a:srgbClr val="0F1A2A"/>
          </a:solidFill>
          <a:ln/>
        </p:spPr>
      </p:sp>
      <p:sp>
        <p:nvSpPr>
          <p:cNvPr id="25" name="Text 23"/>
          <p:cNvSpPr/>
          <p:nvPr/>
        </p:nvSpPr>
        <p:spPr>
          <a:xfrm>
            <a:off x="6583680" y="2011680"/>
            <a:ext cx="4937760" cy="274320"/>
          </a:xfrm>
          <a:prstGeom prst="rect">
            <a:avLst/>
          </a:prstGeom>
          <a:noFill/>
          <a:ln/>
        </p:spPr>
        <p:txBody>
          <a:bodyPr wrap="square" lIns="0" tIns="0" rIns="0" bIns="0" rtlCol="0" anchor="ctr"/>
          <a:lstStyle/>
          <a:p>
            <a:pPr indent="0" marL="0">
              <a:buNone/>
            </a:pPr>
            <a:r>
              <a:rPr lang="en-US" sz="1050" b="1" spc="120" kern="0" dirty="0">
                <a:solidFill>
                  <a:srgbClr val="DEA54A"/>
                </a:solidFill>
                <a:latin typeface="Source Sans 3" pitchFamily="34" charset="0"/>
                <a:ea typeface="Source Sans 3" pitchFamily="34" charset="-122"/>
                <a:cs typeface="Source Sans 3" pitchFamily="34" charset="-120"/>
              </a:rPr>
              <a:t>WITH THE AGENT: EVERYONE READS THE SAME LIBRARY</a:t>
            </a:r>
            <a:endParaRPr lang="en-US" sz="1050" dirty="0"/>
          </a:p>
        </p:txBody>
      </p:sp>
      <p:sp>
        <p:nvSpPr>
          <p:cNvPr id="26" name="the figure"/>
          <p:cNvSpPr/>
          <p:nvPr/>
        </p:nvSpPr>
        <p:spPr>
          <a:xfrm>
            <a:off x="6583680" y="2377440"/>
            <a:ext cx="4937760" cy="731520"/>
          </a:xfrm>
          <a:prstGeom prst="rect">
            <a:avLst/>
          </a:prstGeom>
          <a:noFill/>
          <a:ln/>
        </p:spPr>
        <p:txBody>
          <a:bodyPr wrap="square" lIns="0" tIns="0" rIns="0" bIns="0" rtlCol="0" anchor="ctr"/>
          <a:lstStyle/>
          <a:p>
            <a:pPr indent="0" marL="0">
              <a:buNone/>
            </a:pPr>
            <a:r>
              <a:rPr lang="en-US" sz="4000" b="1" dirty="0">
                <a:solidFill>
                  <a:srgbClr val="FFFFFF"/>
                </a:solidFill>
                <a:latin typeface="IBM Plex Mono" pitchFamily="34" charset="0"/>
                <a:ea typeface="IBM Plex Mono" pitchFamily="34" charset="-122"/>
                <a:cs typeface="IBM Plex Mono" pitchFamily="34" charset="-120"/>
              </a:rPr>
              <a:t>6.1%</a:t>
            </a:r>
            <a:pPr indent="0" marL="0">
              <a:buNone/>
            </a:pPr>
            <a:r>
              <a:rPr lang="en-US" sz="1500" b="1" dirty="0">
                <a:solidFill>
                  <a:srgbClr val="C9D3DF"/>
                </a:solidFill>
                <a:latin typeface="Source Sans 3" pitchFamily="34" charset="0"/>
                <a:ea typeface="Source Sans 3" pitchFamily="34" charset="-122"/>
                <a:cs typeface="Source Sans 3" pitchFamily="34" charset="-120"/>
              </a:rPr>
              <a:t>   City Core vacancy</a:t>
            </a:r>
            <a:endParaRPr lang="en-US" sz="4000" dirty="0"/>
          </a:p>
        </p:txBody>
      </p:sp>
      <p:sp>
        <p:nvSpPr>
          <p:cNvPr id="27" name="chip Q2 2026"/>
          <p:cNvSpPr/>
          <p:nvPr/>
        </p:nvSpPr>
        <p:spPr>
          <a:xfrm>
            <a:off x="6583680" y="3200400"/>
            <a:ext cx="714146" cy="292608"/>
          </a:xfrm>
          <a:prstGeom prst="roundRect">
            <a:avLst>
              <a:gd name="adj" fmla="val 50000"/>
            </a:avLst>
          </a:prstGeom>
          <a:solidFill>
            <a:srgbClr val="1E3350"/>
          </a:solidFill>
          <a:ln w="9525">
            <a:solidFill>
              <a:srgbClr val="2C4A6E"/>
            </a:solidFill>
            <a:prstDash val="solid"/>
          </a:ln>
        </p:spPr>
      </p:sp>
      <p:sp>
        <p:nvSpPr>
          <p:cNvPr id="28" name="Text 26"/>
          <p:cNvSpPr/>
          <p:nvPr/>
        </p:nvSpPr>
        <p:spPr>
          <a:xfrm>
            <a:off x="6583680" y="3200400"/>
            <a:ext cx="714146" cy="292608"/>
          </a:xfrm>
          <a:prstGeom prst="rect">
            <a:avLst/>
          </a:prstGeom>
          <a:noFill/>
          <a:ln/>
        </p:spPr>
        <p:txBody>
          <a:bodyPr wrap="square" lIns="0" tIns="0" rIns="0" bIns="0" rtlCol="0" anchor="ctr"/>
          <a:lstStyle/>
          <a:p>
            <a:pPr algn="ctr" indent="0" marL="0">
              <a:buNone/>
            </a:pPr>
            <a:r>
              <a:rPr lang="en-US" sz="1050" dirty="0">
                <a:solidFill>
                  <a:srgbClr val="FFFFFF"/>
                </a:solidFill>
                <a:latin typeface="Source Sans 3" pitchFamily="34" charset="0"/>
                <a:ea typeface="Source Sans 3" pitchFamily="34" charset="-122"/>
                <a:cs typeface="Source Sans 3" pitchFamily="34" charset="-120"/>
              </a:rPr>
              <a:t>Q2 2026</a:t>
            </a:r>
            <a:endParaRPr lang="en-US" sz="1050" dirty="0"/>
          </a:p>
        </p:txBody>
      </p:sp>
      <p:sp>
        <p:nvSpPr>
          <p:cNvPr id="29" name="chip all grades"/>
          <p:cNvSpPr/>
          <p:nvPr/>
        </p:nvSpPr>
        <p:spPr>
          <a:xfrm>
            <a:off x="7389266" y="3200400"/>
            <a:ext cx="941832" cy="292608"/>
          </a:xfrm>
          <a:prstGeom prst="roundRect">
            <a:avLst>
              <a:gd name="adj" fmla="val 50000"/>
            </a:avLst>
          </a:prstGeom>
          <a:solidFill>
            <a:srgbClr val="1E3350"/>
          </a:solidFill>
          <a:ln w="9525">
            <a:solidFill>
              <a:srgbClr val="2C4A6E"/>
            </a:solidFill>
            <a:prstDash val="solid"/>
          </a:ln>
        </p:spPr>
      </p:sp>
      <p:sp>
        <p:nvSpPr>
          <p:cNvPr id="30" name="Text 28"/>
          <p:cNvSpPr/>
          <p:nvPr/>
        </p:nvSpPr>
        <p:spPr>
          <a:xfrm>
            <a:off x="7389266" y="3200400"/>
            <a:ext cx="941832" cy="292608"/>
          </a:xfrm>
          <a:prstGeom prst="rect">
            <a:avLst/>
          </a:prstGeom>
          <a:noFill/>
          <a:ln/>
        </p:spPr>
        <p:txBody>
          <a:bodyPr wrap="square" lIns="0" tIns="0" rIns="0" bIns="0" rtlCol="0" anchor="ctr"/>
          <a:lstStyle/>
          <a:p>
            <a:pPr algn="ctr" indent="0" marL="0">
              <a:buNone/>
            </a:pPr>
            <a:r>
              <a:rPr lang="en-US" sz="1050" dirty="0">
                <a:solidFill>
                  <a:srgbClr val="FFFFFF"/>
                </a:solidFill>
                <a:latin typeface="Source Sans 3" pitchFamily="34" charset="0"/>
                <a:ea typeface="Source Sans 3" pitchFamily="34" charset="-122"/>
                <a:cs typeface="Source Sans 3" pitchFamily="34" charset="-120"/>
              </a:rPr>
              <a:t>all grades</a:t>
            </a:r>
            <a:endParaRPr lang="en-US" sz="1050" dirty="0"/>
          </a:p>
        </p:txBody>
      </p:sp>
      <p:sp>
        <p:nvSpPr>
          <p:cNvPr id="31" name="chip Knight Frank report"/>
          <p:cNvSpPr/>
          <p:nvPr/>
        </p:nvSpPr>
        <p:spPr>
          <a:xfrm>
            <a:off x="8422538" y="3200400"/>
            <a:ext cx="1624889" cy="292608"/>
          </a:xfrm>
          <a:prstGeom prst="roundRect">
            <a:avLst>
              <a:gd name="adj" fmla="val 50000"/>
            </a:avLst>
          </a:prstGeom>
          <a:solidFill>
            <a:srgbClr val="1E3350"/>
          </a:solidFill>
          <a:ln w="9525">
            <a:solidFill>
              <a:srgbClr val="2C4A6E"/>
            </a:solidFill>
            <a:prstDash val="solid"/>
          </a:ln>
        </p:spPr>
      </p:sp>
      <p:sp>
        <p:nvSpPr>
          <p:cNvPr id="32" name="Text 30"/>
          <p:cNvSpPr/>
          <p:nvPr/>
        </p:nvSpPr>
        <p:spPr>
          <a:xfrm>
            <a:off x="8422538" y="3200400"/>
            <a:ext cx="1624889" cy="292608"/>
          </a:xfrm>
          <a:prstGeom prst="rect">
            <a:avLst/>
          </a:prstGeom>
          <a:noFill/>
          <a:ln/>
        </p:spPr>
        <p:txBody>
          <a:bodyPr wrap="square" lIns="0" tIns="0" rIns="0" bIns="0" rtlCol="0" anchor="ctr"/>
          <a:lstStyle/>
          <a:p>
            <a:pPr algn="ctr" indent="0" marL="0">
              <a:buNone/>
            </a:pPr>
            <a:r>
              <a:rPr lang="en-US" sz="1050" dirty="0">
                <a:solidFill>
                  <a:srgbClr val="FFFFFF"/>
                </a:solidFill>
                <a:latin typeface="Source Sans 3" pitchFamily="34" charset="0"/>
                <a:ea typeface="Source Sans 3" pitchFamily="34" charset="-122"/>
                <a:cs typeface="Source Sans 3" pitchFamily="34" charset="-120"/>
              </a:rPr>
              <a:t>Knight Frank report</a:t>
            </a:r>
            <a:endParaRPr lang="en-US" sz="1050" dirty="0"/>
          </a:p>
        </p:txBody>
      </p:sp>
      <p:sp>
        <p:nvSpPr>
          <p:cNvPr id="33" name="chip uploaded by a colleague, dated"/>
          <p:cNvSpPr/>
          <p:nvPr/>
        </p:nvSpPr>
        <p:spPr>
          <a:xfrm>
            <a:off x="6583680" y="3584448"/>
            <a:ext cx="2459736" cy="292608"/>
          </a:xfrm>
          <a:prstGeom prst="roundRect">
            <a:avLst>
              <a:gd name="adj" fmla="val 50000"/>
            </a:avLst>
          </a:prstGeom>
          <a:solidFill>
            <a:srgbClr val="1E3350"/>
          </a:solidFill>
          <a:ln w="9525">
            <a:solidFill>
              <a:srgbClr val="2C4A6E"/>
            </a:solidFill>
            <a:prstDash val="solid"/>
          </a:ln>
        </p:spPr>
      </p:sp>
      <p:sp>
        <p:nvSpPr>
          <p:cNvPr id="34" name="Text 32"/>
          <p:cNvSpPr/>
          <p:nvPr/>
        </p:nvSpPr>
        <p:spPr>
          <a:xfrm>
            <a:off x="6583680" y="3584448"/>
            <a:ext cx="2459736" cy="292608"/>
          </a:xfrm>
          <a:prstGeom prst="rect">
            <a:avLst/>
          </a:prstGeom>
          <a:noFill/>
          <a:ln/>
        </p:spPr>
        <p:txBody>
          <a:bodyPr wrap="square" lIns="0" tIns="0" rIns="0" bIns="0" rtlCol="0" anchor="ctr"/>
          <a:lstStyle/>
          <a:p>
            <a:pPr algn="ctr" indent="0" marL="0">
              <a:buNone/>
            </a:pPr>
            <a:r>
              <a:rPr lang="en-US" sz="1050" dirty="0">
                <a:solidFill>
                  <a:srgbClr val="FFFFFF"/>
                </a:solidFill>
                <a:latin typeface="Source Sans 3" pitchFamily="34" charset="0"/>
                <a:ea typeface="Source Sans 3" pitchFamily="34" charset="-122"/>
                <a:cs typeface="Source Sans 3" pitchFamily="34" charset="-120"/>
              </a:rPr>
              <a:t>uploaded by a colleague, dated</a:t>
            </a:r>
            <a:endParaRPr lang="en-US" sz="1050" dirty="0"/>
          </a:p>
        </p:txBody>
      </p:sp>
      <p:sp>
        <p:nvSpPr>
          <p:cNvPr id="35" name="chip footnote [1] in the brief"/>
          <p:cNvSpPr/>
          <p:nvPr/>
        </p:nvSpPr>
        <p:spPr>
          <a:xfrm>
            <a:off x="9134856" y="3584448"/>
            <a:ext cx="2080260" cy="292608"/>
          </a:xfrm>
          <a:prstGeom prst="roundRect">
            <a:avLst>
              <a:gd name="adj" fmla="val 50000"/>
            </a:avLst>
          </a:prstGeom>
          <a:solidFill>
            <a:srgbClr val="1E3350"/>
          </a:solidFill>
          <a:ln w="9525">
            <a:solidFill>
              <a:srgbClr val="2C4A6E"/>
            </a:solidFill>
            <a:prstDash val="solid"/>
          </a:ln>
        </p:spPr>
      </p:sp>
      <p:sp>
        <p:nvSpPr>
          <p:cNvPr id="36" name="Text 34"/>
          <p:cNvSpPr/>
          <p:nvPr/>
        </p:nvSpPr>
        <p:spPr>
          <a:xfrm>
            <a:off x="9134856" y="3584448"/>
            <a:ext cx="2080260" cy="292608"/>
          </a:xfrm>
          <a:prstGeom prst="rect">
            <a:avLst/>
          </a:prstGeom>
          <a:noFill/>
          <a:ln/>
        </p:spPr>
        <p:txBody>
          <a:bodyPr wrap="square" lIns="0" tIns="0" rIns="0" bIns="0" rtlCol="0" anchor="ctr"/>
          <a:lstStyle/>
          <a:p>
            <a:pPr algn="ctr" indent="0" marL="0">
              <a:buNone/>
            </a:pPr>
            <a:r>
              <a:rPr lang="en-US" sz="1050" dirty="0">
                <a:solidFill>
                  <a:srgbClr val="FFFFFF"/>
                </a:solidFill>
                <a:latin typeface="Source Sans 3" pitchFamily="34" charset="0"/>
                <a:ea typeface="Source Sans 3" pitchFamily="34" charset="-122"/>
                <a:cs typeface="Source Sans 3" pitchFamily="34" charset="-120"/>
              </a:rPr>
              <a:t>footnote [1] in the brief</a:t>
            </a:r>
            <a:endParaRPr lang="en-US" sz="1050" dirty="0"/>
          </a:p>
        </p:txBody>
      </p:sp>
      <p:sp>
        <p:nvSpPr>
          <p:cNvPr id="37" name="Text 35"/>
          <p:cNvSpPr/>
          <p:nvPr/>
        </p:nvSpPr>
        <p:spPr>
          <a:xfrm>
            <a:off x="6583680" y="4005072"/>
            <a:ext cx="4892040" cy="658368"/>
          </a:xfrm>
          <a:prstGeom prst="rect">
            <a:avLst/>
          </a:prstGeom>
          <a:noFill/>
          <a:ln/>
        </p:spPr>
        <p:txBody>
          <a:bodyPr wrap="square" lIns="0" tIns="0" rIns="0" bIns="0" rtlCol="0" anchor="t"/>
          <a:lstStyle/>
          <a:p>
            <a:pPr indent="0" marL="0">
              <a:buNone/>
            </a:pPr>
            <a:r>
              <a:rPr lang="en-US" sz="1300" dirty="0">
                <a:solidFill>
                  <a:srgbClr val="FFFFFF"/>
                </a:solidFill>
                <a:latin typeface="Source Sans 3" pitchFamily="34" charset="0"/>
                <a:ea typeface="Source Sans 3" pitchFamily="34" charset="-122"/>
                <a:cs typeface="Source Sans 3" pitchFamily="34" charset="-120"/>
              </a:rPr>
              <a:t>The number travels with its quarter, its definition and its source, </a:t>
            </a:r>
            <a:pPr indent="0" marL="0">
              <a:buNone/>
            </a:pPr>
            <a:r>
              <a:rPr lang="en-US" sz="1300" dirty="0">
                <a:solidFill>
                  <a:srgbClr val="C9D3DF"/>
                </a:solidFill>
                <a:latin typeface="Source Sans 3" pitchFamily="34" charset="0"/>
                <a:ea typeface="Source Sans 3" pitchFamily="34" charset="-122"/>
                <a:cs typeface="Source Sans 3" pitchFamily="34" charset="-120"/>
              </a:rPr>
              <a:t>in Monitor, in every Copilot answer and in the brief. Nobody retypes it, so nothing falls off.</a:t>
            </a:r>
            <a:endParaRPr lang="en-US" sz="1300" dirty="0"/>
          </a:p>
        </p:txBody>
      </p:sp>
      <p:sp>
        <p:nvSpPr>
          <p:cNvPr id="38" name="Shape 36"/>
          <p:cNvSpPr/>
          <p:nvPr/>
        </p:nvSpPr>
        <p:spPr>
          <a:xfrm>
            <a:off x="6583680" y="4681728"/>
            <a:ext cx="4873752" cy="0"/>
          </a:xfrm>
          <a:prstGeom prst="line">
            <a:avLst/>
          </a:prstGeom>
          <a:noFill/>
          <a:ln w="9525">
            <a:solidFill>
              <a:srgbClr val="2C4A6E"/>
            </a:solidFill>
            <a:prstDash val="solid"/>
          </a:ln>
        </p:spPr>
      </p:sp>
      <p:sp>
        <p:nvSpPr>
          <p:cNvPr id="39" name="Text 37"/>
          <p:cNvSpPr/>
          <p:nvPr/>
        </p:nvSpPr>
        <p:spPr>
          <a:xfrm>
            <a:off x="6583680" y="4736592"/>
            <a:ext cx="4892040" cy="420624"/>
          </a:xfrm>
          <a:prstGeom prst="rect">
            <a:avLst/>
          </a:prstGeom>
          <a:noFill/>
          <a:ln/>
        </p:spPr>
        <p:txBody>
          <a:bodyPr wrap="square" lIns="0" tIns="0" rIns="0" bIns="0" rtlCol="0" anchor="ctr"/>
          <a:lstStyle/>
          <a:p>
            <a:pPr indent="0" marL="0">
              <a:buNone/>
            </a:pPr>
            <a:r>
              <a:rPr lang="en-US" sz="1100" b="1" dirty="0">
                <a:solidFill>
                  <a:srgbClr val="DEA54A"/>
                </a:solidFill>
                <a:latin typeface="Source Sans 3" pitchFamily="34" charset="0"/>
                <a:ea typeface="Source Sans 3" pitchFamily="34" charset="-122"/>
                <a:cs typeface="Source Sans 3" pitchFamily="34" charset="-120"/>
              </a:rPr>
              <a:t>Why?  </a:t>
            </a:r>
            <a:pPr indent="0" marL="0">
              <a:buNone/>
            </a:pPr>
            <a:r>
              <a:rPr lang="en-US" sz="1100" dirty="0">
                <a:solidFill>
                  <a:srgbClr val="C9D3DF"/>
                </a:solidFill>
                <a:latin typeface="Source Sans 3" pitchFamily="34" charset="0"/>
                <a:ea typeface="Source Sans 3" pitchFamily="34" charset="-122"/>
                <a:cs typeface="Source Sans 3" pitchFamily="34" charset="-120"/>
              </a:rPr>
              <a:t>ask the Copilot, answered with the source</a:t>
            </a:r>
            <a:endParaRPr lang="en-US" sz="1100" dirty="0"/>
          </a:p>
          <a:p>
            <a:pPr indent="0" marL="0">
              <a:buNone/>
            </a:pPr>
            <a:r>
              <a:rPr lang="en-US" sz="1100" b="1" dirty="0">
                <a:solidFill>
                  <a:srgbClr val="DEA54A"/>
                </a:solidFill>
                <a:latin typeface="Source Sans 3" pitchFamily="34" charset="0"/>
                <a:ea typeface="Source Sans 3" pitchFamily="34" charset="-122"/>
                <a:cs typeface="Source Sans 3" pitchFamily="34" charset="-120"/>
              </a:rPr>
              <a:t>Looks wrong?  </a:t>
            </a:r>
            <a:pPr indent="0" marL="0">
              <a:buNone/>
            </a:pPr>
            <a:r>
              <a:rPr lang="en-US" sz="1100" dirty="0">
                <a:solidFill>
                  <a:srgbClr val="C9D3DF"/>
                </a:solidFill>
                <a:latin typeface="Source Sans 3" pitchFamily="34" charset="0"/>
                <a:ea typeface="Source Sans 3" pitchFamily="34" charset="-122"/>
                <a:cs typeface="Source Sans 3" pitchFamily="34" charset="-120"/>
              </a:rPr>
              <a:t>one flag, and the whole team sees it</a:t>
            </a:r>
            <a:endParaRPr lang="en-US" sz="1100" dirty="0"/>
          </a:p>
        </p:txBody>
      </p:sp>
      <p:sp>
        <p:nvSpPr>
          <p:cNvPr id="40" name="Shape 38"/>
          <p:cNvSpPr/>
          <p:nvPr/>
        </p:nvSpPr>
        <p:spPr>
          <a:xfrm>
            <a:off x="548640" y="5413248"/>
            <a:ext cx="54864" cy="749808"/>
          </a:xfrm>
          <a:prstGeom prst="rect">
            <a:avLst/>
          </a:prstGeom>
          <a:solidFill>
            <a:srgbClr val="B9781A"/>
          </a:solidFill>
          <a:ln/>
        </p:spPr>
      </p:sp>
      <p:sp>
        <p:nvSpPr>
          <p:cNvPr id="41" name="Text 39"/>
          <p:cNvSpPr/>
          <p:nvPr/>
        </p:nvSpPr>
        <p:spPr>
          <a:xfrm>
            <a:off x="713232" y="5376672"/>
            <a:ext cx="3429000" cy="841248"/>
          </a:xfrm>
          <a:prstGeom prst="rect">
            <a:avLst/>
          </a:prstGeom>
          <a:noFill/>
          <a:ln/>
        </p:spPr>
        <p:txBody>
          <a:bodyPr wrap="square" lIns="0" tIns="0" rIns="0" bIns="0" rtlCol="0" anchor="t"/>
          <a:lstStyle/>
          <a:p>
            <a:pPr indent="0" marL="0">
              <a:buNone/>
            </a:pPr>
            <a:r>
              <a:rPr lang="en-US" sz="1300" b="1" dirty="0">
                <a:solidFill>
                  <a:srgbClr val="0F1A2A"/>
                </a:solidFill>
                <a:latin typeface="Source Sans 3" pitchFamily="34" charset="0"/>
                <a:ea typeface="Source Sans 3" pitchFamily="34" charset="-122"/>
                <a:cs typeface="Source Sans 3" pitchFamily="34" charset="-120"/>
              </a:rPr>
              <a:t>Ask, don't email</a:t>
            </a:r>
            <a:endParaRPr lang="en-US" sz="1300" dirty="0"/>
          </a:p>
          <a:p>
            <a:pPr indent="0" marL="0">
              <a:buNone/>
            </a:pPr>
            <a:r>
              <a:rPr lang="en-US" sz="1100" dirty="0">
                <a:solidFill>
                  <a:srgbClr val="42506A"/>
                </a:solidFill>
                <a:latin typeface="Source Sans 3" pitchFamily="34" charset="0"/>
                <a:ea typeface="Source Sans 3" pitchFamily="34" charset="-122"/>
                <a:cs typeface="Source Sans 3" pitchFamily="34" charset="-120"/>
              </a:rPr>
              <a:t>Anyone asks the Copilot directly and gets the table, the chart and the report behind it. No request queue.</a:t>
            </a:r>
            <a:endParaRPr lang="en-US" sz="1300" dirty="0"/>
          </a:p>
        </p:txBody>
      </p:sp>
      <p:sp>
        <p:nvSpPr>
          <p:cNvPr id="42" name="Shape 40"/>
          <p:cNvSpPr/>
          <p:nvPr/>
        </p:nvSpPr>
        <p:spPr>
          <a:xfrm>
            <a:off x="4297680" y="5413248"/>
            <a:ext cx="54864" cy="749808"/>
          </a:xfrm>
          <a:prstGeom prst="rect">
            <a:avLst/>
          </a:prstGeom>
          <a:solidFill>
            <a:srgbClr val="B9781A"/>
          </a:solidFill>
          <a:ln/>
        </p:spPr>
      </p:sp>
      <p:sp>
        <p:nvSpPr>
          <p:cNvPr id="43" name="Text 41"/>
          <p:cNvSpPr/>
          <p:nvPr/>
        </p:nvSpPr>
        <p:spPr>
          <a:xfrm>
            <a:off x="4462272" y="5376672"/>
            <a:ext cx="3429000" cy="841248"/>
          </a:xfrm>
          <a:prstGeom prst="rect">
            <a:avLst/>
          </a:prstGeom>
          <a:noFill/>
          <a:ln/>
        </p:spPr>
        <p:txBody>
          <a:bodyPr wrap="square" lIns="0" tIns="0" rIns="0" bIns="0" rtlCol="0" anchor="t"/>
          <a:lstStyle/>
          <a:p>
            <a:pPr indent="0" marL="0">
              <a:buNone/>
            </a:pPr>
            <a:r>
              <a:rPr lang="en-US" sz="1300" b="1" dirty="0">
                <a:solidFill>
                  <a:srgbClr val="0F1A2A"/>
                </a:solidFill>
                <a:latin typeface="Source Sans 3" pitchFamily="34" charset="0"/>
                <a:ea typeface="Source Sans 3" pitchFamily="34" charset="-122"/>
                <a:cs typeface="Source Sans 3" pitchFamily="34" charset="-120"/>
              </a:rPr>
              <a:t>Context never drops</a:t>
            </a:r>
            <a:endParaRPr lang="en-US" sz="1300" dirty="0"/>
          </a:p>
          <a:p>
            <a:pPr indent="0" marL="0">
              <a:buNone/>
            </a:pPr>
            <a:r>
              <a:rPr lang="en-US" sz="1100" dirty="0">
                <a:solidFill>
                  <a:srgbClr val="42506A"/>
                </a:solidFill>
                <a:latin typeface="Source Sans 3" pitchFamily="34" charset="0"/>
                <a:ea typeface="Source Sans 3" pitchFamily="34" charset="-122"/>
                <a:cs typeface="Source Sans 3" pitchFamily="34" charset="-120"/>
              </a:rPr>
              <a:t>Publisher, period and definition stay attached to every figure, wherever it is shown or exported.</a:t>
            </a:r>
            <a:endParaRPr lang="en-US" sz="1300" dirty="0"/>
          </a:p>
        </p:txBody>
      </p:sp>
      <p:sp>
        <p:nvSpPr>
          <p:cNvPr id="44" name="Shape 42"/>
          <p:cNvSpPr/>
          <p:nvPr/>
        </p:nvSpPr>
        <p:spPr>
          <a:xfrm>
            <a:off x="8046720" y="5413248"/>
            <a:ext cx="54864" cy="749808"/>
          </a:xfrm>
          <a:prstGeom prst="rect">
            <a:avLst/>
          </a:prstGeom>
          <a:solidFill>
            <a:srgbClr val="B9781A"/>
          </a:solidFill>
          <a:ln/>
        </p:spPr>
      </p:sp>
      <p:sp>
        <p:nvSpPr>
          <p:cNvPr id="45" name="Text 43"/>
          <p:cNvSpPr/>
          <p:nvPr/>
        </p:nvSpPr>
        <p:spPr>
          <a:xfrm>
            <a:off x="8211312" y="5376672"/>
            <a:ext cx="3429000" cy="841248"/>
          </a:xfrm>
          <a:prstGeom prst="rect">
            <a:avLst/>
          </a:prstGeom>
          <a:noFill/>
          <a:ln/>
        </p:spPr>
        <p:txBody>
          <a:bodyPr wrap="square" lIns="0" tIns="0" rIns="0" bIns="0" rtlCol="0" anchor="t"/>
          <a:lstStyle/>
          <a:p>
            <a:pPr indent="0" marL="0">
              <a:buNone/>
            </a:pPr>
            <a:r>
              <a:rPr lang="en-US" sz="1300" b="1" dirty="0">
                <a:solidFill>
                  <a:srgbClr val="0F1A2A"/>
                </a:solidFill>
                <a:latin typeface="Source Sans 3" pitchFamily="34" charset="0"/>
                <a:ea typeface="Source Sans 3" pitchFamily="34" charset="-122"/>
                <a:cs typeface="Source Sans 3" pitchFamily="34" charset="-120"/>
              </a:rPr>
              <a:t>One catch reaches everyone</a:t>
            </a:r>
            <a:endParaRPr lang="en-US" sz="1300" dirty="0"/>
          </a:p>
          <a:p>
            <a:pPr indent="0" marL="0">
              <a:buNone/>
            </a:pPr>
            <a:r>
              <a:rPr lang="en-US" sz="1100" dirty="0">
                <a:solidFill>
                  <a:srgbClr val="42506A"/>
                </a:solidFill>
                <a:latin typeface="Source Sans 3" pitchFamily="34" charset="0"/>
                <a:ea typeface="Source Sans 3" pitchFamily="34" charset="-122"/>
                <a:cs typeface="Source Sans 3" pitchFamily="34" charset="-120"/>
              </a:rPr>
              <a:t>A tip, a flag or an upload by one colleague is visible to the whole team at once, with their name.</a:t>
            </a:r>
            <a:endParaRPr lang="en-US" sz="1300" dirty="0"/>
          </a:p>
        </p:txBody>
      </p:sp>
      <p:sp>
        <p:nvSpPr>
          <p:cNvPr id="25" name="Slide Number Placeholder 0"/>
          <p:cNvSpPr>
            <a:spLocks noGrp="1"/>
          </p:cNvSpPr>
          <p:nvPr>
            <p:ph type="sldNum" sz="quarter" idx="4294967295"/>
          </p:nvPr>
        </p:nvSpPr>
        <p:spPr>
          <a:xfrm>
            <a:off x="11274552" y="6391656"/>
            <a:ext cx="365760" cy="237744"/>
          </a:xfrm>
          <a:prstGeom prst="rect">
            <a:avLst/>
          </a:prstGeom>
          <a:extLst>
            <a:ext uri="{C572A759-6A51-4108-AA02-DFA0A04FC94B}">
              <ma14:wrappingTextBoxFlag xmlns:ma14="http://schemas.microsoft.com/office/mac/drawingml/2011/main" val="0"/>
            </a:ext>
          </a:extLst>
        </p:spPr>
        <p:txBody>
          <a:bodyPr/>
          <a:lstStyle>
            <a:lvl1pPr>
              <a:defRPr sz="950">
                <a:solidFill>
                  <a:srgbClr val="6B7A90"/>
                </a:solidFill>
                <a:latin typeface="IBM Plex Mono"/>
                <a:ea typeface="IBM Plex Mono"/>
                <a:cs typeface="IBM Plex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p:nvPr/>
        </p:nvSpPr>
        <p:spPr>
          <a:xfrm>
            <a:off x="548640" y="384048"/>
            <a:ext cx="8229600" cy="274320"/>
          </a:xfrm>
          <a:prstGeom prst="rect">
            <a:avLst/>
          </a:prstGeom>
          <a:noFill/>
          <a:ln/>
        </p:spPr>
        <p:txBody>
          <a:bodyPr wrap="square" lIns="0" tIns="0" rIns="0" bIns="0" rtlCol="0" anchor="ctr"/>
          <a:lstStyle/>
          <a:p>
            <a:pPr indent="0" marL="0">
              <a:buNone/>
            </a:pPr>
            <a:r>
              <a:rPr lang="en-US" sz="1100" b="1" spc="120" kern="0" dirty="0">
                <a:solidFill>
                  <a:srgbClr val="B9781A"/>
                </a:solidFill>
                <a:latin typeface="Source Sans 3" pitchFamily="34" charset="0"/>
                <a:ea typeface="Source Sans 3" pitchFamily="34" charset="-122"/>
                <a:cs typeface="Source Sans 3" pitchFamily="34" charset="-120"/>
              </a:rPr>
              <a:t>HOW THE TEAM USES IT</a:t>
            </a:r>
            <a:endParaRPr lang="en-US" sz="1100" dirty="0"/>
          </a:p>
        </p:txBody>
      </p:sp>
      <p:sp>
        <p:nvSpPr>
          <p:cNvPr id="3" name="title"/>
          <p:cNvSpPr/>
          <p:nvPr/>
        </p:nvSpPr>
        <p:spPr>
          <a:xfrm>
            <a:off x="548640" y="658368"/>
            <a:ext cx="11064240" cy="658368"/>
          </a:xfrm>
          <a:prstGeom prst="rect">
            <a:avLst/>
          </a:prstGeom>
          <a:noFill/>
          <a:ln/>
        </p:spPr>
        <p:txBody>
          <a:bodyPr wrap="square" lIns="0" tIns="0" rIns="0" bIns="0" rtlCol="0" anchor="ctr"/>
          <a:lstStyle/>
          <a:p>
            <a:pPr indent="0" marL="0">
              <a:buNone/>
            </a:pPr>
            <a:r>
              <a:rPr lang="en-US" sz="3100" b="1" dirty="0">
                <a:solidFill>
                  <a:srgbClr val="0F1A2A"/>
                </a:solidFill>
                <a:latin typeface="Archivo" pitchFamily="34" charset="0"/>
                <a:ea typeface="Archivo" pitchFamily="34" charset="-122"/>
                <a:cs typeface="Archivo" pitchFamily="34" charset="-120"/>
              </a:rPr>
              <a:t>One shared workspace, three jobs</a:t>
            </a:r>
            <a:endParaRPr lang="en-US" sz="3100" dirty="0"/>
          </a:p>
        </p:txBody>
      </p:sp>
      <p:sp>
        <p:nvSpPr>
          <p:cNvPr id="4" name="subtitle"/>
          <p:cNvSpPr/>
          <p:nvPr/>
        </p:nvSpPr>
        <p:spPr>
          <a:xfrm>
            <a:off x="548640" y="1316736"/>
            <a:ext cx="11064240" cy="384048"/>
          </a:xfrm>
          <a:prstGeom prst="rect">
            <a:avLst/>
          </a:prstGeom>
          <a:noFill/>
          <a:ln/>
        </p:spPr>
        <p:txBody>
          <a:bodyPr wrap="square" lIns="0" tIns="0" rIns="0" bIns="0" rtlCol="0" anchor="ctr"/>
          <a:lstStyle/>
          <a:p>
            <a:pPr indent="0" marL="0">
              <a:buNone/>
            </a:pPr>
            <a:r>
              <a:rPr lang="en-US" sz="1500" dirty="0">
                <a:solidFill>
                  <a:srgbClr val="42506A"/>
                </a:solidFill>
                <a:latin typeface="Source Sans 3" pitchFamily="34" charset="0"/>
                <a:ea typeface="Source Sans 3" pitchFamily="34" charset="-122"/>
                <a:cs typeface="Source Sans 3" pitchFamily="34" charset="-120"/>
              </a:rPr>
              <a:t>No roles to choose. Everyone sees the same market; each person can set their own focus in one sentence.</a:t>
            </a:r>
            <a:endParaRPr lang="en-US" sz="1500" dirty="0"/>
          </a:p>
        </p:txBody>
      </p:sp>
      <p:pic>
        <p:nvPicPr>
          <p:cNvPr id="5" name="Monitor screenshot" descr="/tmp/claude-0/-home-user-nanfengtest/494dfdc6-8cf5-5478-905d-79a5906d19d6/scratchpad/deck/assets/f-monitor.png">    </p:cNvPr>
          <p:cNvPicPr>
            <a:picLocks noChangeAspect="1"/>
          </p:cNvPicPr>
          <p:nvPr/>
        </p:nvPicPr>
        <p:blipFill>
          <a:blip r:embed="rId1"/>
          <a:stretch>
            <a:fillRect/>
          </a:stretch>
        </p:blipFill>
        <p:spPr>
          <a:xfrm>
            <a:off x="371246" y="1761134"/>
            <a:ext cx="3902659" cy="2958834"/>
          </a:xfrm>
          <a:prstGeom prst="rect">
            <a:avLst/>
          </a:prstGeom>
        </p:spPr>
      </p:pic>
      <p:sp>
        <p:nvSpPr>
          <p:cNvPr id="6" name="Monitor title"/>
          <p:cNvSpPr/>
          <p:nvPr/>
        </p:nvSpPr>
        <p:spPr>
          <a:xfrm>
            <a:off x="548640" y="4714520"/>
            <a:ext cx="3547872" cy="347472"/>
          </a:xfrm>
          <a:prstGeom prst="rect">
            <a:avLst/>
          </a:prstGeom>
          <a:noFill/>
          <a:ln/>
        </p:spPr>
        <p:txBody>
          <a:bodyPr wrap="square" lIns="0" tIns="0" rIns="0" bIns="0" rtlCol="0" anchor="ctr"/>
          <a:lstStyle/>
          <a:p>
            <a:pPr indent="0" marL="0">
              <a:buNone/>
            </a:pPr>
            <a:r>
              <a:rPr lang="en-US" sz="1050" b="1" spc="150" kern="0" dirty="0">
                <a:solidFill>
                  <a:srgbClr val="B9781A"/>
                </a:solidFill>
                <a:latin typeface="Source Sans 3" pitchFamily="34" charset="0"/>
                <a:ea typeface="Source Sans 3" pitchFamily="34" charset="-122"/>
                <a:cs typeface="Source Sans 3" pitchFamily="34" charset="-120"/>
              </a:rPr>
              <a:t>MONITOR  </a:t>
            </a:r>
            <a:pPr indent="0" marL="0">
              <a:buNone/>
            </a:pPr>
            <a:r>
              <a:rPr lang="en-US" sz="1700" b="1" dirty="0">
                <a:solidFill>
                  <a:srgbClr val="0F1A2A"/>
                </a:solidFill>
                <a:latin typeface="Archivo" pitchFamily="34" charset="0"/>
                <a:ea typeface="Archivo" pitchFamily="34" charset="-122"/>
                <a:cs typeface="Archivo" pitchFamily="34" charset="-120"/>
              </a:rPr>
              <a:t>Stay ahead</a:t>
            </a:r>
            <a:endParaRPr lang="en-US" sz="1050" dirty="0"/>
          </a:p>
        </p:txBody>
      </p:sp>
      <p:sp>
        <p:nvSpPr>
          <p:cNvPr id="7" name="Text 4"/>
          <p:cNvSpPr/>
          <p:nvPr/>
        </p:nvSpPr>
        <p:spPr>
          <a:xfrm>
            <a:off x="548640" y="5098568"/>
            <a:ext cx="3547872" cy="768096"/>
          </a:xfrm>
          <a:prstGeom prst="rect">
            <a:avLst/>
          </a:prstGeom>
          <a:noFill/>
          <a:ln/>
        </p:spPr>
        <p:txBody>
          <a:bodyPr wrap="square" lIns="0" tIns="0" rIns="0" bIns="0" rtlCol="0" anchor="t"/>
          <a:lstStyle/>
          <a:p>
            <a:pPr indent="0" marL="0">
              <a:buNone/>
            </a:pPr>
            <a:r>
              <a:rPr lang="en-US" sz="1250" dirty="0">
                <a:solidFill>
                  <a:srgbClr val="42506A"/>
                </a:solidFill>
                <a:latin typeface="Source Sans 3" pitchFamily="34" charset="0"/>
                <a:ea typeface="Source Sans 3" pitchFamily="34" charset="-122"/>
                <a:cs typeface="Source Sans 3" pitchFamily="34" charset="-120"/>
              </a:rPr>
              <a:t>The week in two sentences, then the five signals worth a look, each with its source. Alerts in plain English.</a:t>
            </a:r>
            <a:endParaRPr lang="en-US" sz="1250" dirty="0"/>
          </a:p>
        </p:txBody>
      </p:sp>
      <p:sp>
        <p:nvSpPr>
          <p:cNvPr id="8" name="Text 5"/>
          <p:cNvSpPr/>
          <p:nvPr/>
        </p:nvSpPr>
        <p:spPr>
          <a:xfrm>
            <a:off x="548640" y="5884952"/>
            <a:ext cx="3547872" cy="365760"/>
          </a:xfrm>
          <a:prstGeom prst="rect">
            <a:avLst/>
          </a:prstGeom>
          <a:noFill/>
          <a:ln/>
        </p:spPr>
        <p:txBody>
          <a:bodyPr wrap="square" lIns="0" tIns="0" rIns="0" bIns="0" rtlCol="0" anchor="t"/>
          <a:lstStyle/>
          <a:p>
            <a:pPr indent="0" marL="0">
              <a:buNone/>
            </a:pPr>
            <a:r>
              <a:rPr lang="en-US" sz="1150" i="1" dirty="0">
                <a:solidFill>
                  <a:srgbClr val="6B7A90"/>
                </a:solidFill>
                <a:latin typeface="Source Sans 3" pitchFamily="34" charset="0"/>
                <a:ea typeface="Source Sans 3" pitchFamily="34" charset="-122"/>
                <a:cs typeface="Source Sans 3" pitchFamily="34" charset="-120"/>
              </a:rPr>
              <a:t>Head of fund reads it in three minutes on Monday.</a:t>
            </a:r>
            <a:endParaRPr lang="en-US" sz="1150" dirty="0"/>
          </a:p>
        </p:txBody>
      </p:sp>
      <p:pic>
        <p:nvPicPr>
          <p:cNvPr id="9" name="Copilot screenshot" descr="/tmp/claude-0/-home-user-nanfengtest/494dfdc6-8cf5-5478-905d-79a5906d19d6/scratchpad/deck/assets/f-copilot.png">    </p:cNvPr>
          <p:cNvPicPr>
            <a:picLocks noChangeAspect="1"/>
          </p:cNvPicPr>
          <p:nvPr/>
        </p:nvPicPr>
        <p:blipFill>
          <a:blip r:embed="rId2"/>
          <a:stretch>
            <a:fillRect/>
          </a:stretch>
        </p:blipFill>
        <p:spPr>
          <a:xfrm>
            <a:off x="4129430" y="1761134"/>
            <a:ext cx="3902659" cy="2950473"/>
          </a:xfrm>
          <a:prstGeom prst="rect">
            <a:avLst/>
          </a:prstGeom>
        </p:spPr>
      </p:pic>
      <p:sp>
        <p:nvSpPr>
          <p:cNvPr id="10" name="Copilot title"/>
          <p:cNvSpPr/>
          <p:nvPr/>
        </p:nvSpPr>
        <p:spPr>
          <a:xfrm>
            <a:off x="4306824" y="4714520"/>
            <a:ext cx="3547872" cy="347472"/>
          </a:xfrm>
          <a:prstGeom prst="rect">
            <a:avLst/>
          </a:prstGeom>
          <a:noFill/>
          <a:ln/>
        </p:spPr>
        <p:txBody>
          <a:bodyPr wrap="square" lIns="0" tIns="0" rIns="0" bIns="0" rtlCol="0" anchor="ctr"/>
          <a:lstStyle/>
          <a:p>
            <a:pPr indent="0" marL="0">
              <a:buNone/>
            </a:pPr>
            <a:r>
              <a:rPr lang="en-US" sz="1050" b="1" spc="150" kern="0" dirty="0">
                <a:solidFill>
                  <a:srgbClr val="B9781A"/>
                </a:solidFill>
                <a:latin typeface="Source Sans 3" pitchFamily="34" charset="0"/>
                <a:ea typeface="Source Sans 3" pitchFamily="34" charset="-122"/>
                <a:cs typeface="Source Sans 3" pitchFamily="34" charset="-120"/>
              </a:rPr>
              <a:t>COPILOT  </a:t>
            </a:r>
            <a:pPr indent="0" marL="0">
              <a:buNone/>
            </a:pPr>
            <a:r>
              <a:rPr lang="en-US" sz="1700" b="1" dirty="0">
                <a:solidFill>
                  <a:srgbClr val="0F1A2A"/>
                </a:solidFill>
                <a:latin typeface="Archivo" pitchFamily="34" charset="0"/>
                <a:ea typeface="Archivo" pitchFamily="34" charset="-122"/>
                <a:cs typeface="Archivo" pitchFamily="34" charset="-120"/>
              </a:rPr>
              <a:t>Decide</a:t>
            </a:r>
            <a:endParaRPr lang="en-US" sz="1050" dirty="0"/>
          </a:p>
        </p:txBody>
      </p:sp>
      <p:sp>
        <p:nvSpPr>
          <p:cNvPr id="11" name="Text 7"/>
          <p:cNvSpPr/>
          <p:nvPr/>
        </p:nvSpPr>
        <p:spPr>
          <a:xfrm>
            <a:off x="4306824" y="5098568"/>
            <a:ext cx="3547872" cy="768096"/>
          </a:xfrm>
          <a:prstGeom prst="rect">
            <a:avLst/>
          </a:prstGeom>
          <a:noFill/>
          <a:ln/>
        </p:spPr>
        <p:txBody>
          <a:bodyPr wrap="square" lIns="0" tIns="0" rIns="0" bIns="0" rtlCol="0" anchor="t"/>
          <a:lstStyle/>
          <a:p>
            <a:pPr indent="0" marL="0">
              <a:buNone/>
            </a:pPr>
            <a:r>
              <a:rPr lang="en-US" sz="1250" dirty="0">
                <a:solidFill>
                  <a:srgbClr val="42506A"/>
                </a:solidFill>
                <a:latin typeface="Source Sans 3" pitchFamily="34" charset="0"/>
                <a:ea typeface="Source Sans 3" pitchFamily="34" charset="-122"/>
                <a:cs typeface="Source Sans 3" pitchFamily="34" charset="-120"/>
              </a:rPr>
              <a:t>Ask from any page. Answers come with tables, charts and the report behind every number.</a:t>
            </a:r>
            <a:endParaRPr lang="en-US" sz="1250" dirty="0"/>
          </a:p>
        </p:txBody>
      </p:sp>
      <p:sp>
        <p:nvSpPr>
          <p:cNvPr id="12" name="Text 8"/>
          <p:cNvSpPr/>
          <p:nvPr/>
        </p:nvSpPr>
        <p:spPr>
          <a:xfrm>
            <a:off x="4306824" y="5884952"/>
            <a:ext cx="3547872" cy="365760"/>
          </a:xfrm>
          <a:prstGeom prst="rect">
            <a:avLst/>
          </a:prstGeom>
          <a:noFill/>
          <a:ln/>
        </p:spPr>
        <p:txBody>
          <a:bodyPr wrap="square" lIns="0" tIns="0" rIns="0" bIns="0" rtlCol="0" anchor="t"/>
          <a:lstStyle/>
          <a:p>
            <a:pPr indent="0" marL="0">
              <a:buNone/>
            </a:pPr>
            <a:r>
              <a:rPr lang="en-US" sz="1150" i="1" dirty="0">
                <a:solidFill>
                  <a:srgbClr val="6B7A90"/>
                </a:solidFill>
                <a:latin typeface="Source Sans 3" pitchFamily="34" charset="0"/>
                <a:ea typeface="Source Sans 3" pitchFamily="34" charset="-122"/>
                <a:cs typeface="Source Sans 3" pitchFamily="34" charset="-120"/>
              </a:rPr>
              <a:t>Acquisitions compares Midtown and the City before an IC meeting.</a:t>
            </a:r>
            <a:endParaRPr lang="en-US" sz="1150" dirty="0"/>
          </a:p>
        </p:txBody>
      </p:sp>
      <p:pic>
        <p:nvPicPr>
          <p:cNvPr id="13" name="Team brief screenshot" descr="/tmp/claude-0/-home-user-nanfengtest/494dfdc6-8cf5-5478-905d-79a5906d19d6/scratchpad/deck/assets/f-brief.png">    </p:cNvPr>
          <p:cNvPicPr>
            <a:picLocks noChangeAspect="1"/>
          </p:cNvPicPr>
          <p:nvPr/>
        </p:nvPicPr>
        <p:blipFill>
          <a:blip r:embed="rId3"/>
          <a:stretch>
            <a:fillRect/>
          </a:stretch>
        </p:blipFill>
        <p:spPr>
          <a:xfrm>
            <a:off x="7887614" y="1761134"/>
            <a:ext cx="3902659" cy="2951386"/>
          </a:xfrm>
          <a:prstGeom prst="rect">
            <a:avLst/>
          </a:prstGeom>
        </p:spPr>
      </p:pic>
      <p:sp>
        <p:nvSpPr>
          <p:cNvPr id="14" name="Team brief title"/>
          <p:cNvSpPr/>
          <p:nvPr/>
        </p:nvSpPr>
        <p:spPr>
          <a:xfrm>
            <a:off x="8065008" y="4714520"/>
            <a:ext cx="3547872" cy="347472"/>
          </a:xfrm>
          <a:prstGeom prst="rect">
            <a:avLst/>
          </a:prstGeom>
          <a:noFill/>
          <a:ln/>
        </p:spPr>
        <p:txBody>
          <a:bodyPr wrap="square" lIns="0" tIns="0" rIns="0" bIns="0" rtlCol="0" anchor="ctr"/>
          <a:lstStyle/>
          <a:p>
            <a:pPr indent="0" marL="0">
              <a:buNone/>
            </a:pPr>
            <a:r>
              <a:rPr lang="en-US" sz="1050" b="1" spc="150" kern="0" dirty="0">
                <a:solidFill>
                  <a:srgbClr val="B9781A"/>
                </a:solidFill>
                <a:latin typeface="Source Sans 3" pitchFamily="34" charset="0"/>
                <a:ea typeface="Source Sans 3" pitchFamily="34" charset="-122"/>
                <a:cs typeface="Source Sans 3" pitchFamily="34" charset="-120"/>
              </a:rPr>
              <a:t>TEAM BRIEF  </a:t>
            </a:r>
            <a:pPr indent="0" marL="0">
              <a:buNone/>
            </a:pPr>
            <a:r>
              <a:rPr lang="en-US" sz="1700" b="1" dirty="0">
                <a:solidFill>
                  <a:srgbClr val="0F1A2A"/>
                </a:solidFill>
                <a:latin typeface="Archivo" pitchFamily="34" charset="0"/>
                <a:ea typeface="Archivo" pitchFamily="34" charset="-122"/>
                <a:cs typeface="Archivo" pitchFamily="34" charset="-120"/>
              </a:rPr>
              <a:t>Report</a:t>
            </a:r>
            <a:endParaRPr lang="en-US" sz="1050" dirty="0"/>
          </a:p>
        </p:txBody>
      </p:sp>
      <p:sp>
        <p:nvSpPr>
          <p:cNvPr id="15" name="Text 10"/>
          <p:cNvSpPr/>
          <p:nvPr/>
        </p:nvSpPr>
        <p:spPr>
          <a:xfrm>
            <a:off x="8065008" y="5098568"/>
            <a:ext cx="3547872" cy="768096"/>
          </a:xfrm>
          <a:prstGeom prst="rect">
            <a:avLst/>
          </a:prstGeom>
          <a:noFill/>
          <a:ln/>
        </p:spPr>
        <p:txBody>
          <a:bodyPr wrap="square" lIns="0" tIns="0" rIns="0" bIns="0" rtlCol="0" anchor="t"/>
          <a:lstStyle/>
          <a:p>
            <a:pPr indent="0" marL="0">
              <a:buNone/>
            </a:pPr>
            <a:r>
              <a:rPr lang="en-US" sz="1250" dirty="0">
                <a:solidFill>
                  <a:srgbClr val="42506A"/>
                </a:solidFill>
                <a:latin typeface="Source Sans 3" pitchFamily="34" charset="0"/>
                <a:ea typeface="Source Sans 3" pitchFamily="34" charset="-122"/>
                <a:cs typeface="Source Sans 3" pitchFamily="34" charset="-120"/>
              </a:rPr>
              <a:t>Anyone adds signals; one click writes a footnoted brief, a Word or PDF note, or slides.</a:t>
            </a:r>
            <a:endParaRPr lang="en-US" sz="1250" dirty="0"/>
          </a:p>
        </p:txBody>
      </p:sp>
      <p:sp>
        <p:nvSpPr>
          <p:cNvPr id="16" name="Text 11"/>
          <p:cNvSpPr/>
          <p:nvPr/>
        </p:nvSpPr>
        <p:spPr>
          <a:xfrm>
            <a:off x="8065008" y="5884952"/>
            <a:ext cx="3547872" cy="365760"/>
          </a:xfrm>
          <a:prstGeom prst="rect">
            <a:avLst/>
          </a:prstGeom>
          <a:noFill/>
          <a:ln/>
        </p:spPr>
        <p:txBody>
          <a:bodyPr wrap="square" lIns="0" tIns="0" rIns="0" bIns="0" rtlCol="0" anchor="t"/>
          <a:lstStyle/>
          <a:p>
            <a:pPr indent="0" marL="0">
              <a:buNone/>
            </a:pPr>
            <a:r>
              <a:rPr lang="en-US" sz="1150" i="1" dirty="0">
                <a:solidFill>
                  <a:srgbClr val="6B7A90"/>
                </a:solidFill>
                <a:latin typeface="Source Sans 3" pitchFamily="34" charset="0"/>
                <a:ea typeface="Source Sans 3" pitchFamily="34" charset="-122"/>
                <a:cs typeface="Source Sans 3" pitchFamily="34" charset="-120"/>
              </a:rPr>
              <a:t>Asset management sends the same brief to the board and the IC.</a:t>
            </a:r>
            <a:endParaRPr lang="en-US" sz="1150" dirty="0"/>
          </a:p>
        </p:txBody>
      </p:sp>
      <p:sp>
        <p:nvSpPr>
          <p:cNvPr id="25" name="Slide Number Placeholder 0"/>
          <p:cNvSpPr>
            <a:spLocks noGrp="1"/>
          </p:cNvSpPr>
          <p:nvPr>
            <p:ph type="sldNum" sz="quarter" idx="4294967295"/>
          </p:nvPr>
        </p:nvSpPr>
        <p:spPr>
          <a:xfrm>
            <a:off x="11274552" y="6391656"/>
            <a:ext cx="365760" cy="237744"/>
          </a:xfrm>
          <a:prstGeom prst="rect">
            <a:avLst/>
          </a:prstGeom>
          <a:extLst>
            <a:ext uri="{C572A759-6A51-4108-AA02-DFA0A04FC94B}">
              <ma14:wrappingTextBoxFlag xmlns:ma14="http://schemas.microsoft.com/office/mac/drawingml/2011/main" val="0"/>
            </a:ext>
          </a:extLst>
        </p:spPr>
        <p:txBody>
          <a:bodyPr/>
          <a:lstStyle>
            <a:lvl1pPr>
              <a:defRPr sz="950">
                <a:solidFill>
                  <a:srgbClr val="6B7A90"/>
                </a:solidFill>
                <a:latin typeface="IBM Plex Mono"/>
                <a:ea typeface="IBM Plex Mono"/>
                <a:cs typeface="IBM Plex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p:nvPr/>
        </p:nvSpPr>
        <p:spPr>
          <a:xfrm>
            <a:off x="548640" y="384048"/>
            <a:ext cx="8229600" cy="274320"/>
          </a:xfrm>
          <a:prstGeom prst="rect">
            <a:avLst/>
          </a:prstGeom>
          <a:noFill/>
          <a:ln/>
        </p:spPr>
        <p:txBody>
          <a:bodyPr wrap="square" lIns="0" tIns="0" rIns="0" bIns="0" rtlCol="0" anchor="ctr"/>
          <a:lstStyle/>
          <a:p>
            <a:pPr indent="0" marL="0">
              <a:buNone/>
            </a:pPr>
            <a:r>
              <a:rPr lang="en-US" sz="1100" b="1" spc="120" kern="0" dirty="0">
                <a:solidFill>
                  <a:srgbClr val="B9781A"/>
                </a:solidFill>
                <a:latin typeface="Source Sans 3" pitchFamily="34" charset="0"/>
                <a:ea typeface="Source Sans 3" pitchFamily="34" charset="-122"/>
                <a:cs typeface="Source Sans 3" pitchFamily="34" charset="-120"/>
              </a:rPr>
              <a:t>NUMBERS YOU CAN PUT IN A BOARD PAPER</a:t>
            </a:r>
            <a:endParaRPr lang="en-US" sz="1100" dirty="0"/>
          </a:p>
        </p:txBody>
      </p:sp>
      <p:sp>
        <p:nvSpPr>
          <p:cNvPr id="3" name="title"/>
          <p:cNvSpPr/>
          <p:nvPr/>
        </p:nvSpPr>
        <p:spPr>
          <a:xfrm>
            <a:off x="548640" y="658368"/>
            <a:ext cx="11064240" cy="658368"/>
          </a:xfrm>
          <a:prstGeom prst="rect">
            <a:avLst/>
          </a:prstGeom>
          <a:noFill/>
          <a:ln/>
        </p:spPr>
        <p:txBody>
          <a:bodyPr wrap="square" lIns="0" tIns="0" rIns="0" bIns="0" rtlCol="0" anchor="ctr"/>
          <a:lstStyle/>
          <a:p>
            <a:pPr indent="0" marL="0">
              <a:buNone/>
            </a:pPr>
            <a:r>
              <a:rPr lang="en-US" sz="3100" b="1" dirty="0">
                <a:solidFill>
                  <a:srgbClr val="0F1A2A"/>
                </a:solidFill>
                <a:latin typeface="Archivo" pitchFamily="34" charset="0"/>
                <a:ea typeface="Archivo" pitchFamily="34" charset="-122"/>
                <a:cs typeface="Archivo" pitchFamily="34" charset="-120"/>
              </a:rPr>
              <a:t>Every number has a source and a check</a:t>
            </a:r>
            <a:endParaRPr lang="en-US" sz="3100" dirty="0"/>
          </a:p>
        </p:txBody>
      </p:sp>
      <p:sp>
        <p:nvSpPr>
          <p:cNvPr id="4" name="subtitle"/>
          <p:cNvSpPr/>
          <p:nvPr/>
        </p:nvSpPr>
        <p:spPr>
          <a:xfrm>
            <a:off x="548640" y="1316736"/>
            <a:ext cx="11064240" cy="384048"/>
          </a:xfrm>
          <a:prstGeom prst="rect">
            <a:avLst/>
          </a:prstGeom>
          <a:noFill/>
          <a:ln/>
        </p:spPr>
        <p:txBody>
          <a:bodyPr wrap="square" lIns="0" tIns="0" rIns="0" bIns="0" rtlCol="0" anchor="ctr"/>
          <a:lstStyle/>
          <a:p>
            <a:pPr indent="0" marL="0">
              <a:buNone/>
            </a:pPr>
            <a:r>
              <a:rPr lang="en-US" sz="1500" dirty="0">
                <a:solidFill>
                  <a:srgbClr val="42506A"/>
                </a:solidFill>
                <a:latin typeface="Source Sans 3" pitchFamily="34" charset="0"/>
                <a:ea typeface="Source Sans 3" pitchFamily="34" charset="-122"/>
                <a:cs typeface="Source Sans 3" pitchFamily="34" charset="-120"/>
              </a:rPr>
              <a:t>The agent never makes up a figure: numbers come only from the team's library, each with publisher, period and who added it.</a:t>
            </a:r>
            <a:endParaRPr lang="en-US" sz="1500" dirty="0"/>
          </a:p>
        </p:txBody>
      </p:sp>
      <p:sp>
        <p:nvSpPr>
          <p:cNvPr id="5" name="Text 3"/>
          <p:cNvSpPr/>
          <p:nvPr/>
        </p:nvSpPr>
        <p:spPr>
          <a:xfrm>
            <a:off x="548640" y="1920240"/>
            <a:ext cx="3840480" cy="256032"/>
          </a:xfrm>
          <a:prstGeom prst="rect">
            <a:avLst/>
          </a:prstGeom>
          <a:noFill/>
          <a:ln/>
        </p:spPr>
        <p:txBody>
          <a:bodyPr wrap="square" lIns="0" tIns="0" rIns="0" bIns="0" rtlCol="0" anchor="ctr"/>
          <a:lstStyle/>
          <a:p>
            <a:pPr indent="0" marL="0">
              <a:buNone/>
            </a:pPr>
            <a:r>
              <a:rPr lang="en-US" sz="1050" b="1" spc="150" kern="0" dirty="0">
                <a:solidFill>
                  <a:srgbClr val="6B7A90"/>
                </a:solidFill>
                <a:latin typeface="Source Sans 3" pitchFamily="34" charset="0"/>
                <a:ea typeface="Source Sans 3" pitchFamily="34" charset="-122"/>
                <a:cs typeface="Source Sans 3" pitchFamily="34" charset="-120"/>
              </a:rPr>
              <a:t>THREE KINDS OF SOURCE</a:t>
            </a:r>
            <a:endParaRPr lang="en-US" sz="1050" dirty="0"/>
          </a:p>
        </p:txBody>
      </p:sp>
      <p:sp>
        <p:nvSpPr>
          <p:cNvPr id="6" name="source tier 1"/>
          <p:cNvSpPr/>
          <p:nvPr/>
        </p:nvSpPr>
        <p:spPr>
          <a:xfrm>
            <a:off x="548640" y="2240280"/>
            <a:ext cx="3886200" cy="786384"/>
          </a:xfrm>
          <a:prstGeom prst="roundRect">
            <a:avLst>
              <a:gd name="adj" fmla="val 9302"/>
            </a:avLst>
          </a:prstGeom>
          <a:solidFill>
            <a:srgbClr val="E3F1E9"/>
          </a:solidFill>
          <a:ln/>
        </p:spPr>
      </p:sp>
      <p:sp>
        <p:nvSpPr>
          <p:cNvPr id="7" name="Shape 5"/>
          <p:cNvSpPr/>
          <p:nvPr/>
        </p:nvSpPr>
        <p:spPr>
          <a:xfrm>
            <a:off x="731520" y="2423160"/>
            <a:ext cx="146304" cy="146304"/>
          </a:xfrm>
          <a:prstGeom prst="ellipse">
            <a:avLst/>
          </a:prstGeom>
          <a:solidFill>
            <a:srgbClr val="2E7D55"/>
          </a:solidFill>
          <a:ln/>
        </p:spPr>
      </p:sp>
      <p:sp>
        <p:nvSpPr>
          <p:cNvPr id="8" name="Text 6"/>
          <p:cNvSpPr/>
          <p:nvPr/>
        </p:nvSpPr>
        <p:spPr>
          <a:xfrm>
            <a:off x="987552" y="2313432"/>
            <a:ext cx="3337560" cy="658368"/>
          </a:xfrm>
          <a:prstGeom prst="rect">
            <a:avLst/>
          </a:prstGeom>
          <a:noFill/>
          <a:ln/>
        </p:spPr>
        <p:txBody>
          <a:bodyPr wrap="square" lIns="0" tIns="0" rIns="0" bIns="0" rtlCol="0" anchor="t"/>
          <a:lstStyle/>
          <a:p>
            <a:pPr indent="0" marL="0">
              <a:buNone/>
            </a:pPr>
            <a:r>
              <a:rPr lang="en-US" sz="1250" b="1" dirty="0">
                <a:solidFill>
                  <a:srgbClr val="0F1A2A"/>
                </a:solidFill>
                <a:latin typeface="Source Sans 3" pitchFamily="34" charset="0"/>
                <a:ea typeface="Source Sans 3" pitchFamily="34" charset="-122"/>
                <a:cs typeface="Source Sans 3" pitchFamily="34" charset="-120"/>
              </a:rPr>
              <a:t>Open data, collected by itself</a:t>
            </a:r>
            <a:endParaRPr lang="en-US" sz="1250" dirty="0"/>
          </a:p>
          <a:p>
            <a:pPr indent="0" marL="0">
              <a:buNone/>
            </a:pPr>
            <a:r>
              <a:rPr lang="en-US" sz="1100" dirty="0">
                <a:solidFill>
                  <a:srgbClr val="42506A"/>
                </a:solidFill>
                <a:latin typeface="Source Sans 3" pitchFamily="34" charset="0"/>
                <a:ea typeface="Source Sans 3" pitchFamily="34" charset="-122"/>
                <a:cs typeface="Source Sans 3" pitchFamily="34" charset="-120"/>
              </a:rPr>
              <a:t>Bank of England rates and news feeds, every morning, because their licences allow it.</a:t>
            </a:r>
            <a:endParaRPr lang="en-US" sz="1250" dirty="0"/>
          </a:p>
        </p:txBody>
      </p:sp>
      <p:sp>
        <p:nvSpPr>
          <p:cNvPr id="9" name="source tier 2"/>
          <p:cNvSpPr/>
          <p:nvPr/>
        </p:nvSpPr>
        <p:spPr>
          <a:xfrm>
            <a:off x="548640" y="3136392"/>
            <a:ext cx="3886200" cy="786384"/>
          </a:xfrm>
          <a:prstGeom prst="roundRect">
            <a:avLst>
              <a:gd name="adj" fmla="val 9302"/>
            </a:avLst>
          </a:prstGeom>
          <a:solidFill>
            <a:srgbClr val="FBF1DE"/>
          </a:solidFill>
          <a:ln/>
        </p:spPr>
      </p:sp>
      <p:sp>
        <p:nvSpPr>
          <p:cNvPr id="10" name="Shape 8"/>
          <p:cNvSpPr/>
          <p:nvPr/>
        </p:nvSpPr>
        <p:spPr>
          <a:xfrm>
            <a:off x="731520" y="3319272"/>
            <a:ext cx="146304" cy="146304"/>
          </a:xfrm>
          <a:prstGeom prst="ellipse">
            <a:avLst/>
          </a:prstGeom>
          <a:solidFill>
            <a:srgbClr val="B9781A"/>
          </a:solidFill>
          <a:ln/>
        </p:spPr>
      </p:sp>
      <p:sp>
        <p:nvSpPr>
          <p:cNvPr id="11" name="Text 9"/>
          <p:cNvSpPr/>
          <p:nvPr/>
        </p:nvSpPr>
        <p:spPr>
          <a:xfrm>
            <a:off x="987552" y="3209544"/>
            <a:ext cx="3337560" cy="658368"/>
          </a:xfrm>
          <a:prstGeom prst="rect">
            <a:avLst/>
          </a:prstGeom>
          <a:noFill/>
          <a:ln/>
        </p:spPr>
        <p:txBody>
          <a:bodyPr wrap="square" lIns="0" tIns="0" rIns="0" bIns="0" rtlCol="0" anchor="t"/>
          <a:lstStyle/>
          <a:p>
            <a:pPr indent="0" marL="0">
              <a:buNone/>
            </a:pPr>
            <a:r>
              <a:rPr lang="en-US" sz="1250" b="1" dirty="0">
                <a:solidFill>
                  <a:srgbClr val="0F1A2A"/>
                </a:solidFill>
                <a:latin typeface="Source Sans 3" pitchFamily="34" charset="0"/>
                <a:ea typeface="Source Sans 3" pitchFamily="34" charset="-122"/>
                <a:cs typeface="Source Sans 3" pitchFamily="34" charset="-120"/>
              </a:rPr>
              <a:t>Agency reports, uploaded once</a:t>
            </a:r>
            <a:endParaRPr lang="en-US" sz="1250" dirty="0"/>
          </a:p>
          <a:p>
            <a:pPr indent="0" marL="0">
              <a:buNone/>
            </a:pPr>
            <a:r>
              <a:rPr lang="en-US" sz="1100" dirty="0">
                <a:solidFill>
                  <a:srgbClr val="42506A"/>
                </a:solidFill>
                <a:latin typeface="Source Sans 3" pitchFamily="34" charset="0"/>
                <a:ea typeface="Source Sans 3" pitchFamily="34" charset="-122"/>
                <a:cs typeface="Source Sans 3" pitchFamily="34" charset="-120"/>
              </a:rPr>
              <a:t>Knight Frank, Savills, BNP Paribas: their terms bar automatic collection, so any colleague uploads the PDF for everyone.</a:t>
            </a:r>
            <a:endParaRPr lang="en-US" sz="1250" dirty="0"/>
          </a:p>
        </p:txBody>
      </p:sp>
      <p:sp>
        <p:nvSpPr>
          <p:cNvPr id="12" name="source tier 3"/>
          <p:cNvSpPr/>
          <p:nvPr/>
        </p:nvSpPr>
        <p:spPr>
          <a:xfrm>
            <a:off x="548640" y="4032504"/>
            <a:ext cx="3886200" cy="786384"/>
          </a:xfrm>
          <a:prstGeom prst="roundRect">
            <a:avLst>
              <a:gd name="adj" fmla="val 9302"/>
            </a:avLst>
          </a:prstGeom>
          <a:solidFill>
            <a:srgbClr val="E4EDF9"/>
          </a:solidFill>
          <a:ln/>
        </p:spPr>
      </p:sp>
      <p:sp>
        <p:nvSpPr>
          <p:cNvPr id="13" name="Shape 11"/>
          <p:cNvSpPr/>
          <p:nvPr/>
        </p:nvSpPr>
        <p:spPr>
          <a:xfrm>
            <a:off x="731520" y="4215384"/>
            <a:ext cx="146304" cy="146304"/>
          </a:xfrm>
          <a:prstGeom prst="ellipse">
            <a:avLst/>
          </a:prstGeom>
          <a:solidFill>
            <a:srgbClr val="2F6FBF"/>
          </a:solidFill>
          <a:ln/>
        </p:spPr>
      </p:sp>
      <p:sp>
        <p:nvSpPr>
          <p:cNvPr id="14" name="Text 12"/>
          <p:cNvSpPr/>
          <p:nvPr/>
        </p:nvSpPr>
        <p:spPr>
          <a:xfrm>
            <a:off x="987552" y="4105656"/>
            <a:ext cx="3337560" cy="658368"/>
          </a:xfrm>
          <a:prstGeom prst="rect">
            <a:avLst/>
          </a:prstGeom>
          <a:noFill/>
          <a:ln/>
        </p:spPr>
        <p:txBody>
          <a:bodyPr wrap="square" lIns="0" tIns="0" rIns="0" bIns="0" rtlCol="0" anchor="t"/>
          <a:lstStyle/>
          <a:p>
            <a:pPr indent="0" marL="0">
              <a:buNone/>
            </a:pPr>
            <a:r>
              <a:rPr lang="en-US" sz="1250" b="1" dirty="0">
                <a:solidFill>
                  <a:srgbClr val="0F1A2A"/>
                </a:solidFill>
                <a:latin typeface="Source Sans 3" pitchFamily="34" charset="0"/>
                <a:ea typeface="Source Sans 3" pitchFamily="34" charset="-122"/>
                <a:cs typeface="Source Sans 3" pitchFamily="34" charset="-120"/>
              </a:rPr>
              <a:t>Our own deals, kept internal</a:t>
            </a:r>
            <a:endParaRPr lang="en-US" sz="1250" dirty="0"/>
          </a:p>
          <a:p>
            <a:pPr indent="0" marL="0">
              <a:buNone/>
            </a:pPr>
            <a:r>
              <a:rPr lang="en-US" sz="1100" dirty="0">
                <a:solidFill>
                  <a:srgbClr val="42506A"/>
                </a:solidFill>
                <a:latin typeface="Source Sans 3" pitchFamily="34" charset="0"/>
                <a:ea typeface="Source Sans 3" pitchFamily="34" charset="-122"/>
                <a:cs typeface="Source Sans 3" pitchFamily="34" charset="-120"/>
              </a:rPr>
              <a:t>Lettings and valuations we did, typed, photographed or uploaded; marked internal or quotable.</a:t>
            </a:r>
            <a:endParaRPr lang="en-US" sz="1250" dirty="0"/>
          </a:p>
        </p:txBody>
      </p:sp>
      <p:sp>
        <p:nvSpPr>
          <p:cNvPr id="15" name="Text 13"/>
          <p:cNvSpPr/>
          <p:nvPr/>
        </p:nvSpPr>
        <p:spPr>
          <a:xfrm>
            <a:off x="4754880" y="1920240"/>
            <a:ext cx="6858000" cy="256032"/>
          </a:xfrm>
          <a:prstGeom prst="rect">
            <a:avLst/>
          </a:prstGeom>
          <a:noFill/>
          <a:ln/>
        </p:spPr>
        <p:txBody>
          <a:bodyPr wrap="square" lIns="0" tIns="0" rIns="0" bIns="0" rtlCol="0" anchor="ctr"/>
          <a:lstStyle/>
          <a:p>
            <a:pPr indent="0" marL="0">
              <a:buNone/>
            </a:pPr>
            <a:r>
              <a:rPr lang="en-US" sz="1050" b="1" spc="150" kern="0" dirty="0">
                <a:solidFill>
                  <a:srgbClr val="6B7A90"/>
                </a:solidFill>
                <a:latin typeface="Source Sans 3" pitchFamily="34" charset="0"/>
                <a:ea typeface="Source Sans 3" pitchFamily="34" charset="-122"/>
                <a:cs typeface="Source Sans 3" pitchFamily="34" charset="-120"/>
              </a:rPr>
              <a:t>EVERY FIGURE READ FROM A REPORT PASSES THREE CHECKS</a:t>
            </a:r>
            <a:endParaRPr lang="en-US" sz="1050" dirty="0"/>
          </a:p>
        </p:txBody>
      </p:sp>
      <p:sp>
        <p:nvSpPr>
          <p:cNvPr id="16" name="Shape 14"/>
          <p:cNvSpPr/>
          <p:nvPr/>
        </p:nvSpPr>
        <p:spPr>
          <a:xfrm>
            <a:off x="4754880" y="2258568"/>
            <a:ext cx="384048" cy="384048"/>
          </a:xfrm>
          <a:prstGeom prst="ellipse">
            <a:avLst/>
          </a:prstGeom>
          <a:solidFill>
            <a:srgbClr val="1B3A5C"/>
          </a:solidFill>
          <a:ln/>
        </p:spPr>
      </p:sp>
      <p:sp>
        <p:nvSpPr>
          <p:cNvPr id="17" name="Text 15"/>
          <p:cNvSpPr/>
          <p:nvPr/>
        </p:nvSpPr>
        <p:spPr>
          <a:xfrm>
            <a:off x="4754880" y="2258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IBM Plex Mono" pitchFamily="34" charset="0"/>
                <a:ea typeface="IBM Plex Mono" pitchFamily="34" charset="-122"/>
                <a:cs typeface="IBM Plex Mono" pitchFamily="34" charset="-120"/>
              </a:rPr>
              <a:t>1</a:t>
            </a:r>
            <a:endParaRPr lang="en-US" sz="1300" dirty="0"/>
          </a:p>
        </p:txBody>
      </p:sp>
      <p:sp>
        <p:nvSpPr>
          <p:cNvPr id="18" name="Text 16"/>
          <p:cNvSpPr/>
          <p:nvPr/>
        </p:nvSpPr>
        <p:spPr>
          <a:xfrm>
            <a:off x="5230368" y="2212848"/>
            <a:ext cx="1737360" cy="822960"/>
          </a:xfrm>
          <a:prstGeom prst="rect">
            <a:avLst/>
          </a:prstGeom>
          <a:noFill/>
          <a:ln/>
        </p:spPr>
        <p:txBody>
          <a:bodyPr wrap="square" lIns="0" tIns="0" rIns="0" bIns="0" rtlCol="0" anchor="t"/>
          <a:lstStyle/>
          <a:p>
            <a:pPr indent="0" marL="0">
              <a:buNone/>
            </a:pPr>
            <a:r>
              <a:rPr lang="en-US" sz="1250" b="1" dirty="0">
                <a:solidFill>
                  <a:srgbClr val="0F1A2A"/>
                </a:solidFill>
                <a:latin typeface="Source Sans 3" pitchFamily="34" charset="0"/>
                <a:ea typeface="Source Sans 3" pitchFamily="34" charset="-122"/>
                <a:cs typeface="Source Sans 3" pitchFamily="34" charset="-120"/>
              </a:rPr>
              <a:t>In the page</a:t>
            </a:r>
            <a:endParaRPr lang="en-US" sz="1250" dirty="0"/>
          </a:p>
          <a:p>
            <a:pPr indent="0" marL="0">
              <a:buNone/>
            </a:pPr>
            <a:r>
              <a:rPr lang="en-US" sz="1100" dirty="0">
                <a:solidFill>
                  <a:srgbClr val="42506A"/>
                </a:solidFill>
                <a:latin typeface="Source Sans 3" pitchFamily="34" charset="0"/>
                <a:ea typeface="Source Sans 3" pitchFamily="34" charset="-122"/>
                <a:cs typeface="Source Sans 3" pitchFamily="34" charset="-120"/>
              </a:rPr>
              <a:t>The number must appear on the page it was read from.</a:t>
            </a:r>
            <a:endParaRPr lang="en-US" sz="1250" dirty="0"/>
          </a:p>
        </p:txBody>
      </p:sp>
      <p:sp>
        <p:nvSpPr>
          <p:cNvPr id="19" name="Shape 17"/>
          <p:cNvSpPr/>
          <p:nvPr/>
        </p:nvSpPr>
        <p:spPr>
          <a:xfrm>
            <a:off x="7068312" y="2258568"/>
            <a:ext cx="384048" cy="384048"/>
          </a:xfrm>
          <a:prstGeom prst="ellipse">
            <a:avLst/>
          </a:prstGeom>
          <a:solidFill>
            <a:srgbClr val="1B3A5C"/>
          </a:solidFill>
          <a:ln/>
        </p:spPr>
      </p:sp>
      <p:sp>
        <p:nvSpPr>
          <p:cNvPr id="20" name="Text 18"/>
          <p:cNvSpPr/>
          <p:nvPr/>
        </p:nvSpPr>
        <p:spPr>
          <a:xfrm>
            <a:off x="7068312" y="2258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IBM Plex Mono" pitchFamily="34" charset="0"/>
                <a:ea typeface="IBM Plex Mono" pitchFamily="34" charset="-122"/>
                <a:cs typeface="IBM Plex Mono" pitchFamily="34" charset="-120"/>
              </a:rPr>
              <a:t>2</a:t>
            </a:r>
            <a:endParaRPr lang="en-US" sz="1300" dirty="0"/>
          </a:p>
        </p:txBody>
      </p:sp>
      <p:sp>
        <p:nvSpPr>
          <p:cNvPr id="21" name="Text 19"/>
          <p:cNvSpPr/>
          <p:nvPr/>
        </p:nvSpPr>
        <p:spPr>
          <a:xfrm>
            <a:off x="7543800" y="2212848"/>
            <a:ext cx="1737360" cy="822960"/>
          </a:xfrm>
          <a:prstGeom prst="rect">
            <a:avLst/>
          </a:prstGeom>
          <a:noFill/>
          <a:ln/>
        </p:spPr>
        <p:txBody>
          <a:bodyPr wrap="square" lIns="0" tIns="0" rIns="0" bIns="0" rtlCol="0" anchor="t"/>
          <a:lstStyle/>
          <a:p>
            <a:pPr indent="0" marL="0">
              <a:buNone/>
            </a:pPr>
            <a:r>
              <a:rPr lang="en-US" sz="1250" b="1" dirty="0">
                <a:solidFill>
                  <a:srgbClr val="0F1A2A"/>
                </a:solidFill>
                <a:latin typeface="Source Sans 3" pitchFamily="34" charset="0"/>
                <a:ea typeface="Source Sans 3" pitchFamily="34" charset="-122"/>
                <a:cs typeface="Source Sans 3" pitchFamily="34" charset="-120"/>
              </a:rPr>
              <a:t>Plausible</a:t>
            </a:r>
            <a:endParaRPr lang="en-US" sz="1250" dirty="0"/>
          </a:p>
          <a:p>
            <a:pPr indent="0" marL="0">
              <a:buNone/>
            </a:pPr>
            <a:r>
              <a:rPr lang="en-US" sz="1100" dirty="0">
                <a:solidFill>
                  <a:srgbClr val="42506A"/>
                </a:solidFill>
                <a:latin typeface="Source Sans 3" pitchFamily="34" charset="0"/>
                <a:ea typeface="Source Sans 3" pitchFamily="34" charset="-122"/>
                <a:cs typeface="Source Sans 3" pitchFamily="34" charset="-120"/>
              </a:rPr>
              <a:t>Outside a sensible range for that measure? Flagged.</a:t>
            </a:r>
            <a:endParaRPr lang="en-US" sz="1250" dirty="0"/>
          </a:p>
        </p:txBody>
      </p:sp>
      <p:sp>
        <p:nvSpPr>
          <p:cNvPr id="22" name="Shape 20"/>
          <p:cNvSpPr/>
          <p:nvPr/>
        </p:nvSpPr>
        <p:spPr>
          <a:xfrm>
            <a:off x="9381744" y="2258568"/>
            <a:ext cx="384048" cy="384048"/>
          </a:xfrm>
          <a:prstGeom prst="ellipse">
            <a:avLst/>
          </a:prstGeom>
          <a:solidFill>
            <a:srgbClr val="1B3A5C"/>
          </a:solidFill>
          <a:ln/>
        </p:spPr>
      </p:sp>
      <p:sp>
        <p:nvSpPr>
          <p:cNvPr id="23" name="Text 21"/>
          <p:cNvSpPr/>
          <p:nvPr/>
        </p:nvSpPr>
        <p:spPr>
          <a:xfrm>
            <a:off x="9381744" y="2258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IBM Plex Mono" pitchFamily="34" charset="0"/>
                <a:ea typeface="IBM Plex Mono" pitchFamily="34" charset="-122"/>
                <a:cs typeface="IBM Plex Mono" pitchFamily="34" charset="-120"/>
              </a:rPr>
              <a:t>3</a:t>
            </a:r>
            <a:endParaRPr lang="en-US" sz="1300" dirty="0"/>
          </a:p>
        </p:txBody>
      </p:sp>
      <p:sp>
        <p:nvSpPr>
          <p:cNvPr id="24" name="Text 22"/>
          <p:cNvSpPr/>
          <p:nvPr/>
        </p:nvSpPr>
        <p:spPr>
          <a:xfrm>
            <a:off x="9857232" y="2212848"/>
            <a:ext cx="1737360" cy="822960"/>
          </a:xfrm>
          <a:prstGeom prst="rect">
            <a:avLst/>
          </a:prstGeom>
          <a:noFill/>
          <a:ln/>
        </p:spPr>
        <p:txBody>
          <a:bodyPr wrap="square" lIns="0" tIns="0" rIns="0" bIns="0" rtlCol="0" anchor="t"/>
          <a:lstStyle/>
          <a:p>
            <a:pPr indent="0" marL="0">
              <a:buNone/>
            </a:pPr>
            <a:r>
              <a:rPr lang="en-US" sz="1250" b="1" dirty="0">
                <a:solidFill>
                  <a:srgbClr val="0F1A2A"/>
                </a:solidFill>
                <a:latin typeface="Source Sans 3" pitchFamily="34" charset="0"/>
                <a:ea typeface="Source Sans 3" pitchFamily="34" charset="-122"/>
                <a:cs typeface="Source Sans 3" pitchFamily="34" charset="-120"/>
              </a:rPr>
              <a:t>Agrees with others</a:t>
            </a:r>
            <a:endParaRPr lang="en-US" sz="1250" dirty="0"/>
          </a:p>
          <a:p>
            <a:pPr indent="0" marL="0">
              <a:buNone/>
            </a:pPr>
            <a:r>
              <a:rPr lang="en-US" sz="1100" dirty="0">
                <a:solidFill>
                  <a:srgbClr val="42506A"/>
                </a:solidFill>
                <a:latin typeface="Source Sans 3" pitchFamily="34" charset="0"/>
                <a:ea typeface="Source Sans 3" pitchFamily="34" charset="-122"/>
                <a:cs typeface="Source Sans 3" pitchFamily="34" charset="-120"/>
              </a:rPr>
              <a:t>Compared with other publishers for the same quarter.</a:t>
            </a:r>
            <a:endParaRPr lang="en-US" sz="1250" dirty="0"/>
          </a:p>
        </p:txBody>
      </p:sp>
      <p:pic>
        <p:nvPicPr>
          <p:cNvPr id="25" name="Needs a person screenshot" descr="/tmp/claude-0/-home-user-nanfengtest/494dfdc6-8cf5-5478-905d-79a5906d19d6/scratchpad/deck/assets/f-needs-person.png">    </p:cNvPr>
          <p:cNvPicPr>
            <a:picLocks noChangeAspect="1"/>
          </p:cNvPicPr>
          <p:nvPr/>
        </p:nvPicPr>
        <p:blipFill>
          <a:blip r:embed="rId1"/>
          <a:stretch>
            <a:fillRect/>
          </a:stretch>
        </p:blipFill>
        <p:spPr>
          <a:xfrm>
            <a:off x="4461539" y="2907059"/>
            <a:ext cx="6438843" cy="2632739"/>
          </a:xfrm>
          <a:prstGeom prst="rect">
            <a:avLst/>
          </a:prstGeom>
        </p:spPr>
      </p:pic>
      <p:sp>
        <p:nvSpPr>
          <p:cNvPr id="26" name="Text 23"/>
          <p:cNvSpPr/>
          <p:nvPr/>
        </p:nvSpPr>
        <p:spPr>
          <a:xfrm>
            <a:off x="4754880" y="5374472"/>
            <a:ext cx="6885432" cy="502920"/>
          </a:xfrm>
          <a:prstGeom prst="rect">
            <a:avLst/>
          </a:prstGeom>
          <a:noFill/>
          <a:ln/>
        </p:spPr>
        <p:txBody>
          <a:bodyPr wrap="square" lIns="0" tIns="0" rIns="0" bIns="0" rtlCol="0" anchor="t"/>
          <a:lstStyle/>
          <a:p>
            <a:pPr indent="0" marL="0">
              <a:buNone/>
            </a:pPr>
            <a:r>
              <a:rPr lang="en-US" sz="1150" b="1" dirty="0">
                <a:solidFill>
                  <a:srgbClr val="B4452E"/>
                </a:solidFill>
                <a:latin typeface="Source Sans 3" pitchFamily="34" charset="0"/>
                <a:ea typeface="Source Sans 3" pitchFamily="34" charset="-122"/>
                <a:cs typeface="Source Sans 3" pitchFamily="34" charset="-120"/>
              </a:rPr>
              <a:t>A real catch: </a:t>
            </a:r>
            <a:pPr indent="0" marL="0">
              <a:buNone/>
            </a:pPr>
            <a:r>
              <a:rPr lang="en-US" sz="1150" dirty="0">
                <a:solidFill>
                  <a:srgbClr val="42506A"/>
                </a:solidFill>
                <a:latin typeface="Source Sans 3" pitchFamily="34" charset="0"/>
                <a:ea typeface="Source Sans 3" pitchFamily="34" charset="-122"/>
                <a:cs typeface="Source Sans 3" pitchFamily="34" charset="-120"/>
              </a:rPr>
              <a:t>the same Knight Frank report gives London vacancy as 9.1% in its table and 9.4% on its dashboard page. The agent kept both, warned the team, and any colleague can settle it.</a:t>
            </a:r>
            <a:endParaRPr lang="en-US" sz="1150" dirty="0"/>
          </a:p>
        </p:txBody>
      </p:sp>
      <p:sp>
        <p:nvSpPr>
          <p:cNvPr id="27" name="under the hood"/>
          <p:cNvSpPr/>
          <p:nvPr/>
        </p:nvSpPr>
        <p:spPr>
          <a:xfrm>
            <a:off x="548640" y="5029200"/>
            <a:ext cx="3886200" cy="914400"/>
          </a:xfrm>
          <a:prstGeom prst="roundRect">
            <a:avLst>
              <a:gd name="adj" fmla="val 8000"/>
            </a:avLst>
          </a:prstGeom>
          <a:solidFill>
            <a:srgbClr val="0F1A2A"/>
          </a:solidFill>
          <a:ln/>
        </p:spPr>
      </p:sp>
      <p:sp>
        <p:nvSpPr>
          <p:cNvPr id="28" name="Text 25"/>
          <p:cNvSpPr/>
          <p:nvPr/>
        </p:nvSpPr>
        <p:spPr>
          <a:xfrm>
            <a:off x="713232" y="5102352"/>
            <a:ext cx="3611880" cy="786384"/>
          </a:xfrm>
          <a:prstGeom prst="rect">
            <a:avLst/>
          </a:prstGeom>
          <a:noFill/>
          <a:ln/>
        </p:spPr>
        <p:txBody>
          <a:bodyPr wrap="square" lIns="0" tIns="0" rIns="0" bIns="0" rtlCol="0" anchor="t"/>
          <a:lstStyle/>
          <a:p>
            <a:pPr indent="0" marL="0">
              <a:buNone/>
            </a:pPr>
            <a:r>
              <a:rPr lang="en-US" sz="950" b="1" spc="150" kern="0" dirty="0">
                <a:solidFill>
                  <a:srgbClr val="DEA54A"/>
                </a:solidFill>
                <a:latin typeface="Source Sans 3" pitchFamily="34" charset="0"/>
                <a:ea typeface="Source Sans 3" pitchFamily="34" charset="-122"/>
                <a:cs typeface="Source Sans 3" pitchFamily="34" charset="-120"/>
              </a:rPr>
              <a:t>UNDER THE HOOD</a:t>
            </a:r>
            <a:endParaRPr lang="en-US" sz="950" dirty="0"/>
          </a:p>
          <a:p>
            <a:pPr indent="0" marL="0">
              <a:buNone/>
            </a:pPr>
            <a:r>
              <a:rPr lang="en-US" sz="1050" dirty="0">
                <a:solidFill>
                  <a:srgbClr val="C9D3DF"/>
                </a:solidFill>
                <a:latin typeface="Source Sans 3" pitchFamily="34" charset="0"/>
                <a:ea typeface="Source Sans 3" pitchFamily="34" charset="-122"/>
                <a:cs typeface="Source Sans 3" pitchFamily="34" charset="-120"/>
              </a:rPr>
              <a:t>12 Python skills, 52 tools, 9 reading playbooks. Xiaomi MiMo models (swappable for Claude or GPT); a durable agent engine that resumes after a crash.</a:t>
            </a:r>
            <a:endParaRPr lang="en-US" sz="950" dirty="0"/>
          </a:p>
        </p:txBody>
      </p:sp>
      <p:sp>
        <p:nvSpPr>
          <p:cNvPr id="25" name="Slide Number Placeholder 0"/>
          <p:cNvSpPr>
            <a:spLocks noGrp="1"/>
          </p:cNvSpPr>
          <p:nvPr>
            <p:ph type="sldNum" sz="quarter" idx="4294967295"/>
          </p:nvPr>
        </p:nvSpPr>
        <p:spPr>
          <a:xfrm>
            <a:off x="11274552" y="6391656"/>
            <a:ext cx="365760" cy="237744"/>
          </a:xfrm>
          <a:prstGeom prst="rect">
            <a:avLst/>
          </a:prstGeom>
          <a:extLst>
            <a:ext uri="{C572A759-6A51-4108-AA02-DFA0A04FC94B}">
              <ma14:wrappingTextBoxFlag xmlns:ma14="http://schemas.microsoft.com/office/mac/drawingml/2011/main" val="0"/>
            </a:ext>
          </a:extLst>
        </p:spPr>
        <p:txBody>
          <a:bodyPr/>
          <a:lstStyle>
            <a:lvl1pPr>
              <a:defRPr sz="950">
                <a:solidFill>
                  <a:srgbClr val="6B7A90"/>
                </a:solidFill>
                <a:latin typeface="IBM Plex Mono"/>
                <a:ea typeface="IBM Plex Mono"/>
                <a:cs typeface="IBM Plex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p:nvPr/>
        </p:nvSpPr>
        <p:spPr>
          <a:xfrm>
            <a:off x="548640" y="384048"/>
            <a:ext cx="8229600" cy="274320"/>
          </a:xfrm>
          <a:prstGeom prst="rect">
            <a:avLst/>
          </a:prstGeom>
          <a:noFill/>
          <a:ln/>
        </p:spPr>
        <p:txBody>
          <a:bodyPr wrap="square" lIns="0" tIns="0" rIns="0" bIns="0" rtlCol="0" anchor="ctr"/>
          <a:lstStyle/>
          <a:p>
            <a:pPr indent="0" marL="0">
              <a:buNone/>
            </a:pPr>
            <a:r>
              <a:rPr lang="en-US" sz="1100" b="1" spc="120" kern="0" dirty="0">
                <a:solidFill>
                  <a:srgbClr val="B9781A"/>
                </a:solidFill>
                <a:latin typeface="Source Sans 3" pitchFamily="34" charset="0"/>
                <a:ea typeface="Source Sans 3" pitchFamily="34" charset="-122"/>
                <a:cs typeface="Source Sans 3" pitchFamily="34" charset="-120"/>
              </a:rPr>
              <a:t>NEXT STEP</a:t>
            </a:r>
            <a:endParaRPr lang="en-US" sz="1100" dirty="0"/>
          </a:p>
        </p:txBody>
      </p:sp>
      <p:sp>
        <p:nvSpPr>
          <p:cNvPr id="3" name="title"/>
          <p:cNvSpPr/>
          <p:nvPr/>
        </p:nvSpPr>
        <p:spPr>
          <a:xfrm>
            <a:off x="548640" y="658368"/>
            <a:ext cx="11064240" cy="658368"/>
          </a:xfrm>
          <a:prstGeom prst="rect">
            <a:avLst/>
          </a:prstGeom>
          <a:noFill/>
          <a:ln/>
        </p:spPr>
        <p:txBody>
          <a:bodyPr wrap="square" lIns="0" tIns="0" rIns="0" bIns="0" rtlCol="0" anchor="ctr"/>
          <a:lstStyle/>
          <a:p>
            <a:pPr indent="0" marL="0">
              <a:buNone/>
            </a:pPr>
            <a:r>
              <a:rPr lang="en-US" sz="3100" b="1" dirty="0">
                <a:solidFill>
                  <a:srgbClr val="0F1A2A"/>
                </a:solidFill>
                <a:latin typeface="Archivo" pitchFamily="34" charset="0"/>
                <a:ea typeface="Archivo" pitchFamily="34" charset="-122"/>
                <a:cs typeface="Archivo" pitchFamily="34" charset="-120"/>
              </a:rPr>
              <a:t>Try it today, then run a four-week pilot</a:t>
            </a:r>
            <a:endParaRPr lang="en-US" sz="3100" dirty="0"/>
          </a:p>
        </p:txBody>
      </p:sp>
      <p:sp>
        <p:nvSpPr>
          <p:cNvPr id="4" name="Text 2"/>
          <p:cNvSpPr/>
          <p:nvPr/>
        </p:nvSpPr>
        <p:spPr>
          <a:xfrm>
            <a:off x="548640" y="1481328"/>
            <a:ext cx="3429000" cy="274320"/>
          </a:xfrm>
          <a:prstGeom prst="rect">
            <a:avLst/>
          </a:prstGeom>
          <a:noFill/>
          <a:ln/>
        </p:spPr>
        <p:txBody>
          <a:bodyPr wrap="square" lIns="0" tIns="0" rIns="0" bIns="0" rtlCol="0" anchor="ctr"/>
          <a:lstStyle/>
          <a:p>
            <a:pPr indent="0" marL="0">
              <a:buNone/>
            </a:pPr>
            <a:r>
              <a:rPr lang="en-US" sz="1050" b="1" spc="150" kern="0" dirty="0">
                <a:solidFill>
                  <a:srgbClr val="2E7D55"/>
                </a:solidFill>
                <a:latin typeface="Source Sans 3" pitchFamily="34" charset="0"/>
                <a:ea typeface="Source Sans 3" pitchFamily="34" charset="-122"/>
                <a:cs typeface="Source Sans 3" pitchFamily="34" charset="-120"/>
              </a:rPr>
              <a:t>READY NOW</a:t>
            </a:r>
            <a:endParaRPr lang="en-US" sz="1050" dirty="0"/>
          </a:p>
        </p:txBody>
      </p:sp>
      <p:sp>
        <p:nvSpPr>
          <p:cNvPr id="5" name="Shape 3"/>
          <p:cNvSpPr/>
          <p:nvPr/>
        </p:nvSpPr>
        <p:spPr>
          <a:xfrm>
            <a:off x="548640" y="1810512"/>
            <a:ext cx="3429000" cy="0"/>
          </a:xfrm>
          <a:prstGeom prst="line">
            <a:avLst/>
          </a:prstGeom>
          <a:noFill/>
          <a:ln w="19050">
            <a:solidFill>
              <a:srgbClr val="2E7D55"/>
            </a:solidFill>
            <a:prstDash val="solid"/>
          </a:ln>
        </p:spPr>
      </p:sp>
      <p:sp>
        <p:nvSpPr>
          <p:cNvPr id="6" name="Text 4"/>
          <p:cNvSpPr/>
          <p:nvPr/>
        </p:nvSpPr>
        <p:spPr>
          <a:xfrm>
            <a:off x="548640" y="1938528"/>
            <a:ext cx="3429000" cy="731520"/>
          </a:xfrm>
          <a:prstGeom prst="rect">
            <a:avLst/>
          </a:prstGeom>
          <a:noFill/>
          <a:ln/>
        </p:spPr>
        <p:txBody>
          <a:bodyPr wrap="square" lIns="0" tIns="0" rIns="0" bIns="0" rtlCol="0" anchor="t"/>
          <a:lstStyle/>
          <a:p>
            <a:pPr indent="0" marL="0">
              <a:spcAft>
                <a:spcPts val="100"/>
              </a:spcAft>
              <a:buNone/>
            </a:pPr>
            <a:r>
              <a:rPr lang="en-US" sz="1300" b="1" dirty="0">
                <a:solidFill>
                  <a:srgbClr val="0F1A2A"/>
                </a:solidFill>
                <a:latin typeface="Source Sans 3" pitchFamily="34" charset="0"/>
                <a:ea typeface="Source Sans 3" pitchFamily="34" charset="-122"/>
                <a:cs typeface="Source Sans 3" pitchFamily="34" charset="-120"/>
              </a:rPr>
              <a:t>Live and open to try</a:t>
            </a:r>
            <a:endParaRPr lang="en-US" sz="1300" dirty="0"/>
          </a:p>
          <a:p>
            <a:pPr indent="0" marL="0">
              <a:spcAft>
                <a:spcPts val="100"/>
              </a:spcAft>
              <a:buNone/>
            </a:pPr>
            <a:r>
              <a:rPr lang="en-US" sz="1150" dirty="0">
                <a:solidFill>
                  <a:srgbClr val="42506A"/>
                </a:solidFill>
                <a:latin typeface="Source Sans 3" pitchFamily="34" charset="0"/>
                <a:ea typeface="Source Sans 3" pitchFamily="34" charset="-122"/>
                <a:cs typeface="Source Sans 3" pitchFamily="34" charset="-120"/>
              </a:rPr>
              <a:t>No login. Updates itself every morning at 06:30 UTC.</a:t>
            </a:r>
            <a:endParaRPr lang="en-US" sz="1300" dirty="0"/>
          </a:p>
        </p:txBody>
      </p:sp>
      <p:sp>
        <p:nvSpPr>
          <p:cNvPr id="7" name="Text 5"/>
          <p:cNvSpPr/>
          <p:nvPr/>
        </p:nvSpPr>
        <p:spPr>
          <a:xfrm>
            <a:off x="548640" y="2724912"/>
            <a:ext cx="3429000" cy="731520"/>
          </a:xfrm>
          <a:prstGeom prst="rect">
            <a:avLst/>
          </a:prstGeom>
          <a:noFill/>
          <a:ln/>
        </p:spPr>
        <p:txBody>
          <a:bodyPr wrap="square" lIns="0" tIns="0" rIns="0" bIns="0" rtlCol="0" anchor="t"/>
          <a:lstStyle/>
          <a:p>
            <a:pPr indent="0" marL="0">
              <a:spcAft>
                <a:spcPts val="100"/>
              </a:spcAft>
              <a:buNone/>
            </a:pPr>
            <a:r>
              <a:rPr lang="en-US" sz="1300" b="1" dirty="0">
                <a:solidFill>
                  <a:srgbClr val="0F1A2A"/>
                </a:solidFill>
                <a:latin typeface="Source Sans 3" pitchFamily="34" charset="0"/>
                <a:ea typeface="Source Sans 3" pitchFamily="34" charset="-122"/>
                <a:cs typeface="Source Sans 3" pitchFamily="34" charset="-120"/>
              </a:rPr>
              <a:t>Tested with the live model</a:t>
            </a:r>
            <a:endParaRPr lang="en-US" sz="1300" dirty="0"/>
          </a:p>
          <a:p>
            <a:pPr indent="0" marL="0">
              <a:spcAft>
                <a:spcPts val="100"/>
              </a:spcAft>
              <a:buNone/>
            </a:pPr>
            <a:r>
              <a:rPr lang="en-US" sz="1150" dirty="0">
                <a:solidFill>
                  <a:srgbClr val="42506A"/>
                </a:solidFill>
                <a:latin typeface="Source Sans 3" pitchFamily="34" charset="0"/>
                <a:ea typeface="Source Sans 3" pitchFamily="34" charset="-122"/>
                <a:cs typeface="Source Sans 3" pitchFamily="34" charset="-120"/>
              </a:rPr>
              <a:t>Copilot, PDF reading, briefs and three people at once.</a:t>
            </a:r>
            <a:endParaRPr lang="en-US" sz="1300" dirty="0"/>
          </a:p>
        </p:txBody>
      </p:sp>
      <p:sp>
        <p:nvSpPr>
          <p:cNvPr id="8" name="Text 6"/>
          <p:cNvSpPr/>
          <p:nvPr/>
        </p:nvSpPr>
        <p:spPr>
          <a:xfrm>
            <a:off x="548640" y="3511296"/>
            <a:ext cx="3429000" cy="731520"/>
          </a:xfrm>
          <a:prstGeom prst="rect">
            <a:avLst/>
          </a:prstGeom>
          <a:noFill/>
          <a:ln/>
        </p:spPr>
        <p:txBody>
          <a:bodyPr wrap="square" lIns="0" tIns="0" rIns="0" bIns="0" rtlCol="0" anchor="t"/>
          <a:lstStyle/>
          <a:p>
            <a:pPr indent="0" marL="0">
              <a:spcAft>
                <a:spcPts val="100"/>
              </a:spcAft>
              <a:buNone/>
            </a:pPr>
            <a:r>
              <a:rPr lang="en-US" sz="1300" b="1" dirty="0">
                <a:solidFill>
                  <a:srgbClr val="0F1A2A"/>
                </a:solidFill>
                <a:latin typeface="Source Sans 3" pitchFamily="34" charset="0"/>
                <a:ea typeface="Source Sans 3" pitchFamily="34" charset="-122"/>
                <a:cs typeface="Source Sans 3" pitchFamily="34" charset="-120"/>
              </a:rPr>
              <a:t>97 automated tests pass</a:t>
            </a:r>
            <a:endParaRPr lang="en-US" sz="1300" dirty="0"/>
          </a:p>
          <a:p>
            <a:pPr indent="0" marL="0">
              <a:spcAft>
                <a:spcPts val="100"/>
              </a:spcAft>
              <a:buNone/>
            </a:pPr>
            <a:r>
              <a:rPr lang="en-US" sz="1150" dirty="0">
                <a:solidFill>
                  <a:srgbClr val="42506A"/>
                </a:solidFill>
                <a:latin typeface="Source Sans 3" pitchFamily="34" charset="0"/>
                <a:ea typeface="Source Sans 3" pitchFamily="34" charset="-122"/>
                <a:cs typeface="Source Sans 3" pitchFamily="34" charset="-120"/>
              </a:rPr>
              <a:t>Open code; one command starts it on any server.</a:t>
            </a:r>
            <a:endParaRPr lang="en-US" sz="1300" dirty="0"/>
          </a:p>
        </p:txBody>
      </p:sp>
      <p:sp>
        <p:nvSpPr>
          <p:cNvPr id="9" name="Text 7"/>
          <p:cNvSpPr/>
          <p:nvPr/>
        </p:nvSpPr>
        <p:spPr>
          <a:xfrm>
            <a:off x="548640" y="4297680"/>
            <a:ext cx="3429000" cy="731520"/>
          </a:xfrm>
          <a:prstGeom prst="rect">
            <a:avLst/>
          </a:prstGeom>
          <a:noFill/>
          <a:ln/>
        </p:spPr>
        <p:txBody>
          <a:bodyPr wrap="square" lIns="0" tIns="0" rIns="0" bIns="0" rtlCol="0" anchor="t"/>
          <a:lstStyle/>
          <a:p>
            <a:pPr indent="0" marL="0">
              <a:spcAft>
                <a:spcPts val="100"/>
              </a:spcAft>
              <a:buNone/>
            </a:pPr>
            <a:r>
              <a:rPr lang="en-US" sz="1300" b="1" dirty="0">
                <a:solidFill>
                  <a:srgbClr val="0F1A2A"/>
                </a:solidFill>
                <a:latin typeface="Source Sans 3" pitchFamily="34" charset="0"/>
                <a:ea typeface="Source Sans 3" pitchFamily="34" charset="-122"/>
                <a:cs typeface="Source Sans 3" pitchFamily="34" charset="-120"/>
              </a:rPr>
              <a:t>Honest about gaps</a:t>
            </a:r>
            <a:endParaRPr lang="en-US" sz="1300" dirty="0"/>
          </a:p>
          <a:p>
            <a:pPr indent="0" marL="0">
              <a:spcAft>
                <a:spcPts val="100"/>
              </a:spcAft>
              <a:buNone/>
            </a:pPr>
            <a:r>
              <a:rPr lang="en-US" sz="1150" dirty="0">
                <a:solidFill>
                  <a:srgbClr val="42506A"/>
                </a:solidFill>
                <a:latin typeface="Source Sans 3" pitchFamily="34" charset="0"/>
                <a:ea typeface="Source Sans 3" pitchFamily="34" charset="-122"/>
                <a:cs typeface="Source Sans 3" pitchFamily="34" charset="-120"/>
              </a:rPr>
              <a:t>Anything not built yet says so on screen.</a:t>
            </a:r>
            <a:endParaRPr lang="en-US" sz="1300" dirty="0"/>
          </a:p>
        </p:txBody>
      </p:sp>
      <p:sp>
        <p:nvSpPr>
          <p:cNvPr id="10" name="Text 8"/>
          <p:cNvSpPr/>
          <p:nvPr/>
        </p:nvSpPr>
        <p:spPr>
          <a:xfrm>
            <a:off x="4206240" y="1481328"/>
            <a:ext cx="3429000" cy="274320"/>
          </a:xfrm>
          <a:prstGeom prst="rect">
            <a:avLst/>
          </a:prstGeom>
          <a:noFill/>
          <a:ln/>
        </p:spPr>
        <p:txBody>
          <a:bodyPr wrap="square" lIns="0" tIns="0" rIns="0" bIns="0" rtlCol="0" anchor="ctr"/>
          <a:lstStyle/>
          <a:p>
            <a:pPr indent="0" marL="0">
              <a:buNone/>
            </a:pPr>
            <a:r>
              <a:rPr lang="en-US" sz="1050" b="1" spc="150" kern="0" dirty="0">
                <a:solidFill>
                  <a:srgbClr val="1B3A5C"/>
                </a:solidFill>
                <a:latin typeface="Source Sans 3" pitchFamily="34" charset="0"/>
                <a:ea typeface="Source Sans 3" pitchFamily="34" charset="-122"/>
                <a:cs typeface="Source Sans 3" pitchFamily="34" charset="-120"/>
              </a:rPr>
              <a:t>THE PILOT, FOUR WEEKS</a:t>
            </a:r>
            <a:endParaRPr lang="en-US" sz="1050" dirty="0"/>
          </a:p>
        </p:txBody>
      </p:sp>
      <p:sp>
        <p:nvSpPr>
          <p:cNvPr id="11" name="Shape 9"/>
          <p:cNvSpPr/>
          <p:nvPr/>
        </p:nvSpPr>
        <p:spPr>
          <a:xfrm>
            <a:off x="4206240" y="1810512"/>
            <a:ext cx="3429000" cy="0"/>
          </a:xfrm>
          <a:prstGeom prst="line">
            <a:avLst/>
          </a:prstGeom>
          <a:noFill/>
          <a:ln w="19050">
            <a:solidFill>
              <a:srgbClr val="1B3A5C"/>
            </a:solidFill>
            <a:prstDash val="solid"/>
          </a:ln>
        </p:spPr>
      </p:sp>
      <p:sp>
        <p:nvSpPr>
          <p:cNvPr id="12" name="Text 10"/>
          <p:cNvSpPr/>
          <p:nvPr/>
        </p:nvSpPr>
        <p:spPr>
          <a:xfrm>
            <a:off x="4206240" y="1938528"/>
            <a:ext cx="3429000" cy="731520"/>
          </a:xfrm>
          <a:prstGeom prst="rect">
            <a:avLst/>
          </a:prstGeom>
          <a:noFill/>
          <a:ln/>
        </p:spPr>
        <p:txBody>
          <a:bodyPr wrap="square" lIns="0" tIns="0" rIns="0" bIns="0" rtlCol="0" anchor="t"/>
          <a:lstStyle/>
          <a:p>
            <a:pPr indent="0" marL="0">
              <a:spcAft>
                <a:spcPts val="100"/>
              </a:spcAft>
              <a:buNone/>
            </a:pPr>
            <a:r>
              <a:rPr lang="en-US" sz="1300" b="1" dirty="0">
                <a:solidFill>
                  <a:srgbClr val="0F1A2A"/>
                </a:solidFill>
                <a:latin typeface="Source Sans 3" pitchFamily="34" charset="0"/>
                <a:ea typeface="Source Sans 3" pitchFamily="34" charset="-122"/>
                <a:cs typeface="Source Sans 3" pitchFamily="34" charset="-120"/>
              </a:rPr>
              <a:t>Three to five people</a:t>
            </a:r>
            <a:endParaRPr lang="en-US" sz="1300" dirty="0"/>
          </a:p>
          <a:p>
            <a:pPr indent="0" marL="0">
              <a:spcAft>
                <a:spcPts val="100"/>
              </a:spcAft>
              <a:buNone/>
            </a:pPr>
            <a:r>
              <a:rPr lang="en-US" sz="1150" dirty="0">
                <a:solidFill>
                  <a:srgbClr val="42506A"/>
                </a:solidFill>
                <a:latin typeface="Source Sans 3" pitchFamily="34" charset="0"/>
                <a:ea typeface="Source Sans 3" pitchFamily="34" charset="-122"/>
                <a:cs typeface="Source Sans 3" pitchFamily="34" charset="-120"/>
              </a:rPr>
              <a:t>Fund, acquisitions, asset management and research.</a:t>
            </a:r>
            <a:endParaRPr lang="en-US" sz="1300" dirty="0"/>
          </a:p>
        </p:txBody>
      </p:sp>
      <p:sp>
        <p:nvSpPr>
          <p:cNvPr id="13" name="Text 11"/>
          <p:cNvSpPr/>
          <p:nvPr/>
        </p:nvSpPr>
        <p:spPr>
          <a:xfrm>
            <a:off x="4206240" y="2724912"/>
            <a:ext cx="3429000" cy="731520"/>
          </a:xfrm>
          <a:prstGeom prst="rect">
            <a:avLst/>
          </a:prstGeom>
          <a:noFill/>
          <a:ln/>
        </p:spPr>
        <p:txBody>
          <a:bodyPr wrap="square" lIns="0" tIns="0" rIns="0" bIns="0" rtlCol="0" anchor="t"/>
          <a:lstStyle/>
          <a:p>
            <a:pPr indent="0" marL="0">
              <a:spcAft>
                <a:spcPts val="100"/>
              </a:spcAft>
              <a:buNone/>
            </a:pPr>
            <a:r>
              <a:rPr lang="en-US" sz="1300" b="1" dirty="0">
                <a:solidFill>
                  <a:srgbClr val="0F1A2A"/>
                </a:solidFill>
                <a:latin typeface="Source Sans 3" pitchFamily="34" charset="0"/>
                <a:ea typeface="Source Sans 3" pitchFamily="34" charset="-122"/>
                <a:cs typeface="Source Sans 3" pitchFamily="34" charset="-120"/>
              </a:rPr>
              <a:t>Measured, not assumed</a:t>
            </a:r>
            <a:endParaRPr lang="en-US" sz="1300" dirty="0"/>
          </a:p>
          <a:p>
            <a:pPr indent="0" marL="0">
              <a:spcAft>
                <a:spcPts val="100"/>
              </a:spcAft>
              <a:buNone/>
            </a:pPr>
            <a:r>
              <a:rPr lang="en-US" sz="1150" dirty="0">
                <a:solidFill>
                  <a:srgbClr val="42506A"/>
                </a:solidFill>
                <a:latin typeface="Source Sans 3" pitchFamily="34" charset="0"/>
                <a:ea typeface="Source Sans 3" pitchFamily="34" charset="-122"/>
                <a:cs typeface="Source Sans 3" pitchFamily="34" charset="-120"/>
              </a:rPr>
              <a:t>Questions colleagues answer themselves, figures that need a person, briefs sent without corrections.</a:t>
            </a:r>
            <a:endParaRPr lang="en-US" sz="1300" dirty="0"/>
          </a:p>
        </p:txBody>
      </p:sp>
      <p:sp>
        <p:nvSpPr>
          <p:cNvPr id="14" name="Text 12"/>
          <p:cNvSpPr/>
          <p:nvPr/>
        </p:nvSpPr>
        <p:spPr>
          <a:xfrm>
            <a:off x="4206240" y="3511296"/>
            <a:ext cx="3429000" cy="731520"/>
          </a:xfrm>
          <a:prstGeom prst="rect">
            <a:avLst/>
          </a:prstGeom>
          <a:noFill/>
          <a:ln/>
        </p:spPr>
        <p:txBody>
          <a:bodyPr wrap="square" lIns="0" tIns="0" rIns="0" bIns="0" rtlCol="0" anchor="t"/>
          <a:lstStyle/>
          <a:p>
            <a:pPr indent="0" marL="0">
              <a:spcAft>
                <a:spcPts val="100"/>
              </a:spcAft>
              <a:buNone/>
            </a:pPr>
            <a:r>
              <a:rPr lang="en-US" sz="1300" b="1" dirty="0">
                <a:solidFill>
                  <a:srgbClr val="0F1A2A"/>
                </a:solidFill>
                <a:latin typeface="Source Sans 3" pitchFamily="34" charset="0"/>
                <a:ea typeface="Source Sans 3" pitchFamily="34" charset="-122"/>
                <a:cs typeface="Source Sans 3" pitchFamily="34" charset="-120"/>
              </a:rPr>
              <a:t>Built during the pilot</a:t>
            </a:r>
            <a:endParaRPr lang="en-US" sz="1300" dirty="0"/>
          </a:p>
          <a:p>
            <a:pPr indent="0" marL="0">
              <a:spcAft>
                <a:spcPts val="100"/>
              </a:spcAft>
              <a:buNone/>
            </a:pPr>
            <a:r>
              <a:rPr lang="en-US" sz="1150" dirty="0">
                <a:solidFill>
                  <a:srgbClr val="42506A"/>
                </a:solidFill>
                <a:latin typeface="Source Sans 3" pitchFamily="34" charset="0"/>
                <a:ea typeface="Source Sans 3" pitchFamily="34" charset="-122"/>
                <a:cs typeface="Source Sans 3" pitchFamily="34" charset="-120"/>
              </a:rPr>
              <a:t>Email and Teams digest; jobs and pipeline feeds (Nomis, City of London); EPC ratings.</a:t>
            </a:r>
            <a:endParaRPr lang="en-US" sz="1300" dirty="0"/>
          </a:p>
        </p:txBody>
      </p:sp>
      <p:sp>
        <p:nvSpPr>
          <p:cNvPr id="15" name="Text 13"/>
          <p:cNvSpPr/>
          <p:nvPr/>
        </p:nvSpPr>
        <p:spPr>
          <a:xfrm>
            <a:off x="4206240" y="4297680"/>
            <a:ext cx="3429000" cy="731520"/>
          </a:xfrm>
          <a:prstGeom prst="rect">
            <a:avLst/>
          </a:prstGeom>
          <a:noFill/>
          <a:ln/>
        </p:spPr>
        <p:txBody>
          <a:bodyPr wrap="square" lIns="0" tIns="0" rIns="0" bIns="0" rtlCol="0" anchor="t"/>
          <a:lstStyle/>
          <a:p>
            <a:pPr indent="0" marL="0">
              <a:spcAft>
                <a:spcPts val="100"/>
              </a:spcAft>
              <a:buNone/>
            </a:pPr>
            <a:r>
              <a:rPr lang="en-US" sz="1300" b="1" dirty="0">
                <a:solidFill>
                  <a:srgbClr val="0F1A2A"/>
                </a:solidFill>
                <a:latin typeface="Source Sans 3" pitchFamily="34" charset="0"/>
                <a:ea typeface="Source Sans 3" pitchFamily="34" charset="-122"/>
                <a:cs typeface="Source Sans 3" pitchFamily="34" charset="-120"/>
              </a:rPr>
              <a:t>Then decide</a:t>
            </a:r>
            <a:endParaRPr lang="en-US" sz="1300" dirty="0"/>
          </a:p>
          <a:p>
            <a:pPr indent="0" marL="0">
              <a:spcAft>
                <a:spcPts val="100"/>
              </a:spcAft>
              <a:buNone/>
            </a:pPr>
            <a:r>
              <a:rPr lang="en-US" sz="1150" dirty="0">
                <a:solidFill>
                  <a:srgbClr val="42506A"/>
                </a:solidFill>
                <a:latin typeface="Source Sans 3" pitchFamily="34" charset="0"/>
                <a:ea typeface="Source Sans 3" pitchFamily="34" charset="-122"/>
                <a:cs typeface="Source Sans 3" pitchFamily="34" charset="-120"/>
              </a:rPr>
              <a:t>Roll out, change, or stop.</a:t>
            </a:r>
            <a:endParaRPr lang="en-US" sz="1300" dirty="0"/>
          </a:p>
        </p:txBody>
      </p:sp>
      <p:sp>
        <p:nvSpPr>
          <p:cNvPr id="16" name="ask panel"/>
          <p:cNvSpPr/>
          <p:nvPr/>
        </p:nvSpPr>
        <p:spPr>
          <a:xfrm>
            <a:off x="7863840" y="1481328"/>
            <a:ext cx="3776472" cy="4462272"/>
          </a:xfrm>
          <a:prstGeom prst="roundRect">
            <a:avLst>
              <a:gd name="adj" fmla="val 1937"/>
            </a:avLst>
          </a:prstGeom>
          <a:solidFill>
            <a:srgbClr val="0F1A2A"/>
          </a:solidFill>
          <a:ln/>
        </p:spPr>
      </p:sp>
      <p:sp>
        <p:nvSpPr>
          <p:cNvPr id="17" name="Text 15"/>
          <p:cNvSpPr/>
          <p:nvPr/>
        </p:nvSpPr>
        <p:spPr>
          <a:xfrm>
            <a:off x="8092440" y="1645920"/>
            <a:ext cx="3383280" cy="1737360"/>
          </a:xfrm>
          <a:prstGeom prst="rect">
            <a:avLst/>
          </a:prstGeom>
          <a:noFill/>
          <a:ln/>
        </p:spPr>
        <p:txBody>
          <a:bodyPr wrap="square" lIns="0" tIns="0" rIns="0" bIns="0" rtlCol="0" anchor="t"/>
          <a:lstStyle/>
          <a:p>
            <a:pPr indent="0" marL="0">
              <a:spcAft>
                <a:spcPts val="500"/>
              </a:spcAft>
              <a:buNone/>
            </a:pPr>
            <a:r>
              <a:rPr lang="en-US" sz="1050" b="1" spc="150" kern="0" dirty="0">
                <a:solidFill>
                  <a:srgbClr val="DEA54A"/>
                </a:solidFill>
                <a:latin typeface="Source Sans 3" pitchFamily="34" charset="0"/>
                <a:ea typeface="Source Sans 3" pitchFamily="34" charset="-122"/>
                <a:cs typeface="Source Sans 3" pitchFamily="34" charset="-120"/>
              </a:rPr>
              <a:t>WHAT WE NEED FROM YOU</a:t>
            </a:r>
            <a:endParaRPr lang="en-US" sz="1050" dirty="0"/>
          </a:p>
          <a:p>
            <a:pPr marL="177800" indent="-177800">
              <a:spcAft>
                <a:spcPts val="500"/>
              </a:spcAft>
              <a:buSzPct val="100000"/>
              <a:buChar char="•"/>
            </a:pPr>
            <a:r>
              <a:rPr lang="en-US" sz="1250" dirty="0">
                <a:solidFill>
                  <a:srgbClr val="FFFFFF"/>
                </a:solidFill>
                <a:latin typeface="Source Sans 3" pitchFamily="34" charset="0"/>
                <a:ea typeface="Source Sans 3" pitchFamily="34" charset="-122"/>
                <a:cs typeface="Source Sans 3" pitchFamily="34" charset="-120"/>
              </a:rPr>
              <a:t>The agency reports we already subscribe to</a:t>
            </a:r>
            <a:endParaRPr lang="en-US" sz="1050" dirty="0"/>
          </a:p>
          <a:p>
            <a:pPr marL="177800" indent="-177800">
              <a:spcAft>
                <a:spcPts val="500"/>
              </a:spcAft>
              <a:buSzPct val="100000"/>
              <a:buChar char="•"/>
            </a:pPr>
            <a:r>
              <a:rPr lang="en-US" sz="1250" dirty="0">
                <a:solidFill>
                  <a:srgbClr val="FFFFFF"/>
                </a:solidFill>
                <a:latin typeface="Source Sans 3" pitchFamily="34" charset="0"/>
                <a:ea typeface="Source Sans 3" pitchFamily="34" charset="-122"/>
                <a:cs typeface="Source Sans 3" pitchFamily="34" charset="-120"/>
              </a:rPr>
              <a:t>One owner for flagged figures</a:t>
            </a:r>
            <a:endParaRPr lang="en-US" sz="1050" dirty="0"/>
          </a:p>
          <a:p>
            <a:pPr marL="177800" indent="-177800">
              <a:spcAft>
                <a:spcPts val="500"/>
              </a:spcAft>
              <a:buSzPct val="100000"/>
              <a:buChar char="•"/>
            </a:pPr>
            <a:r>
              <a:rPr lang="en-US" sz="1250" dirty="0">
                <a:solidFill>
                  <a:srgbClr val="FFFFFF"/>
                </a:solidFill>
                <a:latin typeface="Source Sans 3" pitchFamily="34" charset="0"/>
                <a:ea typeface="Source Sans 3" pitchFamily="34" charset="-122"/>
                <a:cs typeface="Source Sans 3" pitchFamily="34" charset="-120"/>
              </a:rPr>
              <a:t>A yes on where data is hosted and which AI model we use</a:t>
            </a:r>
            <a:endParaRPr lang="en-US" sz="1050" dirty="0"/>
          </a:p>
        </p:txBody>
      </p:sp>
      <p:sp>
        <p:nvSpPr>
          <p:cNvPr id="18" name="Shape 16"/>
          <p:cNvSpPr/>
          <p:nvPr/>
        </p:nvSpPr>
        <p:spPr>
          <a:xfrm>
            <a:off x="8092440" y="3520440"/>
            <a:ext cx="3319272" cy="0"/>
          </a:xfrm>
          <a:prstGeom prst="line">
            <a:avLst/>
          </a:prstGeom>
          <a:noFill/>
          <a:ln w="9525">
            <a:solidFill>
              <a:srgbClr val="2C4A6E"/>
            </a:solidFill>
            <a:prstDash val="solid"/>
          </a:ln>
        </p:spPr>
      </p:sp>
      <p:pic>
        <p:nvPicPr>
          <p:cNvPr id="19" name="QR code to the live app" descr="/tmp/claude-0/-home-user-nanfengtest/494dfdc6-8cf5-5478-905d-79a5906d19d6/scratchpad/deck/assets/qr-site.png">    </p:cNvPr>
          <p:cNvPicPr>
            <a:picLocks noChangeAspect="1"/>
          </p:cNvPicPr>
          <p:nvPr/>
        </p:nvPicPr>
        <p:blipFill>
          <a:blip r:embed="rId1"/>
          <a:stretch>
            <a:fillRect/>
          </a:stretch>
        </p:blipFill>
        <p:spPr>
          <a:xfrm>
            <a:off x="8092440" y="3703320"/>
            <a:ext cx="1234440" cy="1234440"/>
          </a:xfrm>
          <a:prstGeom prst="rect">
            <a:avLst/>
          </a:prstGeom>
        </p:spPr>
      </p:pic>
      <p:sp>
        <p:nvSpPr>
          <p:cNvPr id="20" name="Text 17"/>
          <p:cNvSpPr/>
          <p:nvPr/>
        </p:nvSpPr>
        <p:spPr>
          <a:xfrm>
            <a:off x="9464040" y="3703320"/>
            <a:ext cx="2011680" cy="1234440"/>
          </a:xfrm>
          <a:prstGeom prst="rect">
            <a:avLst/>
          </a:prstGeom>
          <a:noFill/>
          <a:ln/>
        </p:spPr>
        <p:txBody>
          <a:bodyPr wrap="square" lIns="0" tIns="0" rIns="0" bIns="0" rtlCol="0" anchor="ctr"/>
          <a:lstStyle/>
          <a:p>
            <a:pPr indent="0" marL="0">
              <a:buNone/>
            </a:pPr>
            <a:r>
              <a:rPr lang="en-US" sz="1200" b="1" dirty="0">
                <a:solidFill>
                  <a:srgbClr val="DEA54A"/>
                </a:solidFill>
                <a:latin typeface="Source Sans 3" pitchFamily="34" charset="0"/>
                <a:ea typeface="Source Sans 3" pitchFamily="34" charset="-122"/>
                <a:cs typeface="Source Sans 3" pitchFamily="34" charset="-120"/>
              </a:rPr>
              <a:t>Scan to try it</a:t>
            </a:r>
            <a:endParaRPr lang="en-US" sz="1200" dirty="0"/>
          </a:p>
          <a:p>
            <a:pPr indent="0" marL="0">
              <a:buNone/>
            </a:pPr>
            <a:r>
              <a:rPr lang="en-US" sz="1050" dirty="0">
                <a:solidFill>
                  <a:srgbClr val="C9D3DF"/>
                </a:solidFill>
                <a:latin typeface="Source Sans 3" pitchFamily="34" charset="0"/>
                <a:ea typeface="Source Sans 3" pitchFamily="34" charset="-122"/>
                <a:cs typeface="Source Sans 3" pitchFamily="34" charset="-120"/>
              </a:rPr>
              <a:t>Ask: "Compare Midtown and City Core"</a:t>
            </a:r>
            <a:endParaRPr lang="en-US" sz="1200" dirty="0"/>
          </a:p>
        </p:txBody>
      </p:sp>
      <p:sp>
        <p:nvSpPr>
          <p:cNvPr id="21" name="Text 18"/>
          <p:cNvSpPr/>
          <p:nvPr/>
        </p:nvSpPr>
        <p:spPr>
          <a:xfrm>
            <a:off x="8092440" y="5120640"/>
            <a:ext cx="3383280" cy="594360"/>
          </a:xfrm>
          <a:prstGeom prst="rect">
            <a:avLst/>
          </a:prstGeom>
          <a:noFill/>
          <a:ln/>
        </p:spPr>
        <p:txBody>
          <a:bodyPr wrap="square" lIns="0" tIns="0" rIns="0" bIns="0" rtlCol="0" anchor="ctr"/>
          <a:lstStyle/>
          <a:p>
            <a:pPr indent="0" marL="0">
              <a:spcAft>
                <a:spcPts val="300"/>
              </a:spcAft>
              <a:buNone/>
            </a:pPr>
            <a:r>
              <a:rPr lang="en-US" sz="1000" u="sng" dirty="0">
                <a:solidFill>
                  <a:srgbClr val="FFFFFF"/>
                </a:solidFill>
                <a:latin typeface="IBM Plex Mono" pitchFamily="34" charset="0"/>
                <a:ea typeface="IBM Plex Mono" pitchFamily="34" charset="-122"/>
                <a:cs typeface="IBM Plex Mono" pitchFamily="34" charset="-120"/>
                <a:hlinkClick r:id="rId2" invalidUrl="" action="" tgtFrame="" tooltip="" history="1" highlightClick="0" endSnd="0">
                  <a:extLst>
                    <a:ext uri="{A12FA001-AC4F-418D-AE19-62706E023703}">
                      <ahyp:hlinkClr xmlns:ahyp="http://schemas.microsoft.com/office/drawing/2018/hyperlinkcolor" val="tx"/>
                    </a:ext>
                  </a:extLst>
                </a:hlinkClick>
              </a:rPr>
              <a:t>kenneth-london-office.convert-md.com</a:t>
            </a:r>
            <a:endParaRPr lang="en-US" sz="1000" dirty="0"/>
          </a:p>
          <a:p>
            <a:pPr indent="0" marL="0">
              <a:spcAft>
                <a:spcPts val="300"/>
              </a:spcAft>
              <a:buNone/>
            </a:pPr>
            <a:r>
              <a:rPr lang="en-US" sz="1000" u="sng" dirty="0">
                <a:solidFill>
                  <a:srgbClr val="C9D3DF"/>
                </a:solidFill>
                <a:latin typeface="IBM Plex Mono" pitchFamily="34" charset="0"/>
                <a:ea typeface="IBM Plex Mono" pitchFamily="34" charset="-122"/>
                <a:cs typeface="IBM Plex Mono"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github.com/Kenneth0416/nanfengtest</a:t>
            </a:r>
            <a:endParaRPr lang="en-US" sz="1000" dirty="0"/>
          </a:p>
        </p:txBody>
      </p:sp>
      <p:sp>
        <p:nvSpPr>
          <p:cNvPr id="22" name="footnote"/>
          <p:cNvSpPr/>
          <p:nvPr/>
        </p:nvSpPr>
        <p:spPr>
          <a:xfrm>
            <a:off x="548640" y="6035040"/>
            <a:ext cx="11064240" cy="274320"/>
          </a:xfrm>
          <a:prstGeom prst="rect">
            <a:avLst/>
          </a:prstGeom>
          <a:noFill/>
          <a:ln/>
        </p:spPr>
        <p:txBody>
          <a:bodyPr wrap="square" lIns="0" tIns="0" rIns="0" bIns="0" rtlCol="0" anchor="ctr"/>
          <a:lstStyle/>
          <a:p>
            <a:pPr indent="0" marL="0">
              <a:buNone/>
            </a:pPr>
            <a:r>
              <a:rPr lang="en-US" sz="900" dirty="0">
                <a:solidFill>
                  <a:srgbClr val="6B7A90"/>
                </a:solidFill>
                <a:latin typeface="Source Sans 3" pitchFamily="34" charset="0"/>
                <a:ea typeface="Source Sans 3" pitchFamily="34" charset="-122"/>
                <a:cs typeface="Source Sans 3" pitchFamily="34" charset="-120"/>
              </a:rPr>
              <a:t>Data notice: market figures in this PoC are restated from public Knight Frank research for evaluation only (its terms don't permit AI use); Bank Rate and news are live; internal deals and colleague names are demo data.</a:t>
            </a:r>
            <a:endParaRPr lang="en-US" sz="900" dirty="0"/>
          </a:p>
        </p:txBody>
      </p:sp>
      <p:sp>
        <p:nvSpPr>
          <p:cNvPr id="25" name="Slide Number Placeholder 0"/>
          <p:cNvSpPr>
            <a:spLocks noGrp="1"/>
          </p:cNvSpPr>
          <p:nvPr>
            <p:ph type="sldNum" sz="quarter" idx="4294967295"/>
          </p:nvPr>
        </p:nvSpPr>
        <p:spPr>
          <a:xfrm>
            <a:off x="11274552" y="6391656"/>
            <a:ext cx="365760" cy="237744"/>
          </a:xfrm>
          <a:prstGeom prst="rect">
            <a:avLst/>
          </a:prstGeom>
          <a:extLst>
            <a:ext uri="{C572A759-6A51-4108-AA02-DFA0A04FC94B}">
              <ma14:wrappingTextBoxFlag xmlns:ma14="http://schemas.microsoft.com/office/mac/drawingml/2011/main" val="0"/>
            </a:ext>
          </a:extLst>
        </p:spPr>
        <p:txBody>
          <a:bodyPr/>
          <a:lstStyle>
            <a:lvl1pPr>
              <a:defRPr sz="950">
                <a:solidFill>
                  <a:srgbClr val="6B7A90"/>
                </a:solidFill>
                <a:latin typeface="IBM Plex Mono"/>
                <a:ea typeface="IBM Plex Mono"/>
                <a:cs typeface="IBM Plex Mono"/>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Built for Nan Fung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London Office Market Agent</dc:title>
  <dc:subject>Proof of concept for the business team</dc:subject>
  <dc:creator>Kenneth Kwok</dc:creator>
  <cp:lastModifiedBy>Kenneth Kwok</cp:lastModifiedBy>
  <cp:revision>1</cp:revision>
  <dcterms:created xsi:type="dcterms:W3CDTF">2026-10-11T16:15:48Z</dcterms:created>
  <dcterms:modified xsi:type="dcterms:W3CDTF">2026-10-11T16:15:48Z</dcterms:modified>
</cp:coreProperties>
</file>