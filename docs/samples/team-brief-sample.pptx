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Vacancy</c:v>
                </c:pt>
              </c:strCache>
            </c:strRef>
          </c:tx>
          <c:spPr>
            <a:ln w="28575">
              <a:solidFill>
                <a:srgbClr val="3A62A8"/>
              </a:solidFill>
            </a:ln>
          </c:spPr>
          <c:marker>
            <c:size val="8"/>
            <c:spPr>
              <a:solidFill>
                <a:srgbClr val="3A62A8"/>
              </a:solidFill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 b="0"/>
                      <a:t>9.9%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00" b="1"/>
                      <a:t>8.0%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  <c:pt idx="6">
                  <c:v>Q1 2026</c:v>
                </c:pt>
                <c:pt idx="7">
                  <c:v>Q2 2026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9.9</c:v>
                </c:pt>
                <c:pt idx="1">
                  <c:v>9.4</c:v>
                </c:pt>
                <c:pt idx="2">
                  <c:v>9.1</c:v>
                </c:pt>
                <c:pt idx="3">
                  <c:v>8.8</c:v>
                </c:pt>
                <c:pt idx="4">
                  <c:v>9.0</c:v>
                </c:pt>
                <c:pt idx="5">
                  <c:v>8.6</c:v>
                </c:pt>
                <c:pt idx="6">
                  <c:v>8.5</c:v>
                </c:pt>
                <c:pt idx="7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6C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.0"/>
          <c:min val="7.0"/>
        </c:scaling>
        <c:delete val="0"/>
        <c:axPos val="l"/>
        <c:majorGridlines>
          <c:spPr>
            <a:ln>
              <a:solidFill>
                <a:srgbClr val="D9D6CC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738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Take-up</c:v>
                </c:pt>
              </c:strCache>
            </c:strRef>
          </c:tx>
          <c:spPr>
            <a:solidFill>
              <a:srgbClr val="3A62A8"/>
            </a:solidFill>
          </c:spPr>
          <c:dPt>
            <c:idx val="7"/>
            <c:spPr>
              <a:solidFill>
                <a:srgbClr val="B9781A"/>
              </a:solidFill>
            </c:spPr>
          </c:dPt>
          <c:cat>
            <c:strRef>
              <c:f>Sheet1!$A$2:$A$9</c:f>
              <c:strCache>
                <c:ptCount val="8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Q2 2025</c:v>
                </c:pt>
                <c:pt idx="4">
                  <c:v>Q3 2025</c:v>
                </c:pt>
                <c:pt idx="5">
                  <c:v>Q4 2025</c:v>
                </c:pt>
                <c:pt idx="6">
                  <c:v>Q1 2026</c:v>
                </c:pt>
                <c:pt idx="7">
                  <c:v>Q2 2026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1.88</c:v>
                </c:pt>
                <c:pt idx="1">
                  <c:v>2.45</c:v>
                </c:pt>
                <c:pt idx="2">
                  <c:v>3.01</c:v>
                </c:pt>
                <c:pt idx="3">
                  <c:v>3.53</c:v>
                </c:pt>
                <c:pt idx="4">
                  <c:v>2.7</c:v>
                </c:pt>
                <c:pt idx="5">
                  <c:v>3.3</c:v>
                </c:pt>
                <c:pt idx="6">
                  <c:v>2.5</c:v>
                </c:pt>
                <c:pt idx="7">
                  <c:v>3.1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1F2A4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6C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6CC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B738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3A62A8"/>
            </a:solidFill>
          </c:spPr>
          <c:cat>
            <c:strRef>
              <c:f>Sheet1!$A$2:$A$4</c:f>
              <c:strCache>
                <c:ptCount val="3"/>
                <c:pt idx="0">
                  <c:v>West End</c:v>
                </c:pt>
                <c:pt idx="1">
                  <c:v>City &amp; Southbank</c:v>
                </c:pt>
                <c:pt idx="2">
                  <c:v>Docklands &amp; Stratford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</c:v>
                </c:pt>
                <c:pt idx="1">
                  <c:v>0.37</c:v>
                </c:pt>
                <c:pt idx="2">
                  <c:v>0.75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Long-term average</c:v>
                </c:pt>
              </c:strCache>
            </c:strRef>
          </c:tx>
          <c:spPr>
            <a:solidFill>
              <a:srgbClr val="B9781A"/>
            </a:solidFill>
          </c:spPr>
          <c:cat>
            <c:strRef>
              <c:f>Sheet1!$A$2:$A$4</c:f>
              <c:strCache>
                <c:ptCount val="3"/>
                <c:pt idx="0">
                  <c:v>West End</c:v>
                </c:pt>
                <c:pt idx="1">
                  <c:v>City &amp; Southbank</c:v>
                </c:pt>
                <c:pt idx="2">
                  <c:v>Docklands &amp; Stratford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1.19</c:v>
                </c:pt>
                <c:pt idx="1">
                  <c:v>1.6</c:v>
                </c:pt>
                <c:pt idx="2">
                  <c:v>0.12</c:v>
                </c:pt>
              </c:numCache>
            </c:numRef>
          </c:val>
        </c:ser>
        <c:dLbls>
          <c:numFmt formatCode="&quot;£&quot;0.0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6C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6CC"/>
              </a:solidFill>
            </a:ln>
          </c:spPr>
        </c:majorGridlines>
        <c:numFmt formatCode="&quot;£&quot;0.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000">
          <a:solidFill>
            <a:srgbClr val="6B738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The headline and the four KPIs open every brief.</a:t>
            </a:r>
          </a:p>
          <a:p>
            <a:r>
              <a:t>Headline: Central London vacancy fell to 8.0% in Q2 2026 from 8.5% in Q1 2026, with take-up of 3.10m sq ft, 11% above the long-term average, and active requirements up to 14.30m sq ft. Investment was £2.00bn in Q2 2026 against £1.90bn in Q1 2026, 36% below the long-term average. To watch: City &amp; Southbank investment volume -77% vs long-term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Vacancy the lowest since Q1 2024; moved -0.50pp on the quarter; take-up +11% vs its long-term average</a:t>
            </a:r>
          </a:p>
          <a:p>
            <a:r>
              <a:t>Vacancy the lowest since Q1 2024; moved -0.50pp on the quarter; take-up +11% vs its long-term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The brief always carries the evidence table for the investment committee.</a:t>
            </a:r>
          </a:p>
          <a:p>
            <a:r>
              <a:t>The submarket evidence table, as in the written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Capital markets: investment 36% below the long-term average, +0.10bn on the quarter</a:t>
            </a:r>
          </a:p>
          <a:p>
            <a:r>
              <a:t>Capital markets: investment 36% below the long-term average, +0.10bn on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6 signal cards the team ranked this week.</a:t>
            </a:r>
          </a:p>
          <a:p>
            <a:r>
              <a:t>- White City: Grade A vacancy 11.5% against 17.9% overall, gap widening: New and refurbished space in White City is 11.5% vacant against 17.9% for all space in Q2 2026, a gap of 6.4pp (from 5.0pp the quarter before). [1]</a:t>
            </a:r>
          </a:p>
          <a:p>
            <a:r>
              <a:t>- City &amp; Southbank investment volume -77% vs long-term average: Investment volume in City &amp; Southbank was £0.37bn in Q2 2026 against a long-term average of £1.60bn. [1]</a:t>
            </a:r>
          </a:p>
          <a:p>
            <a:r>
              <a:t>- Docklands &amp; Stratford investment volume +525% vs long-term average: Investment volume in Docklands &amp; Stratford was £0.75bn in Q2 2026 against a long-term average of £0.12bn. [1]</a:t>
            </a:r>
          </a:p>
          <a:p>
            <a:r>
              <a:t>- 540,000 sq ft speculative scheme due Q4 2026 in City Core: 81 Newgate Street (Panorama St Paul's), EC1 (540,000 sq ft) is under construction without a pre-let and is expected to complete in Q4 2026. [10]</a:t>
            </a:r>
          </a:p>
          <a:p>
            <a:r>
              <a:t>- 400,000 sq ft speculative scheme due Q4 2027 in Victoria: Portland House, SW1 (400,000 sq ft) is under construction without a pre-let and is expected to complete in Q4 2027. [10]</a:t>
            </a:r>
          </a:p>
          <a:p>
            <a:r>
              <a:t>- Bloomsbury prime rent up +6.1%: Prime rent in Bloomsbury: £87.50/sq ft in Q2 2026, from £82.50/sq ft in Q4 2025 (+6.1%). [1]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slide: Every figure carries [n]; this list maps each to its source.</a:t>
            </a:r>
          </a:p>
          <a:p>
            <a:r>
              <a:t>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subtitle"/>
          <p:cNvSpPr/>
          <p:nvPr>
            <p:ph idx="102" type="body" hasCustomPrompt="1"/>
          </p:nvPr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headline"/>
          <p:cNvSpPr/>
          <p:nvPr>
            <p:ph idx="103" type="body" hasCustomPrompt="1"/>
          </p:nvPr>
        </p:nvSpPr>
        <p:spPr>
          <a:xfrm>
            <a:off x="640080" y="2286000"/>
            <a:ext cx="108813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Shape 0"/>
          <p:cNvSpPr/>
          <p:nvPr/>
        </p:nvSpPr>
        <p:spPr>
          <a:xfrm>
            <a:off x="640080" y="4069080"/>
            <a:ext cx="260604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7" name="kpi1"/>
          <p:cNvSpPr/>
          <p:nvPr>
            <p:ph idx="105" type="body" hasCustomPrompt="1"/>
          </p:nvPr>
        </p:nvSpPr>
        <p:spPr>
          <a:xfrm>
            <a:off x="640080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8" name="Shape 1"/>
          <p:cNvSpPr/>
          <p:nvPr/>
        </p:nvSpPr>
        <p:spPr>
          <a:xfrm>
            <a:off x="3410712" y="4069080"/>
            <a:ext cx="260604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9" name="kpi2"/>
          <p:cNvSpPr/>
          <p:nvPr>
            <p:ph idx="107" type="body" hasCustomPrompt="1"/>
          </p:nvPr>
        </p:nvSpPr>
        <p:spPr>
          <a:xfrm>
            <a:off x="3410712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Shape 2"/>
          <p:cNvSpPr/>
          <p:nvPr/>
        </p:nvSpPr>
        <p:spPr>
          <a:xfrm>
            <a:off x="6181344" y="4069080"/>
            <a:ext cx="260604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11" name="kpi3"/>
          <p:cNvSpPr/>
          <p:nvPr>
            <p:ph idx="109" type="body" hasCustomPrompt="1"/>
          </p:nvPr>
        </p:nvSpPr>
        <p:spPr>
          <a:xfrm>
            <a:off x="6181344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hape 3"/>
          <p:cNvSpPr/>
          <p:nvPr/>
        </p:nvSpPr>
        <p:spPr>
          <a:xfrm>
            <a:off x="8951976" y="4069080"/>
            <a:ext cx="260604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13" name="kpi4"/>
          <p:cNvSpPr/>
          <p:nvPr>
            <p:ph idx="111" type="body" hasCustomPrompt="1"/>
          </p:nvPr>
        </p:nvSpPr>
        <p:spPr>
          <a:xfrm>
            <a:off x="8951976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4" name="caveat"/>
          <p:cNvSpPr/>
          <p:nvPr>
            <p:ph idx="112" type="body" hasCustomPrompt="1"/>
          </p:nvPr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97480"/>
            <a:ext cx="91440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64008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body"/>
          <p:cNvSpPr/>
          <p:nvPr>
            <p:ph idx="103" type="body" hasCustomPrompt="1"/>
          </p:nvPr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Shape 0"/>
          <p:cNvSpPr/>
          <p:nvPr/>
        </p:nvSpPr>
        <p:spPr>
          <a:xfrm>
            <a:off x="822960" y="1645920"/>
            <a:ext cx="731520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4" name="statement"/>
          <p:cNvSpPr/>
          <p:nvPr>
            <p:ph idx="102" type="body" hasCustomPrompt="1"/>
          </p:nvPr>
        </p:nvSpPr>
        <p:spPr>
          <a:xfrm>
            <a:off x="82296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attribution"/>
          <p:cNvSpPr/>
          <p:nvPr>
            <p:ph idx="103" type="body" hasCustomPrompt="1"/>
          </p:nvPr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82296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number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hero"/>
          <p:cNvSpPr/>
          <p:nvPr>
            <p:ph idx="105" type="body" hasCustomPrompt="1"/>
          </p:nvPr>
        </p:nvSpPr>
        <p:spPr>
          <a:xfrm>
            <a:off x="548640" y="1691640"/>
            <a:ext cx="39319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8" name="hero_caption"/>
          <p:cNvSpPr/>
          <p:nvPr>
            <p:ph idx="106" type="body" hasCustomPrompt="1"/>
          </p:nvPr>
        </p:nvSpPr>
        <p:spPr>
          <a:xfrm>
            <a:off x="54864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hero_context"/>
          <p:cNvSpPr/>
          <p:nvPr>
            <p:ph idx="107" type="body" hasCustomPrompt="1"/>
          </p:nvPr>
        </p:nvSpPr>
        <p:spPr>
          <a:xfrm>
            <a:off x="548640" y="3337560"/>
            <a:ext cx="39319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chart_label"/>
          <p:cNvSpPr/>
          <p:nvPr>
            <p:ph idx="108" type="body" hasCustomPrompt="1"/>
          </p:nvPr>
        </p:nvSpPr>
        <p:spPr>
          <a:xfrm>
            <a:off x="4846320" y="1645920"/>
            <a:ext cx="67665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chart"/>
          <p:cNvSpPr/>
          <p:nvPr>
            <p:ph idx="109" type="chart" hasCustomPrompt="1"/>
          </p:nvPr>
        </p:nvSpPr>
        <p:spPr>
          <a:xfrm>
            <a:off x="4754880" y="1938528"/>
            <a:ext cx="688543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 row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548640" y="1691640"/>
            <a:ext cx="2651760" cy="0"/>
          </a:xfrm>
          <a:prstGeom prst="line">
            <a:avLst/>
          </a:prstGeom>
          <a:noFill/>
          <a:ln w="19050">
            <a:solidFill>
              <a:srgbClr val="B9781A"/>
            </a:solidFill>
            <a:prstDash val="solid"/>
          </a:ln>
        </p:spPr>
      </p:sp>
      <p:sp>
        <p:nvSpPr>
          <p:cNvPr id="8" name="stat1"/>
          <p:cNvSpPr/>
          <p:nvPr>
            <p:ph idx="106" type="body" hasCustomPrompt="1"/>
          </p:nvPr>
        </p:nvSpPr>
        <p:spPr>
          <a:xfrm>
            <a:off x="548640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9" name="stat1_caption"/>
          <p:cNvSpPr/>
          <p:nvPr>
            <p:ph idx="107" type="body" hasCustomPrompt="1"/>
          </p:nvPr>
        </p:nvSpPr>
        <p:spPr>
          <a:xfrm>
            <a:off x="548640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0" name="stat1_context"/>
          <p:cNvSpPr/>
          <p:nvPr>
            <p:ph idx="108" type="body" hasCustomPrompt="1"/>
          </p:nvPr>
        </p:nvSpPr>
        <p:spPr>
          <a:xfrm>
            <a:off x="548640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Shape 4"/>
          <p:cNvSpPr/>
          <p:nvPr/>
        </p:nvSpPr>
        <p:spPr>
          <a:xfrm>
            <a:off x="3346704" y="1691640"/>
            <a:ext cx="2651760" cy="0"/>
          </a:xfrm>
          <a:prstGeom prst="line">
            <a:avLst/>
          </a:prstGeom>
          <a:noFill/>
          <a:ln w="19050">
            <a:solidFill>
              <a:srgbClr val="B9781A"/>
            </a:solidFill>
            <a:prstDash val="solid"/>
          </a:ln>
        </p:spPr>
      </p:sp>
      <p:sp>
        <p:nvSpPr>
          <p:cNvPr id="12" name="stat2"/>
          <p:cNvSpPr/>
          <p:nvPr>
            <p:ph idx="110" type="body" hasCustomPrompt="1"/>
          </p:nvPr>
        </p:nvSpPr>
        <p:spPr>
          <a:xfrm>
            <a:off x="3346704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3" name="stat2_caption"/>
          <p:cNvSpPr/>
          <p:nvPr>
            <p:ph idx="111" type="body" hasCustomPrompt="1"/>
          </p:nvPr>
        </p:nvSpPr>
        <p:spPr>
          <a:xfrm>
            <a:off x="3346704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4" name="stat2_context"/>
          <p:cNvSpPr/>
          <p:nvPr>
            <p:ph idx="112" type="body" hasCustomPrompt="1"/>
          </p:nvPr>
        </p:nvSpPr>
        <p:spPr>
          <a:xfrm>
            <a:off x="3346704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Shape 5"/>
          <p:cNvSpPr/>
          <p:nvPr/>
        </p:nvSpPr>
        <p:spPr>
          <a:xfrm>
            <a:off x="6144768" y="1691640"/>
            <a:ext cx="2651760" cy="0"/>
          </a:xfrm>
          <a:prstGeom prst="line">
            <a:avLst/>
          </a:prstGeom>
          <a:noFill/>
          <a:ln w="19050">
            <a:solidFill>
              <a:srgbClr val="B9781A"/>
            </a:solidFill>
            <a:prstDash val="solid"/>
          </a:ln>
        </p:spPr>
      </p:sp>
      <p:sp>
        <p:nvSpPr>
          <p:cNvPr id="16" name="stat3"/>
          <p:cNvSpPr/>
          <p:nvPr>
            <p:ph idx="114" type="body" hasCustomPrompt="1"/>
          </p:nvPr>
        </p:nvSpPr>
        <p:spPr>
          <a:xfrm>
            <a:off x="6144768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7" name="stat3_caption"/>
          <p:cNvSpPr/>
          <p:nvPr>
            <p:ph idx="115" type="body" hasCustomPrompt="1"/>
          </p:nvPr>
        </p:nvSpPr>
        <p:spPr>
          <a:xfrm>
            <a:off x="6144768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8" name="stat3_context"/>
          <p:cNvSpPr/>
          <p:nvPr>
            <p:ph idx="116" type="body" hasCustomPrompt="1"/>
          </p:nvPr>
        </p:nvSpPr>
        <p:spPr>
          <a:xfrm>
            <a:off x="6144768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9" name="Shape 6"/>
          <p:cNvSpPr/>
          <p:nvPr/>
        </p:nvSpPr>
        <p:spPr>
          <a:xfrm>
            <a:off x="8942832" y="1691640"/>
            <a:ext cx="2651760" cy="0"/>
          </a:xfrm>
          <a:prstGeom prst="line">
            <a:avLst/>
          </a:prstGeom>
          <a:noFill/>
          <a:ln w="19050">
            <a:solidFill>
              <a:srgbClr val="B9781A"/>
            </a:solidFill>
            <a:prstDash val="solid"/>
          </a:ln>
        </p:spPr>
      </p:sp>
      <p:sp>
        <p:nvSpPr>
          <p:cNvPr id="20" name="stat4"/>
          <p:cNvSpPr/>
          <p:nvPr>
            <p:ph idx="118" type="body" hasCustomPrompt="1"/>
          </p:nvPr>
        </p:nvSpPr>
        <p:spPr>
          <a:xfrm>
            <a:off x="8942832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1" name="stat4_caption"/>
          <p:cNvSpPr/>
          <p:nvPr>
            <p:ph idx="119" type="body" hasCustomPrompt="1"/>
          </p:nvPr>
        </p:nvSpPr>
        <p:spPr>
          <a:xfrm>
            <a:off x="8942832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2" name="stat4_context"/>
          <p:cNvSpPr/>
          <p:nvPr>
            <p:ph idx="120" type="body" hasCustomPrompt="1"/>
          </p:nvPr>
        </p:nvSpPr>
        <p:spPr>
          <a:xfrm>
            <a:off x="8942832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3" name="chart_label"/>
          <p:cNvSpPr/>
          <p:nvPr>
            <p:ph idx="121" type="body" hasCustomPrompt="1"/>
          </p:nvPr>
        </p:nvSpPr>
        <p:spPr>
          <a:xfrm>
            <a:off x="548640" y="34930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4" name="chart"/>
          <p:cNvSpPr/>
          <p:nvPr>
            <p:ph idx="122" type="chart" hasCustomPrompt="1"/>
          </p:nvPr>
        </p:nvSpPr>
        <p:spPr>
          <a:xfrm>
            <a:off x="457200" y="3767328"/>
            <a:ext cx="11183112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ource"/>
          <p:cNvSpPr/>
          <p:nvPr>
            <p:ph idx="123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keaway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chart_label"/>
          <p:cNvSpPr/>
          <p:nvPr>
            <p:ph idx="105" type="body" hasCustomPrompt="1"/>
          </p:nvPr>
        </p:nvSpPr>
        <p:spPr>
          <a:xfrm>
            <a:off x="548640" y="1645920"/>
            <a:ext cx="749808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457200" y="1938528"/>
            <a:ext cx="758952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8275320" y="1645920"/>
            <a:ext cx="3364992" cy="3904488"/>
          </a:xfrm>
          <a:prstGeom prst="rect">
            <a:avLst/>
          </a:prstGeom>
          <a:solidFill>
            <a:srgbClr val="EDEBE4"/>
          </a:solidFill>
          <a:ln/>
        </p:spPr>
      </p:sp>
      <p:sp>
        <p:nvSpPr>
          <p:cNvPr id="10" name="Shape 4"/>
          <p:cNvSpPr/>
          <p:nvPr/>
        </p:nvSpPr>
        <p:spPr>
          <a:xfrm>
            <a:off x="8275320" y="1645920"/>
            <a:ext cx="3364992" cy="0"/>
          </a:xfrm>
          <a:prstGeom prst="line">
            <a:avLst/>
          </a:prstGeom>
          <a:noFill/>
          <a:ln w="38100">
            <a:solidFill>
              <a:srgbClr val="B9781A"/>
            </a:solidFill>
            <a:prstDash val="solid"/>
          </a:ln>
        </p:spPr>
      </p:sp>
      <p:sp>
        <p:nvSpPr>
          <p:cNvPr id="11" name="takeaway"/>
          <p:cNvSpPr/>
          <p:nvPr>
            <p:ph idx="109" type="body" hasCustomPrompt="1"/>
          </p:nvPr>
        </p:nvSpPr>
        <p:spPr>
          <a:xfrm>
            <a:off x="8412480" y="1783080"/>
            <a:ext cx="310896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harts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left_label"/>
          <p:cNvSpPr/>
          <p:nvPr>
            <p:ph idx="105" type="body" hasCustomPrompt="1"/>
          </p:nvPr>
        </p:nvSpPr>
        <p:spPr>
          <a:xfrm>
            <a:off x="548640" y="1645920"/>
            <a:ext cx="5486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left_chart"/>
          <p:cNvSpPr/>
          <p:nvPr>
            <p:ph idx="106" type="chart" hasCustomPrompt="1"/>
          </p:nvPr>
        </p:nvSpPr>
        <p:spPr>
          <a:xfrm>
            <a:off x="457200" y="1938528"/>
            <a:ext cx="5623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right_label"/>
          <p:cNvSpPr/>
          <p:nvPr>
            <p:ph idx="107" type="body" hasCustomPrompt="1"/>
          </p:nvPr>
        </p:nvSpPr>
        <p:spPr>
          <a:xfrm>
            <a:off x="6355080" y="1645920"/>
            <a:ext cx="53035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right_chart"/>
          <p:cNvSpPr/>
          <p:nvPr>
            <p:ph idx="108" type="chart" hasCustomPrompt="1"/>
          </p:nvPr>
        </p:nvSpPr>
        <p:spPr>
          <a:xfrm>
            <a:off x="6263640" y="1938528"/>
            <a:ext cx="537667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ble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chart_label"/>
          <p:cNvSpPr/>
          <p:nvPr>
            <p:ph idx="105" type="body" hasCustomPrompt="1"/>
          </p:nvPr>
        </p:nvSpPr>
        <p:spPr>
          <a:xfrm>
            <a:off x="548640" y="1645920"/>
            <a:ext cx="66751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457200" y="1938528"/>
            <a:ext cx="6766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table_label"/>
          <p:cNvSpPr/>
          <p:nvPr>
            <p:ph idx="107" type="body" hasCustomPrompt="1"/>
          </p:nvPr>
        </p:nvSpPr>
        <p:spPr>
          <a:xfrm>
            <a:off x="7498080" y="1645920"/>
            <a:ext cx="4114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table"/>
          <p:cNvSpPr/>
          <p:nvPr>
            <p:ph idx="108" type="body" hasCustomPrompt="1"/>
          </p:nvPr>
        </p:nvSpPr>
        <p:spPr>
          <a:xfrm>
            <a:off x="7498080" y="1938528"/>
            <a:ext cx="4142232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 pillars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4864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548640" y="2560320"/>
            <a:ext cx="3520440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sp>
        <p:nvSpPr>
          <p:cNvPr id="9" name="pillar1_head"/>
          <p:cNvSpPr/>
          <p:nvPr>
            <p:ph idx="107" type="body" hasCustomPrompt="1"/>
          </p:nvPr>
        </p:nvSpPr>
        <p:spPr>
          <a:xfrm>
            <a:off x="548640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0" name="pillar1_body"/>
          <p:cNvSpPr/>
          <p:nvPr>
            <p:ph idx="108" type="body" hasCustomPrompt="1"/>
          </p:nvPr>
        </p:nvSpPr>
        <p:spPr>
          <a:xfrm>
            <a:off x="548640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279392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Shape 6"/>
          <p:cNvSpPr/>
          <p:nvPr/>
        </p:nvSpPr>
        <p:spPr>
          <a:xfrm>
            <a:off x="4279392" y="2560320"/>
            <a:ext cx="3520440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sp>
        <p:nvSpPr>
          <p:cNvPr id="13" name="pillar2_head"/>
          <p:cNvSpPr/>
          <p:nvPr>
            <p:ph idx="111" type="body" hasCustomPrompt="1"/>
          </p:nvPr>
        </p:nvSpPr>
        <p:spPr>
          <a:xfrm>
            <a:off x="4279392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4" name="pillar2_body"/>
          <p:cNvSpPr/>
          <p:nvPr>
            <p:ph idx="112" type="body" hasCustomPrompt="1"/>
          </p:nvPr>
        </p:nvSpPr>
        <p:spPr>
          <a:xfrm>
            <a:off x="4279392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8010144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97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Shape 8"/>
          <p:cNvSpPr/>
          <p:nvPr/>
        </p:nvSpPr>
        <p:spPr>
          <a:xfrm>
            <a:off x="8010144" y="2560320"/>
            <a:ext cx="3520440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sp>
        <p:nvSpPr>
          <p:cNvPr id="17" name="pillar3_head"/>
          <p:cNvSpPr/>
          <p:nvPr>
            <p:ph idx="115" type="body" hasCustomPrompt="1"/>
          </p:nvPr>
        </p:nvSpPr>
        <p:spPr>
          <a:xfrm>
            <a:off x="8010144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8" name="pillar3_body"/>
          <p:cNvSpPr/>
          <p:nvPr>
            <p:ph idx="116" type="body" hasCustomPrompt="1"/>
          </p:nvPr>
        </p:nvSpPr>
        <p:spPr>
          <a:xfrm>
            <a:off x="8010144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tep1_when"/>
          <p:cNvSpPr/>
          <p:nvPr>
            <p:ph idx="105" type="body" hasCustomPrompt="1"/>
          </p:nvPr>
        </p:nvSpPr>
        <p:spPr>
          <a:xfrm>
            <a:off x="54864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8" name="step1_head"/>
          <p:cNvSpPr/>
          <p:nvPr>
            <p:ph idx="106" type="body" hasCustomPrompt="1"/>
          </p:nvPr>
        </p:nvSpPr>
        <p:spPr>
          <a:xfrm>
            <a:off x="54864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9" name="step1_body"/>
          <p:cNvSpPr/>
          <p:nvPr>
            <p:ph idx="107" type="body" hasCustomPrompt="1"/>
          </p:nvPr>
        </p:nvSpPr>
        <p:spPr>
          <a:xfrm>
            <a:off x="54864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0" name="step2_when"/>
          <p:cNvSpPr/>
          <p:nvPr>
            <p:ph idx="108" type="body" hasCustomPrompt="1"/>
          </p:nvPr>
        </p:nvSpPr>
        <p:spPr>
          <a:xfrm>
            <a:off x="278892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1" name="step2_head"/>
          <p:cNvSpPr/>
          <p:nvPr>
            <p:ph idx="109" type="body" hasCustomPrompt="1"/>
          </p:nvPr>
        </p:nvSpPr>
        <p:spPr>
          <a:xfrm>
            <a:off x="278892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2" name="step2_body"/>
          <p:cNvSpPr/>
          <p:nvPr>
            <p:ph idx="110" type="body" hasCustomPrompt="1"/>
          </p:nvPr>
        </p:nvSpPr>
        <p:spPr>
          <a:xfrm>
            <a:off x="278892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3" name="step3_when"/>
          <p:cNvSpPr/>
          <p:nvPr>
            <p:ph idx="111" type="body" hasCustomPrompt="1"/>
          </p:nvPr>
        </p:nvSpPr>
        <p:spPr>
          <a:xfrm>
            <a:off x="502920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4" name="step3_head"/>
          <p:cNvSpPr/>
          <p:nvPr>
            <p:ph idx="112" type="body" hasCustomPrompt="1"/>
          </p:nvPr>
        </p:nvSpPr>
        <p:spPr>
          <a:xfrm>
            <a:off x="502920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5" name="step3_body"/>
          <p:cNvSpPr/>
          <p:nvPr>
            <p:ph idx="113" type="body" hasCustomPrompt="1"/>
          </p:nvPr>
        </p:nvSpPr>
        <p:spPr>
          <a:xfrm>
            <a:off x="502920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6" name="step4_when"/>
          <p:cNvSpPr/>
          <p:nvPr>
            <p:ph idx="114" type="body" hasCustomPrompt="1"/>
          </p:nvPr>
        </p:nvSpPr>
        <p:spPr>
          <a:xfrm>
            <a:off x="726948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7" name="step4_head"/>
          <p:cNvSpPr/>
          <p:nvPr>
            <p:ph idx="115" type="body" hasCustomPrompt="1"/>
          </p:nvPr>
        </p:nvSpPr>
        <p:spPr>
          <a:xfrm>
            <a:off x="726948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8" name="step4_body"/>
          <p:cNvSpPr/>
          <p:nvPr>
            <p:ph idx="116" type="body" hasCustomPrompt="1"/>
          </p:nvPr>
        </p:nvSpPr>
        <p:spPr>
          <a:xfrm>
            <a:off x="726948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9" name="step5_when"/>
          <p:cNvSpPr/>
          <p:nvPr>
            <p:ph idx="117" type="body" hasCustomPrompt="1"/>
          </p:nvPr>
        </p:nvSpPr>
        <p:spPr>
          <a:xfrm>
            <a:off x="950976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0" name="step5_head"/>
          <p:cNvSpPr/>
          <p:nvPr>
            <p:ph idx="118" type="body" hasCustomPrompt="1"/>
          </p:nvPr>
        </p:nvSpPr>
        <p:spPr>
          <a:xfrm>
            <a:off x="950976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1" name="step5_body"/>
          <p:cNvSpPr/>
          <p:nvPr>
            <p:ph idx="119" type="body" hasCustomPrompt="1"/>
          </p:nvPr>
        </p:nvSpPr>
        <p:spPr>
          <a:xfrm>
            <a:off x="950976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nal cards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548640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8" name="card1"/>
          <p:cNvSpPr/>
          <p:nvPr>
            <p:ph idx="106" type="body" hasCustomPrompt="1"/>
          </p:nvPr>
        </p:nvSpPr>
        <p:spPr>
          <a:xfrm>
            <a:off x="676656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279392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0" name="card2"/>
          <p:cNvSpPr/>
          <p:nvPr>
            <p:ph idx="108" type="body" hasCustomPrompt="1"/>
          </p:nvPr>
        </p:nvSpPr>
        <p:spPr>
          <a:xfrm>
            <a:off x="4407408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Shape 5"/>
          <p:cNvSpPr/>
          <p:nvPr/>
        </p:nvSpPr>
        <p:spPr>
          <a:xfrm>
            <a:off x="8010144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2" name="card3"/>
          <p:cNvSpPr/>
          <p:nvPr>
            <p:ph idx="110" type="body" hasCustomPrompt="1"/>
          </p:nvPr>
        </p:nvSpPr>
        <p:spPr>
          <a:xfrm>
            <a:off x="8138160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3" name="Shape 6"/>
          <p:cNvSpPr/>
          <p:nvPr/>
        </p:nvSpPr>
        <p:spPr>
          <a:xfrm>
            <a:off x="548640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4" name="card4"/>
          <p:cNvSpPr/>
          <p:nvPr>
            <p:ph idx="112" type="body" hasCustomPrompt="1"/>
          </p:nvPr>
        </p:nvSpPr>
        <p:spPr>
          <a:xfrm>
            <a:off x="676656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Shape 7"/>
          <p:cNvSpPr/>
          <p:nvPr/>
        </p:nvSpPr>
        <p:spPr>
          <a:xfrm>
            <a:off x="4279392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6" name="card5"/>
          <p:cNvSpPr/>
          <p:nvPr>
            <p:ph idx="114" type="body" hasCustomPrompt="1"/>
          </p:nvPr>
        </p:nvSpPr>
        <p:spPr>
          <a:xfrm>
            <a:off x="4407408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7" name="Shape 8"/>
          <p:cNvSpPr/>
          <p:nvPr/>
        </p:nvSpPr>
        <p:spPr>
          <a:xfrm>
            <a:off x="8010144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</p:sp>
      <p:sp>
        <p:nvSpPr>
          <p:cNvPr id="18" name="card6"/>
          <p:cNvSpPr/>
          <p:nvPr>
            <p:ph idx="116" type="body" hasCustomPrompt="1"/>
          </p:nvPr>
        </p:nvSpPr>
        <p:spPr>
          <a:xfrm>
            <a:off x="8138160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9" name="talk"/>
          <p:cNvSpPr/>
          <p:nvPr>
            <p:ph idx="117" type="body" hasCustomPrompt="1"/>
          </p:nvPr>
        </p:nvSpPr>
        <p:spPr>
          <a:xfrm>
            <a:off x="548640" y="5513832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s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body"/>
          <p:cNvSpPr/>
          <p:nvPr>
            <p:ph idx="105" type="body" hasCustomPrompt="1"/>
          </p:nvPr>
        </p:nvSpPr>
        <p:spPr>
          <a:xfrm>
            <a:off x="548640" y="1645920"/>
            <a:ext cx="1106424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9781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9D6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3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 wrap="square"/>
          <a:lstStyle/>
          <a:p>
            <a:r>
              <a:rPr/>
              <a:t>LONDON OFFICE MARKET  ·  11 OCT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 wrap="square"/>
          <a:lstStyle/>
          <a:p>
            <a:r>
              <a:rPr/>
              <a:t>London office team: weekly brief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 wrap="square"/>
          <a:lstStyle/>
          <a:p>
            <a:r>
              <a:rPr/>
              <a:t>Team brief  ·  figures to Q2 2026  ·  11 Oct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 wrap="square"/>
          <a:lstStyle/>
          <a:p>
            <a:r>
              <a:rPr/>
              <a:t>Central London vacancy fell to 8.0% in Q2 2026 from 8.5% in Q1 2026, with take-up of 3.10m sq ft, 11% above the long-term average, and active requirements up to 14.30m sq ft.</a:t>
            </a:r>
          </a:p>
          <a:p>
            <a:r>
              <a:rPr/>
              <a:t>Investment was £2.00bn in Q2 2026 against £1.90bn in Q1 2026, 36% below the long-term average.</a:t>
            </a:r>
          </a:p>
          <a:p>
            <a:r>
              <a:rPr/>
              <a:t>To watch: City &amp; Southbank investment volume -77% vs long-term average.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5"/>
          </p:nvPr>
        </p:nvSpPr>
        <p:spPr/>
        <p:txBody>
          <a:bodyPr wrap="square"/>
          <a:lstStyle/>
          <a:p>
            <a:r>
              <a:rPr sz="900" b="1">
                <a:solidFill>
                  <a:srgbClr val="C9D1DE"/>
                </a:solidFill>
              </a:rPr>
              <a:t>VACANCY RATE · Q2 2026</a:t>
            </a:r>
          </a:p>
          <a:p>
            <a:r>
              <a:rPr sz="3000" b="1">
                <a:solidFill>
                  <a:srgbClr val="FFFFFF"/>
                </a:solidFill>
                <a:latin typeface="Cambria"/>
              </a:rPr>
              <a:t>8.0%</a:t>
            </a:r>
            <a:r>
              <a:rPr sz="1000">
                <a:solidFill>
                  <a:srgbClr val="C9D1DE"/>
                </a:solidFill>
              </a:rPr>
              <a:t/>
            </a:r>
            <a:r>
              <a:rPr sz="1000">
                <a:solidFill>
                  <a:srgbClr val="C9D1DE"/>
                </a:solidFill>
              </a:rPr>
              <a:t> [1]</a:t>
            </a:r>
          </a:p>
          <a:p>
            <a:r>
              <a:rPr sz="1000">
                <a:solidFill>
                  <a:srgbClr val="C9D1DE"/>
                </a:solidFill>
              </a:rPr>
              <a:t>−0.50pp vs Q1 2026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7"/>
          </p:nvPr>
        </p:nvSpPr>
        <p:spPr/>
        <p:txBody>
          <a:bodyPr wrap="square"/>
          <a:lstStyle/>
          <a:p>
            <a:r>
              <a:rPr sz="900" b="1">
                <a:solidFill>
                  <a:srgbClr val="C9D1DE"/>
                </a:solidFill>
              </a:rPr>
              <a:t>TAKE-UP · Q2 2026</a:t>
            </a:r>
          </a:p>
          <a:p>
            <a:r>
              <a:rPr sz="3000" b="1">
                <a:solidFill>
                  <a:srgbClr val="FFFFFF"/>
                </a:solidFill>
                <a:latin typeface="Cambria"/>
              </a:rPr>
              <a:t>3.10m sq ft</a:t>
            </a:r>
            <a:r>
              <a:rPr sz="1000">
                <a:solidFill>
                  <a:srgbClr val="C9D1DE"/>
                </a:solidFill>
              </a:rPr>
              <a:t/>
            </a:r>
            <a:r>
              <a:rPr sz="1000">
                <a:solidFill>
                  <a:srgbClr val="C9D1DE"/>
                </a:solidFill>
              </a:rPr>
              <a:t> [1]</a:t>
            </a:r>
          </a:p>
          <a:p>
            <a:r>
              <a:rPr sz="1000">
                <a:solidFill>
                  <a:srgbClr val="C9D1DE"/>
                </a:solidFill>
              </a:rPr>
              <a:t>+0.60 vs Q1 2026 · +11% vs LTA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9"/>
          </p:nvPr>
        </p:nvSpPr>
        <p:spPr/>
        <p:txBody>
          <a:bodyPr wrap="square"/>
          <a:lstStyle/>
          <a:p>
            <a:r>
              <a:rPr sz="900" b="1">
                <a:solidFill>
                  <a:srgbClr val="C9D1DE"/>
                </a:solidFill>
              </a:rPr>
              <a:t>INVESTMENT VOLUME · Q2 2026</a:t>
            </a:r>
          </a:p>
          <a:p>
            <a:r>
              <a:rPr sz="3000" b="1">
                <a:solidFill>
                  <a:srgbClr val="FFFFFF"/>
                </a:solidFill>
                <a:latin typeface="Cambria"/>
              </a:rPr>
              <a:t>£2.00bn</a:t>
            </a:r>
            <a:r>
              <a:rPr sz="1000">
                <a:solidFill>
                  <a:srgbClr val="C9D1DE"/>
                </a:solidFill>
              </a:rPr>
              <a:t/>
            </a:r>
            <a:r>
              <a:rPr sz="1000">
                <a:solidFill>
                  <a:srgbClr val="C9D1DE"/>
                </a:solidFill>
              </a:rPr>
              <a:t> [1]</a:t>
            </a:r>
          </a:p>
          <a:p>
            <a:r>
              <a:rPr sz="1000">
                <a:solidFill>
                  <a:srgbClr val="C9D1DE"/>
                </a:solidFill>
              </a:rPr>
              <a:t>+0.10 vs Q1 2026 · -36% vs LTA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11"/>
          </p:nvPr>
        </p:nvSpPr>
        <p:spPr/>
        <p:txBody>
          <a:bodyPr wrap="square"/>
          <a:lstStyle/>
          <a:p>
            <a:r>
              <a:rPr sz="900" b="1">
                <a:solidFill>
                  <a:srgbClr val="C9D1DE"/>
                </a:solidFill>
              </a:rPr>
              <a:t>BANK RATE</a:t>
            </a:r>
          </a:p>
          <a:p>
            <a:r>
              <a:rPr sz="3000" b="1">
                <a:solidFill>
                  <a:srgbClr val="FFFFFF"/>
                </a:solidFill>
                <a:latin typeface="Cambria"/>
              </a:rPr>
              <a:t>3.75%</a:t>
            </a:r>
            <a:r>
              <a:rPr sz="1000">
                <a:solidFill>
                  <a:srgbClr val="C9D1DE"/>
                </a:solidFill>
              </a:rPr>
              <a:t/>
            </a:r>
            <a:r>
              <a:rPr sz="1000">
                <a:solidFill>
                  <a:srgbClr val="C9D1DE"/>
                </a:solidFill>
              </a:rPr>
              <a:t> [2]</a:t>
            </a:r>
          </a:p>
          <a:p>
            <a:r>
              <a:rPr sz="1000">
                <a:solidFill>
                  <a:srgbClr val="C9D1DE"/>
                </a:solidFill>
              </a:rPr>
              <a:t>as of 2026-06-18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12"/>
          </p:nvPr>
        </p:nvSpPr>
        <p:spPr/>
        <p:txBody>
          <a:bodyPr wrap="square"/>
          <a:lstStyle/>
          <a:p>
            <a:r>
              <a:rPr/>
              <a:t>Figures restated from public research for this proof of concept (Knight Frank terms bar AI use of their data); verify against the original before external use.</a:t>
            </a:r>
          </a:p>
        </p:txBody>
      </p:sp>
      <p:pic>
        <p:nvPicPr>
          <p:cNvPr id="11" name="co-brand" descr="cobrand-nanfung-on-dark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7914" y="347472"/>
            <a:ext cx="3203734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 wrap="square"/>
          <a:lstStyle/>
          <a:p>
            <a:r>
              <a:rPr/>
              <a:t>02  ·  OCCUPIERS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rPr/>
              <a:t>Vacancy fell to 8.0%; take-up 11% above average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 wrap="square"/>
          <a:lstStyle/>
          <a:p>
            <a:r>
              <a:rPr/>
              <a:t>CENTRAL LONDON VACANCY RATE</a:t>
            </a:r>
          </a:p>
        </p:txBody>
      </p:sp>
      <p:graphicFrame>
        <p:nvGraphicFramePr>
          <p:cNvPr id="5" name="Chart Placeholder 4"/>
          <p:cNvGraphicFramePr>
            <a:graphicFrameLocks noGrp="1"/>
          </p:cNvGraphicFramePr>
          <p:nvPr>
            <p:ph type="chart" idx="106"/>
          </p:nvPr>
        </p:nvGraphicFramePr>
        <p:xfrm>
          <a:off x="457200" y="1938528"/>
          <a:ext cx="562356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07"/>
          </p:nvPr>
        </p:nvSpPr>
        <p:spPr/>
        <p:txBody>
          <a:bodyPr wrap="square"/>
          <a:lstStyle/>
          <a:p>
            <a:r>
              <a:rPr/>
              <a:t>TAKE-UP, M SQ FT · LONG-TERM AVERAGE 2.80</a:t>
            </a:r>
          </a:p>
        </p:txBody>
      </p:sp>
      <p:graphicFrame>
        <p:nvGraphicFramePr>
          <p:cNvPr id="7" name="Chart Placeholder 6"/>
          <p:cNvGraphicFramePr>
            <a:graphicFrameLocks noGrp="1"/>
          </p:cNvGraphicFramePr>
          <p:nvPr>
            <p:ph type="chart" idx="108"/>
          </p:nvPr>
        </p:nvGraphicFramePr>
        <p:xfrm>
          <a:off x="6263640" y="1938528"/>
          <a:ext cx="5376672" cy="3611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idx="109"/>
          </p:nvPr>
        </p:nvSpPr>
        <p:spPr/>
        <p:txBody>
          <a:bodyPr wrap="square"/>
          <a:lstStyle/>
          <a:p>
            <a:r>
              <a:rPr/>
              <a:t>Source [1]. Quarters with no figures in the library are not shown.</a:t>
            </a:r>
          </a:p>
        </p:txBody>
      </p:sp>
      <p:pic>
        <p:nvPicPr>
          <p:cNvPr id="9" name="app icon" descr="app-icon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6455664"/>
            <a:ext cx="274320" cy="274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641848"/>
            <a:ext cx="1109167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/>
            <a:r>
              <a:rPr sz="900" b="1">
                <a:solidFill>
                  <a:srgbClr val="B9781A"/>
                </a:solidFill>
              </a:rPr>
              <a:t>SO WHAT    </a:t>
            </a:r>
            <a:r>
              <a:rPr sz="1200" i="1">
                <a:solidFill>
                  <a:srgbClr val="FFFFFF"/>
                </a:solidFill>
              </a:rPr>
              <a:t>Active requirements are up to 14.30m sq ft: demand is still building.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385"/>
                </a:solidFill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 wrap="square"/>
          <a:lstStyle/>
          <a:p>
            <a:r>
              <a:rPr/>
              <a:t>03  ·  MARKET EVIDENCE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rPr/>
              <a:t>Market evidence for the team's submarkets</a:t>
            </a:r>
          </a:p>
        </p:txBody>
      </p:sp>
      <p:pic>
        <p:nvPicPr>
          <p:cNvPr id="4" name="app icon" descr="app-icon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6455664"/>
            <a:ext cx="274320" cy="2743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10"/>
              </a:tblGrid>
              <a:tr h="38404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SUBMARKET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PRIME RENT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RENT-FREE (10-YR LEASE)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VACANCY RATE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NEW/REFURB (GRADE A) VACANCY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PRIME YIELD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INVESTMENT VOLUME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West 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£185.00/sq ft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21 months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7.0%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5.3%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3.8%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£0.91bn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City &amp; Southbank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£102.50/sq ft [1]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24 months [1]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8.1% [1]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6.2% [1]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5.2% [1]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£0.37bn [1]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Docklands &amp; Stratford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£62.50/sq ft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28.5 months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10.7%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7.5%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7.5%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£0.75bn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385"/>
                </a:solidFill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 wrap="square"/>
          <a:lstStyle/>
          <a:p>
            <a:r>
              <a:rPr/>
              <a:t>04  ·  CAPITAL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rPr/>
              <a:t>Investment £2.00bn in Q2 2026, 36% below the long-term average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/>
        <p:txBody>
          <a:bodyPr wrap="square"/>
          <a:lstStyle/>
          <a:p>
            <a:r>
              <a:rPr/>
              <a:t>INVESTMENT, £BN, Q2 2026 VS LONG-TERM AVERAGE</a:t>
            </a:r>
          </a:p>
        </p:txBody>
      </p:sp>
      <p:graphicFrame>
        <p:nvGraphicFramePr>
          <p:cNvPr id="5" name="Chart Placeholder 4"/>
          <p:cNvGraphicFramePr>
            <a:graphicFrameLocks noGrp="1"/>
          </p:cNvGraphicFramePr>
          <p:nvPr>
            <p:ph type="chart" idx="106"/>
          </p:nvPr>
        </p:nvGraphicFramePr>
        <p:xfrm>
          <a:off x="457200" y="1938528"/>
          <a:ext cx="676656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07"/>
          </p:nvPr>
        </p:nvSpPr>
        <p:spPr/>
        <p:txBody>
          <a:bodyPr wrap="square"/>
          <a:lstStyle/>
          <a:p>
            <a:r>
              <a:rPr/>
              <a:t>PRICING AND RATES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09"/>
          </p:nvPr>
        </p:nvSpPr>
        <p:spPr/>
        <p:txBody>
          <a:bodyPr wrap="square"/>
          <a:lstStyle/>
          <a:p>
            <a:r>
              <a:rPr/>
              <a:t>London total £2.00bn [1]. Yields are the publisher's prime yields.</a:t>
            </a:r>
          </a:p>
        </p:txBody>
      </p:sp>
      <p:pic>
        <p:nvPicPr>
          <p:cNvPr id="9" name="app icon" descr="app-icon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6455664"/>
            <a:ext cx="274320" cy="27432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98080" y="1938528"/>
          <a:ext cx="414223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1216152"/>
              </a:tblGrid>
              <a:tr h="38404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PRIME YIELD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LATEST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West 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3.8%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±0.00pp vs Q1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City &amp; Southbank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5.2% [1]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±0.00pp vs Q1 2026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Docklands &amp; Stratford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7.5%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±0.00pp vs Q1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Bank Rate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3.75% [2]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44"/>
                          </a:solidFill>
                        </a:rPr>
                        <a:t>as of 2026-06-18</a:t>
                      </a:r>
                    </a:p>
                  </a:txBody>
                  <a:tcPr>
                    <a:solidFill>
                      <a:srgbClr val="EDEBE4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5641848"/>
            <a:ext cx="1109167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/>
            <a:r>
              <a:rPr sz="900" b="1">
                <a:solidFill>
                  <a:srgbClr val="B9781A"/>
                </a:solidFill>
              </a:rPr>
              <a:t>SO WHAT    </a:t>
            </a:r>
            <a:r>
              <a:rPr sz="1200" i="1">
                <a:solidFill>
                  <a:srgbClr val="FFFFFF"/>
                </a:solidFill>
              </a:rPr>
              <a:t>City &amp; Southbank is 77% below its long-term average: little fresh pricing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385"/>
                </a:solidFill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 wrap="square"/>
          <a:lstStyle/>
          <a:p>
            <a:r>
              <a:rPr/>
              <a:t>05  ·  WHAT CHANGED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rPr/>
              <a:t>What supports the case, and what puts it at risk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 wrap="square"/>
          <a:lstStyle/>
          <a:p>
            <a:r>
              <a:rPr sz="900" b="1">
                <a:solidFill>
                  <a:srgbClr val="2E7D4F"/>
                </a:solidFill>
              </a:rPr>
              <a:t>▲ SUPPORTS THE CASE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F2A44"/>
                </a:solidFill>
                <a:latin typeface="Cambria"/>
              </a:rPr>
              <a:t>White City: Grade A vacancy 11.5% against 17.9% overall, gap widening</a:t>
            </a:r>
          </a:p>
          <a:p>
            <a:r>
              <a:rPr sz="900"/>
              <a:t>New and refurbished space in White City is 11.5% vacant against 17.9% for all space in Q2 2026, a gap of 6.4pp (from 5.0pp the quarter before). [1]</a:t>
            </a:r>
          </a:p>
          <a:p>
            <a:r>
              <a:rPr sz="900" i="1">
                <a:solidFill>
                  <a:srgbClr val="6B7385"/>
                </a:solidFill>
              </a:rPr>
              <a:t>Occupiers are concentrating on the best space: Grade A buildings let first while second-hand space waits. Supports Grade A rents and the case for refurbishment; raises the risk on older stock.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8"/>
          </p:nvPr>
        </p:nvSpPr>
        <p:spPr/>
        <p:txBody>
          <a:bodyPr wrap="square"/>
          <a:lstStyle/>
          <a:p>
            <a:r>
              <a:rPr sz="900" b="1">
                <a:solidFill>
                  <a:srgbClr val="2E7D4F"/>
                </a:solidFill>
              </a:rPr>
              <a:t>▲ SUPPORTS THE CASE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F2A44"/>
                </a:solidFill>
                <a:latin typeface="Cambria"/>
              </a:rPr>
              <a:t>Docklands &amp; Stratford investment volume +525% vs long-term average</a:t>
            </a:r>
          </a:p>
          <a:p>
            <a:r>
              <a:rPr sz="900"/>
              <a:t>Investment volume in Docklands &amp; Stratford was £0.75bn in Q2 2026 against a long-term average of £0.12bn. [1]</a:t>
            </a:r>
          </a:p>
          <a:p>
            <a:r>
              <a:rPr sz="900" i="1">
                <a:solidFill>
                  <a:srgbClr val="6B7385"/>
                </a:solidFill>
              </a:rPr>
              <a:t>Investment is above trend: more pricing evidence and better liquidity.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0"/>
          </p:nvPr>
        </p:nvSpPr>
        <p:spPr/>
        <p:txBody>
          <a:bodyPr wrap="square"/>
          <a:lstStyle/>
          <a:p>
            <a:r>
              <a:rPr sz="900" b="1">
                <a:solidFill>
                  <a:srgbClr val="2E7D4F"/>
                </a:solidFill>
              </a:rPr>
              <a:t>▲ SUPPORTS THE CASE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F2A44"/>
                </a:solidFill>
                <a:latin typeface="Cambria"/>
              </a:rPr>
              <a:t>Bloomsbury prime rent up +6.1%</a:t>
            </a:r>
          </a:p>
          <a:p>
            <a:r>
              <a:rPr sz="900"/>
              <a:t>Prime rent in Bloomsbury: £87.50/sq ft in Q2 2026, from £82.50/sq ft in Q4 2025 (+6.1%). [1]</a:t>
            </a:r>
          </a:p>
          <a:p>
            <a:r>
              <a:rPr sz="900" i="1">
                <a:solidFill>
                  <a:srgbClr val="6B7385"/>
                </a:solidFill>
              </a:rPr>
              <a:t>Prime rents are rising: supports valuations and stronger terms on new leases and renewals.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2"/>
          </p:nvPr>
        </p:nvSpPr>
        <p:spPr/>
        <p:txBody>
          <a:bodyPr wrap="square"/>
          <a:lstStyle/>
          <a:p>
            <a:r>
              <a:rPr sz="900" b="1">
                <a:solidFill>
                  <a:srgbClr val="A8322A"/>
                </a:solidFill>
              </a:rPr>
              <a:t>▼ RISKS TO THE CASE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F2A44"/>
                </a:solidFill>
                <a:latin typeface="Cambria"/>
              </a:rPr>
              <a:t>City &amp; Southbank investment volume -77% vs long-term average</a:t>
            </a:r>
          </a:p>
          <a:p>
            <a:r>
              <a:rPr sz="900"/>
              <a:t>Investment volume in City &amp; Southbank was £0.37bn in Q2 2026 against a long-term average of £1.60bn. [1]</a:t>
            </a:r>
          </a:p>
          <a:p>
            <a:r>
              <a:rPr sz="900" i="1">
                <a:solidFill>
                  <a:srgbClr val="6B7385"/>
                </a:solidFill>
              </a:rPr>
              <a:t>Investment is well below trend: thin liquidity and little pricing evidence.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14"/>
          </p:nvPr>
        </p:nvSpPr>
        <p:spPr/>
        <p:txBody>
          <a:bodyPr wrap="square"/>
          <a:lstStyle/>
          <a:p>
            <a:r>
              <a:rPr sz="900" b="1">
                <a:solidFill>
                  <a:srgbClr val="A8322A"/>
                </a:solidFill>
              </a:rPr>
              <a:t>▼ RISKS TO THE CASE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F2A44"/>
                </a:solidFill>
                <a:latin typeface="Cambria"/>
              </a:rPr>
              <a:t>540,000 sq ft speculative scheme due Q4 2026 in City Core</a:t>
            </a:r>
          </a:p>
          <a:p>
            <a:r>
              <a:rPr sz="900"/>
              <a:t>81 Newgate Street (Panorama St Paul's), EC1 (540,000 sq ft) is under construction without a pre-let and is expected to complete in Q4 2026. [10]</a:t>
            </a:r>
          </a:p>
          <a:p>
            <a:r>
              <a:rPr sz="900" i="1">
                <a:solidFill>
                  <a:srgbClr val="6B7385"/>
                </a:solidFill>
              </a:rPr>
              <a:t>New speculative space will compete for tenants with existing buildings nearby.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16"/>
          </p:nvPr>
        </p:nvSpPr>
        <p:spPr/>
        <p:txBody>
          <a:bodyPr wrap="square"/>
          <a:lstStyle/>
          <a:p>
            <a:r>
              <a:rPr sz="900" b="1">
                <a:solidFill>
                  <a:srgbClr val="A8322A"/>
                </a:solidFill>
              </a:rPr>
              <a:t>▼ RISKS TO THE CASE</a:t>
            </a:r>
            <a:r>
              <a:rPr sz="900">
                <a:solidFill>
                  <a:srgbClr val="B4452E"/>
                </a:solidFill>
              </a:rPr>
              <a:t/>
            </a:r>
          </a:p>
          <a:p>
            <a:r>
              <a:rPr sz="1200" b="1">
                <a:solidFill>
                  <a:srgbClr val="1F2A44"/>
                </a:solidFill>
                <a:latin typeface="Cambria"/>
              </a:rPr>
              <a:t>400,000 sq ft speculative scheme due Q4 2027 in Victoria</a:t>
            </a:r>
          </a:p>
          <a:p>
            <a:r>
              <a:rPr sz="900"/>
              <a:t>Portland House, SW1 (400,000 sq ft) is under construction without a pre-let and is expected to complete in Q4 2027. [10]</a:t>
            </a:r>
          </a:p>
          <a:p>
            <a:r>
              <a:rPr sz="900" i="1">
                <a:solidFill>
                  <a:srgbClr val="6B7385"/>
                </a:solidFill>
              </a:rPr>
              <a:t>New speculative space will compete for tenants with existing buildings nearby.</a:t>
            </a:r>
          </a:p>
        </p:txBody>
      </p:sp>
      <p:pic>
        <p:nvPicPr>
          <p:cNvPr id="11" name="app icon" descr="app-icon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6455664"/>
            <a:ext cx="274320" cy="274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645920"/>
            <a:ext cx="3611880" cy="457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645920"/>
            <a:ext cx="3611880" cy="457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645920"/>
            <a:ext cx="3611880" cy="457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47872"/>
            <a:ext cx="3611880" cy="45720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3547872"/>
            <a:ext cx="3611880" cy="45720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3547872"/>
            <a:ext cx="3611880" cy="45720"/>
          </a:xfrm>
          <a:prstGeom prst="rect">
            <a:avLst/>
          </a:prstGeom>
          <a:solidFill>
            <a:srgbClr val="A8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385"/>
                </a:solidFill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 wrap="square"/>
          <a:lstStyle/>
          <a:p>
            <a:r>
              <a:rPr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 wrap="square"/>
          <a:lstStyle/>
          <a:p>
            <a:r>
              <a:rPr/>
              <a:t>Sources and caveats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5"/>
          </p:nvPr>
        </p:nvSpPr>
        <p:spPr>
          <a:xfrm>
            <a:off x="548640" y="1645920"/>
            <a:ext cx="11064240" cy="4389120"/>
          </a:xfrm>
        </p:spPr>
        <p:txBody>
          <a:bodyPr wrap="square"/>
          <a:lstStyle/>
          <a:p>
            <a:r>
              <a:rPr/>
              <a:t>[1] London Offices Spotlight Q2 2026 (Uploaded by PoC seed · 2026-10-11) - https://www.knightfrank.co.uk/site-assets/research/report-pdfs/london-office-spotlight/spotlight-q2-2026.pdf</a:t>
            </a:r>
          </a:p>
          <a:p>
            <a:r>
              <a:rPr/>
              <a:t>[2] Bank of England Bank Rate - https://www.bankofengland.co.uk/boeapps/database/Bank-Rate.asp</a:t>
            </a:r>
          </a:p>
          <a:p>
            <a:r>
              <a:rPr/>
              <a:t>[3] The London Office Market Report Q1 2024 (Uploaded by PoC seed · 2026-10-11) - https://content.knightfrank.com/research/104/documents/en/the-london-office-market-report-q1-2024-11170.pdf</a:t>
            </a:r>
          </a:p>
          <a:p>
            <a:r>
              <a:rPr/>
              <a:t>[4] London Offices Spotlight Q2 2024 (Uploaded by PoC seed · 2026-10-11) - https://content.knightfrank.com/research/1903/documents/en/london-offices-spotlight-q2-2024-11338.pdf</a:t>
            </a:r>
          </a:p>
          <a:p>
            <a:r>
              <a:rPr/>
              <a:t>[5] The London Office Market Report Q3 2024 (Uploaded by PoC seed · 2026-10-11) - https://www.knightfrank.co.uk/research/reports/the-london-office-market-report-104/contentassets/the-london-office-market-report-q3-2024-11701.pdf</a:t>
            </a:r>
          </a:p>
          <a:p>
            <a:r>
              <a:rPr/>
              <a:t>[6] The London Office Market Report Q2 2025 (Uploaded by PoC seed · 2026-10-11) - https://content.knightfrank.com/research/104/documents/en/the-london-office-market-report-q2-2025-12541.pdf</a:t>
            </a:r>
          </a:p>
          <a:p>
            <a:r>
              <a:rPr/>
              <a:t>[7] London Offices Spotlight Q3 2025 (Uploaded by PoC seed · 2026-10-11) - https://content.knightfrank.com/research/1903/documents/en/london-offices-spotlight-q3-2025-12540.pdf</a:t>
            </a:r>
          </a:p>
          <a:p>
            <a:r>
              <a:rPr/>
              <a:t>[8] London Offices Spotlight Q4 2025 (Uploaded by PoC seed · 2026-10-11) - https://www.knightfrank.co.uk/site-assets/research/report-pdfs/spotlight/spotlight-q4-2025-2.pdf</a:t>
            </a:r>
          </a:p>
          <a:p>
            <a:r>
              <a:rPr/>
              <a:t>[9] London Offices Spotlight Q1 2026 (Uploaded by PoC seed · 2026-10-11) - https://www.knightfrank.co.uk/site-assets/research/report-pdfs/london-office-spotlight/spotlight-q1-2026v3.pdf</a:t>
            </a:r>
          </a:p>
          <a:p>
            <a:r>
              <a:rPr/>
              <a:t>[10] London office schemes under construction: public developer, agent and planning announcements, restated (Uploaded by PoC seed · 2026-10-11) - https://www.cityoflondon.gov.uk/services/planning</a:t>
            </a:r>
          </a:p>
          <a:p>
            <a:r>
              <a:rPr/>
              <a:t/>
            </a:r>
          </a:p>
          <a:p>
            <a:r>
              <a:rPr i="1">
                <a:solidFill>
                  <a:srgbClr val="6B7385"/>
                </a:solidFill>
              </a:rPr>
              <a:t>Figures restated from public research for this proof of concept (Knight Frank terms bar AI use of their data); verify against the original before external use.</a:t>
            </a:r>
          </a:p>
        </p:txBody>
      </p:sp>
      <p:pic>
        <p:nvPicPr>
          <p:cNvPr id="5" name="app icon" descr="app-icon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6455664"/>
            <a:ext cx="274320" cy="274320"/>
          </a:xfrm>
          <a:prstGeom prst="rect">
            <a:avLst/>
          </a:prstGeom>
        </p:spPr>
      </p:pic>
      <p:sp>
        <p:nvSpPr>
          <p:cNvPr id="6" name="tier dot open"/>
          <p:cNvSpPr/>
          <p:nvPr/>
        </p:nvSpPr>
        <p:spPr>
          <a:xfrm>
            <a:off x="548640" y="6227064"/>
            <a:ext cx="88900" cy="88900"/>
          </a:xfrm>
          <a:prstGeom prst="ellipse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5640" y="6144768"/>
            <a:ext cx="2138679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>
                <a:solidFill>
                  <a:srgbClr val="6B7385"/>
                </a:solidFill>
              </a:rPr>
              <a:t>Open data, collected automatically</a:t>
            </a:r>
          </a:p>
        </p:txBody>
      </p:sp>
      <p:sp>
        <p:nvSpPr>
          <p:cNvPr id="8" name="tier dot uploaded"/>
          <p:cNvSpPr/>
          <p:nvPr/>
        </p:nvSpPr>
        <p:spPr>
          <a:xfrm>
            <a:off x="2997199" y="6227064"/>
            <a:ext cx="88900" cy="88900"/>
          </a:xfrm>
          <a:prstGeom prst="ellipse">
            <a:avLst/>
          </a:prstGeom>
          <a:solidFill>
            <a:srgbClr val="B97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4199" y="6144768"/>
            <a:ext cx="31318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>
                <a:solidFill>
                  <a:srgbClr val="6B7385"/>
                </a:solidFill>
              </a:rPr>
              <a:t>Uploaded by a colleague under the team's own access</a:t>
            </a:r>
          </a:p>
        </p:txBody>
      </p:sp>
      <p:sp>
        <p:nvSpPr>
          <p:cNvPr id="10" name="tier dot internal"/>
          <p:cNvSpPr/>
          <p:nvPr/>
        </p:nvSpPr>
        <p:spPr>
          <a:xfrm>
            <a:off x="6438899" y="6227064"/>
            <a:ext cx="88900" cy="88900"/>
          </a:xfrm>
          <a:prstGeom prst="ellipse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899" y="6144768"/>
            <a:ext cx="1612899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900">
                <a:solidFill>
                  <a:srgbClr val="6B7385"/>
                </a:solidFill>
              </a:rPr>
              <a:t>Internal, our own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92240"/>
            <a:ext cx="9418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B7385"/>
                </a:solidFill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London office team: weekly brief</dc:title>
  <dc:subject>PptxGenJS Presentation</dc:subject>
  <dc:creator>London Office Market Agent</dc:creator>
  <cp:lastModifiedBy>PptxGenJS</cp:lastModifiedBy>
  <cp:revision>1</cp:revision>
  <dcterms:created xsi:type="dcterms:W3CDTF">2026-10-10T18:16:15Z</dcterms:created>
  <dcterms:modified xsi:type="dcterms:W3CDTF">2026-10-10T18:16:15Z</dcterms:modified>
</cp:coreProperties>
</file>