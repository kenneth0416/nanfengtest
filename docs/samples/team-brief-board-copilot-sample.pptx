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Vacancy</c:v>
                </c:pt>
              </c:strCache>
            </c:strRef>
          </c:tx>
          <c:spPr>
            <a:ln w="28575">
              <a:solidFill>
                <a:srgbClr val="3A62A8"/>
              </a:solidFill>
            </a:ln>
          </c:spPr>
          <c:marker>
            <c:size val="8"/>
            <c:spPr>
              <a:solidFill>
                <a:srgbClr val="3A62A8"/>
              </a:solidFill>
            </c:spPr>
          </c:marker>
          <c:dLbls>
            <c:dLbl>
              <c:idx val="0"/>
              <c:tx>
                <c:rich>
                  <a:bodyPr/>
                  <a:lstStyle/>
                  <a:p>
                    <a:r>
                      <a:rPr sz="1000" b="0"/>
                      <a:t>9.9%</a:t>
                    </a:r>
                  </a:p>
                </c:rich>
              </c:tx>
              <c:dLblPos val="t"/>
              <c:showLegendKey val="0"/>
              <c:showVal val="1"/>
              <c:showCatName val="0"/>
              <c:showSerName val="0"/>
              <c:showPercent val="0"/>
              <c:showBubbleSize val="0"/>
            </c:dLbl>
            <c:dLbl>
              <c:idx val="7"/>
              <c:tx>
                <c:rich>
                  <a:bodyPr/>
                  <a:lstStyle/>
                  <a:p>
                    <a:r>
                      <a:rPr sz="1000" b="1"/>
                      <a:t>8.0%</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Q1 2024</c:v>
                </c:pt>
                <c:pt idx="1">
                  <c:v>Q2 2024</c:v>
                </c:pt>
                <c:pt idx="2">
                  <c:v>Q3 2024</c:v>
                </c:pt>
                <c:pt idx="3">
                  <c:v>Q2 2025</c:v>
                </c:pt>
                <c:pt idx="4">
                  <c:v>Q3 2025</c:v>
                </c:pt>
                <c:pt idx="5">
                  <c:v>Q4 2025</c:v>
                </c:pt>
                <c:pt idx="6">
                  <c:v>Q1 2026</c:v>
                </c:pt>
                <c:pt idx="7">
                  <c:v>Q2 2026</c:v>
                </c:pt>
              </c:strCache>
            </c:strRef>
          </c:cat>
          <c:val>
            <c:numRef>
              <c:f>Sheet1!$B$2:$B$9</c:f>
              <c:numCache>
                <c:formatCode>General</c:formatCode>
                <c:ptCount val="8"/>
                <c:pt idx="0">
                  <c:v>9.9</c:v>
                </c:pt>
                <c:pt idx="1">
                  <c:v>9.4</c:v>
                </c:pt>
                <c:pt idx="2">
                  <c:v>9.1</c:v>
                </c:pt>
                <c:pt idx="3">
                  <c:v>8.8</c:v>
                </c:pt>
                <c:pt idx="4">
                  <c:v>9.0</c:v>
                </c:pt>
                <c:pt idx="5">
                  <c:v>8.6</c:v>
                </c:pt>
                <c:pt idx="6">
                  <c:v>8.5</c:v>
                </c:pt>
                <c:pt idx="7">
                  <c:v>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6CC"/>
            </a:solidFill>
          </a:ln>
        </c:spPr>
        <c:txPr>
          <a:bodyPr/>
          <a:lstStyle/>
          <a:p>
            <a:pPr>
              <a:defRPr sz="900"/>
            </a:pPr>
          </a:p>
        </c:txPr>
        <c:crossAx val="2140495176"/>
        <c:crosses val="autoZero"/>
        <c:auto val="1"/>
        <c:lblAlgn val="ctr"/>
        <c:lblOffset val="100"/>
        <c:noMultiLvlLbl val="0"/>
      </c:catAx>
      <c:valAx>
        <c:axId val="2140495176"/>
        <c:scaling>
          <c:max val="11.0"/>
          <c:min val="7.0"/>
        </c:scaling>
        <c:delete val="0"/>
        <c:axPos val="l"/>
        <c:majorGridlines>
          <c:spPr>
            <a:ln>
              <a:solidFill>
                <a:srgbClr val="D9D6CC"/>
              </a:solidFill>
            </a:ln>
          </c:spPr>
        </c:majorGridlines>
        <c:numFmt formatCode="0.0&quot;%&quot;" sourceLinked="0"/>
        <c:majorTickMark val="out"/>
        <c:minorTickMark val="none"/>
        <c:tickLblPos val="nextTo"/>
        <c:spPr>
          <a:ln>
            <a:noFill/>
          </a:ln>
        </c:spPr>
        <c:crossAx val="2118791784"/>
        <c:crosses val="autoZero"/>
      </c:valAx>
    </c:plotArea>
    <c:plotVisOnly val="1"/>
    <c:dispBlanksAs val="gap"/>
    <c:showDLblsOverMax val="0"/>
  </c:chart>
  <c:txPr>
    <a:bodyPr/>
    <a:lstStyle/>
    <a:p>
      <a:pPr>
        <a:defRPr sz="1000">
          <a:solidFill>
            <a:srgbClr val="6B738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Take-up</c:v>
                </c:pt>
              </c:strCache>
            </c:strRef>
          </c:tx>
          <c:spPr>
            <a:solidFill>
              <a:srgbClr val="3A62A8"/>
            </a:solidFill>
          </c:spPr>
          <c:dPt>
            <c:idx val="7"/>
            <c:spPr>
              <a:solidFill>
                <a:srgbClr val="B5893B"/>
              </a:solidFill>
            </c:spPr>
          </c:dPt>
          <c:cat>
            <c:strRef>
              <c:f>Sheet1!$A$2:$A$9</c:f>
              <c:strCache>
                <c:ptCount val="8"/>
                <c:pt idx="0">
                  <c:v>Q1 2024</c:v>
                </c:pt>
                <c:pt idx="1">
                  <c:v>Q2 2024</c:v>
                </c:pt>
                <c:pt idx="2">
                  <c:v>Q3 2024</c:v>
                </c:pt>
                <c:pt idx="3">
                  <c:v>Q2 2025</c:v>
                </c:pt>
                <c:pt idx="4">
                  <c:v>Q3 2025</c:v>
                </c:pt>
                <c:pt idx="5">
                  <c:v>Q4 2025</c:v>
                </c:pt>
                <c:pt idx="6">
                  <c:v>Q1 2026</c:v>
                </c:pt>
                <c:pt idx="7">
                  <c:v>Q2 2026</c:v>
                </c:pt>
              </c:strCache>
            </c:strRef>
          </c:cat>
          <c:val>
            <c:numRef>
              <c:f>Sheet1!$B$2:$B$9</c:f>
              <c:numCache>
                <c:formatCode>General</c:formatCode>
                <c:ptCount val="8"/>
                <c:pt idx="0">
                  <c:v>1.88</c:v>
                </c:pt>
                <c:pt idx="1">
                  <c:v>2.45</c:v>
                </c:pt>
                <c:pt idx="2">
                  <c:v>3.01</c:v>
                </c:pt>
                <c:pt idx="3">
                  <c:v>3.53</c:v>
                </c:pt>
                <c:pt idx="4">
                  <c:v>2.7</c:v>
                </c:pt>
                <c:pt idx="5">
                  <c:v>3.3</c:v>
                </c:pt>
                <c:pt idx="6">
                  <c:v>2.5</c:v>
                </c:pt>
                <c:pt idx="7">
                  <c:v>3.1</c:v>
                </c:pt>
              </c:numCache>
            </c:numRef>
          </c:val>
        </c:ser>
        <c:dLbls>
          <c:numFmt formatCode="0.00" sourceLinked="0"/>
          <c:txPr>
            <a:bodyPr/>
            <a:lstStyle/>
            <a:p>
              <a:pPr>
                <a:defRPr sz="900">
                  <a:solidFill>
                    <a:srgbClr val="1F2A4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6CC"/>
            </a:solidFill>
          </a:ln>
        </c:spPr>
        <c:txPr>
          <a:bodyPr/>
          <a:lstStyle/>
          <a:p>
            <a:pPr>
              <a:defRPr sz="900"/>
            </a:pPr>
          </a:p>
        </c:txPr>
        <c:crossAx val="-2113994440"/>
        <c:crosses val="autoZero"/>
        <c:auto val="1"/>
        <c:lblAlgn val="ctr"/>
        <c:lblOffset val="100"/>
        <c:noMultiLvlLbl val="0"/>
      </c:catAx>
      <c:valAx>
        <c:axId val="-2113994440"/>
        <c:scaling/>
        <c:delete val="0"/>
        <c:axPos val="l"/>
        <c:majorGridlines>
          <c:spPr>
            <a:ln>
              <a:solidFill>
                <a:srgbClr val="D9D6CC"/>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000">
          <a:solidFill>
            <a:srgbClr val="6B738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Take-up</c:v>
                </c:pt>
              </c:strCache>
            </c:strRef>
          </c:tx>
          <c:spPr>
            <a:solidFill>
              <a:srgbClr val="3A62A8"/>
            </a:solidFill>
          </c:spPr>
          <c:dPt>
            <c:idx val="7"/>
            <c:spPr>
              <a:solidFill>
                <a:srgbClr val="B5893B"/>
              </a:solidFill>
            </c:spPr>
          </c:dPt>
          <c:cat>
            <c:strRef>
              <c:f>Sheet1!$A$2:$A$9</c:f>
              <c:strCache>
                <c:ptCount val="8"/>
                <c:pt idx="0">
                  <c:v>Q1 2024</c:v>
                </c:pt>
                <c:pt idx="1">
                  <c:v>Q2 2024</c:v>
                </c:pt>
                <c:pt idx="2">
                  <c:v>Q3 2024</c:v>
                </c:pt>
                <c:pt idx="3">
                  <c:v>Q2 2025</c:v>
                </c:pt>
                <c:pt idx="4">
                  <c:v>Q3 2025</c:v>
                </c:pt>
                <c:pt idx="5">
                  <c:v>Q4 2025</c:v>
                </c:pt>
                <c:pt idx="6">
                  <c:v>Q1 2026</c:v>
                </c:pt>
                <c:pt idx="7">
                  <c:v>Q2 2026</c:v>
                </c:pt>
              </c:strCache>
            </c:strRef>
          </c:cat>
          <c:val>
            <c:numRef>
              <c:f>Sheet1!$B$2:$B$9</c:f>
              <c:numCache>
                <c:formatCode>General</c:formatCode>
                <c:ptCount val="8"/>
                <c:pt idx="0">
                  <c:v>1.88</c:v>
                </c:pt>
                <c:pt idx="1">
                  <c:v>2.45</c:v>
                </c:pt>
                <c:pt idx="2">
                  <c:v>3.01</c:v>
                </c:pt>
                <c:pt idx="3">
                  <c:v>3.53</c:v>
                </c:pt>
                <c:pt idx="4">
                  <c:v>2.7</c:v>
                </c:pt>
                <c:pt idx="5">
                  <c:v>3.3</c:v>
                </c:pt>
                <c:pt idx="6">
                  <c:v>2.5</c:v>
                </c:pt>
                <c:pt idx="7">
                  <c:v>3.1</c:v>
                </c:pt>
              </c:numCache>
            </c:numRef>
          </c:val>
        </c:ser>
        <c:dLbls>
          <c:numFmt formatCode="0.00" sourceLinked="0"/>
          <c:txPr>
            <a:bodyPr/>
            <a:lstStyle/>
            <a:p>
              <a:pPr>
                <a:defRPr sz="900">
                  <a:solidFill>
                    <a:srgbClr val="1F2A44"/>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6CC"/>
            </a:solidFill>
          </a:ln>
        </c:spPr>
        <c:txPr>
          <a:bodyPr/>
          <a:lstStyle/>
          <a:p>
            <a:pPr>
              <a:defRPr sz="900"/>
            </a:pPr>
          </a:p>
        </c:txPr>
        <c:crossAx val="-2113994440"/>
        <c:crosses val="autoZero"/>
        <c:auto val="1"/>
        <c:lblAlgn val="ctr"/>
        <c:lblOffset val="100"/>
        <c:noMultiLvlLbl val="0"/>
      </c:catAx>
      <c:valAx>
        <c:axId val="-2113994440"/>
        <c:scaling/>
        <c:delete val="0"/>
        <c:axPos val="l"/>
        <c:majorGridlines>
          <c:spPr>
            <a:ln>
              <a:solidFill>
                <a:srgbClr val="D9D6CC"/>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000">
          <a:solidFill>
            <a:srgbClr val="6B738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Q2 2026</c:v>
                </c:pt>
              </c:strCache>
            </c:strRef>
          </c:tx>
          <c:spPr>
            <a:solidFill>
              <a:srgbClr val="3A62A8"/>
            </a:solidFill>
          </c:spPr>
          <c:cat>
            <c:strRef>
              <c:f>Sheet1!$A$2:$A$4</c:f>
              <c:strCache>
                <c:ptCount val="3"/>
                <c:pt idx="0">
                  <c:v>West End</c:v>
                </c:pt>
                <c:pt idx="1">
                  <c:v>City &amp; Southbank</c:v>
                </c:pt>
                <c:pt idx="2">
                  <c:v>Docklands &amp; Stratford</c:v>
                </c:pt>
              </c:strCache>
            </c:strRef>
          </c:cat>
          <c:val>
            <c:numRef>
              <c:f>Sheet1!$B$2:$B$4</c:f>
              <c:numCache>
                <c:formatCode>General</c:formatCode>
                <c:ptCount val="3"/>
                <c:pt idx="0">
                  <c:v>0.91</c:v>
                </c:pt>
                <c:pt idx="1">
                  <c:v>0.37</c:v>
                </c:pt>
                <c:pt idx="2">
                  <c:v>0.75</c:v>
                </c:pt>
              </c:numCache>
            </c:numRef>
          </c:val>
        </c:ser>
        <c:ser>
          <c:idx val="1"/>
          <c:order val="1"/>
          <c:tx>
            <c:strRef>
              <c:f>Sheet1!$C$1</c:f>
              <c:strCache>
                <c:ptCount val="1"/>
                <c:pt idx="0">
                  <c:v>Long-term average</c:v>
                </c:pt>
              </c:strCache>
            </c:strRef>
          </c:tx>
          <c:spPr>
            <a:solidFill>
              <a:srgbClr val="B5893B"/>
            </a:solidFill>
          </c:spPr>
          <c:cat>
            <c:strRef>
              <c:f>Sheet1!$A$2:$A$4</c:f>
              <c:strCache>
                <c:ptCount val="3"/>
                <c:pt idx="0">
                  <c:v>West End</c:v>
                </c:pt>
                <c:pt idx="1">
                  <c:v>City &amp; Southbank</c:v>
                </c:pt>
                <c:pt idx="2">
                  <c:v>Docklands &amp; Stratford</c:v>
                </c:pt>
              </c:strCache>
            </c:strRef>
          </c:cat>
          <c:val>
            <c:numRef>
              <c:f>Sheet1!$C$2:$C$4</c:f>
              <c:numCache>
                <c:formatCode>General</c:formatCode>
                <c:ptCount val="3"/>
                <c:pt idx="0">
                  <c:v>1.19</c:v>
                </c:pt>
                <c:pt idx="1">
                  <c:v>1.6</c:v>
                </c:pt>
                <c:pt idx="2">
                  <c:v>0.12</c:v>
                </c:pt>
              </c:numCache>
            </c:numRef>
          </c:val>
        </c:ser>
        <c:dLbls>
          <c:numFmt formatCode="&quot;£&quot;0.00" sourceLinked="0"/>
          <c:txPr>
            <a:bodyPr/>
            <a:lstStyle/>
            <a:p>
              <a:pPr>
                <a:defRPr sz="900"/>
              </a:pPr>
            </a:p>
          </c:txPr>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D9D6CC"/>
            </a:solidFill>
          </a:ln>
        </c:spPr>
        <c:txPr>
          <a:bodyPr/>
          <a:lstStyle/>
          <a:p>
            <a:pPr>
              <a:defRPr sz="900"/>
            </a:pPr>
          </a:p>
        </c:txPr>
        <c:crossAx val="-2113994440"/>
        <c:crosses val="autoZero"/>
        <c:auto val="1"/>
        <c:lblAlgn val="ctr"/>
        <c:lblOffset val="100"/>
        <c:noMultiLvlLbl val="0"/>
      </c:catAx>
      <c:valAx>
        <c:axId val="-2113994440"/>
        <c:scaling/>
        <c:delete val="0"/>
        <c:axPos val="l"/>
        <c:majorGridlines>
          <c:spPr>
            <a:ln>
              <a:solidFill>
                <a:srgbClr val="D9D6CC"/>
              </a:solidFill>
            </a:ln>
          </c:spPr>
        </c:majorGridlines>
        <c:numFmt formatCode="&quot;£&quot;0.0" sourceLinked="0"/>
        <c:majorTickMark val="out"/>
        <c:minorTickMark val="none"/>
        <c:tickLblPos val="nextTo"/>
        <c:spPr>
          <a:ln>
            <a:noFill/>
          </a:ln>
        </c:spPr>
        <c:crossAx val="-2068027336"/>
        <c:crosses val="autoZero"/>
      </c:valAx>
    </c:plotArea>
    <c:legend>
      <c:legendPos val="t"/>
      <c:overlay val="0"/>
    </c:legend>
    <c:dispBlanksAs val="gap"/>
  </c:chart>
  <c:txPr>
    <a:bodyPr/>
    <a:lstStyle/>
    <a:p>
      <a:pPr>
        <a:defRPr sz="1000">
          <a:solidFill>
            <a:srgbClr val="6B738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Sets up the three things that moved this week: occupancy, requirements and investment.</a:t>
            </a:r>
          </a:p>
          <a:p>
            <a:r>
              <a:t>Board pack for 10 October 2026, built from the team brief. Figures are Knight Frank London Offices Spotlight Q2 2026 unless stated. Figures restated from public research for this proof of concept; verify against the original before external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Occupancy was the top-ranked story: vacancy moved -0.50pp to its lowest reading since Q1 2024 and take-up is 11% above its long-term average.</a:t>
            </a:r>
          </a:p>
          <a:p>
            <a:r>
              <a:t>Vacancy fell 0.50pp on the quarter to 8.0% and is the lowest since Q1 2024's 9.9%. Take-up rebounded to 3.10m sq ft from 2.50m in Q1 2026, 11% above the 2.80m long-term average. This is the single biggest move of the week and the reason the board should hear occupancy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Requirements moved +2.20m sq ft on the quarter, the largest demand-side change in the library this quarter.</a:t>
            </a:r>
          </a:p>
          <a:p>
            <a:r>
              <a:t>Active requirements rose from 12.10m sq ft in Q1 2026 to 14.30m sq ft in Q2 2026, a 2.20m sq ft increase. Combined with vacancy at 8.0% and take-up 11% above average, demand is building faster than space is being released.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Capital markets was the second-ranked story: volume is 36% below its long-term average and City &amp; Southbank turnover fell £0.50bn on the quarter.</a:t>
            </a:r>
          </a:p>
          <a:p>
            <a:r>
              <a:t>Investment rose slightly to £2.00bn from £1.90bn in Q1 2026 but remains 36% below the £3.13bn long-term average. City &amp; Southbank is 77% below its own long-term average at £0.37bn, while Docklands &amp; Stratford jumped to £0.75bn on the Barclays 1 Churchill Place purchase at a 5.62% yield [10]. Prime yields are unchanged on the quarter: West End 3.8%, City &amp; Southbank 5.2%, Docklands &amp; Stratford 7.5%. Bank Rate is 3.75% as of 8 Oct 2026 [2], which keeps debt costs stable but does not by itself pull volume back to trend.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The board needs the transaction context behind the volumes: a £750m HQ purchase and two large City financings landed in the same quarter.</a:t>
            </a:r>
          </a:p>
          <a:p>
            <a:r>
              <a:t>Six signals, no market-talk items this week. Largest: Barclays bought 1 Churchill Place for £750m at 5.62% yield; J.P. Morgan AM pre-let in the City; Citi reopened its Canary Wharf HQ after a $1.5bn refit; ING and DBS backed a £1.016bn City refurbishment. Two of our own deals are recorded separately and are confidential unless marked quotable.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Every figure in the pack is footnoted; the board pack must show provenance.</a:t>
            </a:r>
          </a:p>
          <a:p>
            <a:r>
              <a:t>All figures footnoted. Knight Frank reports uploaded by PoC seed on 2026-10-10; Bank Rate collected as open data from the Bank of England. Figures restated for this proof of concept; verify against originals before external use. No figures in this deck are flagged ⚠ and there is no unconfirmed market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
        <p:nvSpPr>
          <p:cNvPr id="2" name="eyebrow"/>
          <p:cNvSpPr/>
          <p:nvPr>
            <p:ph idx="100" type="body" hasCustomPrompt="1"/>
          </p:nvPr>
        </p:nvSpPr>
        <p:spPr>
          <a:xfrm>
            <a:off x="640080" y="502920"/>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3" name="title"/>
          <p:cNvSpPr/>
          <p:nvPr>
            <p:ph idx="101" type="title" hasCustomPrompt="1"/>
          </p:nvPr>
        </p:nvSpPr>
        <p:spPr>
          <a:xfrm>
            <a:off x="640080" y="822960"/>
            <a:ext cx="10881360" cy="91440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subtitle"/>
          <p:cNvSpPr/>
          <p:nvPr>
            <p:ph idx="102" type="body" hasCustomPrompt="1"/>
          </p:nvPr>
        </p:nvSpPr>
        <p:spPr>
          <a:xfrm>
            <a:off x="640080" y="1783080"/>
            <a:ext cx="10881360" cy="365760"/>
          </a:xfrm>
          <a:prstGeom prst="rect">
            <a:avLst/>
          </a:prstGeom>
          <a:noFill/>
          <a:ln/>
        </p:spPr>
        <p:txBody>
          <a:bodyPr wrap="square" rtlCol="0"/>
          <a:lstStyle>
            <a:lvl1pPr algn="l" indent="0" marL="0">
              <a:buNone/>
              <a:defRPr lang="en-US" sz="1300" dirty="0">
                <a:solidFill>
                  <a:srgbClr val="C9D1DE"/>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5" name="headline"/>
          <p:cNvSpPr/>
          <p:nvPr>
            <p:ph idx="103" type="body" hasCustomPrompt="1"/>
          </p:nvPr>
        </p:nvSpPr>
        <p:spPr>
          <a:xfrm>
            <a:off x="640080" y="2286000"/>
            <a:ext cx="10881360" cy="1600200"/>
          </a:xfrm>
          <a:prstGeom prst="rect">
            <a:avLst/>
          </a:prstGeom>
          <a:noFill/>
          <a:ln/>
        </p:spPr>
        <p:txBody>
          <a:bodyPr wrap="square" rtlCol="0"/>
          <a:lstStyle>
            <a:lvl1pPr algn="l" indent="0" marL="0">
              <a:buNone/>
              <a:defRPr lang="en-US" sz="1500" dirty="0">
                <a:solidFill>
                  <a:srgbClr val="FFFFFF"/>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6" name="Shape 0"/>
          <p:cNvSpPr/>
          <p:nvPr/>
        </p:nvSpPr>
        <p:spPr>
          <a:xfrm>
            <a:off x="640080" y="4069080"/>
            <a:ext cx="2606040" cy="0"/>
          </a:xfrm>
          <a:prstGeom prst="line">
            <a:avLst/>
          </a:prstGeom>
          <a:noFill/>
          <a:ln w="38100">
            <a:solidFill>
              <a:srgbClr val="B5893B"/>
            </a:solidFill>
            <a:prstDash val="solid"/>
          </a:ln>
        </p:spPr>
      </p:sp>
      <p:sp>
        <p:nvSpPr>
          <p:cNvPr id="7" name="kpi1"/>
          <p:cNvSpPr/>
          <p:nvPr>
            <p:ph idx="105" type="body" hasCustomPrompt="1"/>
          </p:nvPr>
        </p:nvSpPr>
        <p:spPr>
          <a:xfrm>
            <a:off x="640080"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8" name="Shape 1"/>
          <p:cNvSpPr/>
          <p:nvPr/>
        </p:nvSpPr>
        <p:spPr>
          <a:xfrm>
            <a:off x="3410712" y="4069080"/>
            <a:ext cx="2606040" cy="0"/>
          </a:xfrm>
          <a:prstGeom prst="line">
            <a:avLst/>
          </a:prstGeom>
          <a:noFill/>
          <a:ln w="38100">
            <a:solidFill>
              <a:srgbClr val="B5893B"/>
            </a:solidFill>
            <a:prstDash val="solid"/>
          </a:ln>
        </p:spPr>
      </p:sp>
      <p:sp>
        <p:nvSpPr>
          <p:cNvPr id="9" name="kpi2"/>
          <p:cNvSpPr/>
          <p:nvPr>
            <p:ph idx="107" type="body" hasCustomPrompt="1"/>
          </p:nvPr>
        </p:nvSpPr>
        <p:spPr>
          <a:xfrm>
            <a:off x="3410712"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0" name="Shape 2"/>
          <p:cNvSpPr/>
          <p:nvPr/>
        </p:nvSpPr>
        <p:spPr>
          <a:xfrm>
            <a:off x="6181344" y="4069080"/>
            <a:ext cx="2606040" cy="0"/>
          </a:xfrm>
          <a:prstGeom prst="line">
            <a:avLst/>
          </a:prstGeom>
          <a:noFill/>
          <a:ln w="38100">
            <a:solidFill>
              <a:srgbClr val="B5893B"/>
            </a:solidFill>
            <a:prstDash val="solid"/>
          </a:ln>
        </p:spPr>
      </p:sp>
      <p:sp>
        <p:nvSpPr>
          <p:cNvPr id="11" name="kpi3"/>
          <p:cNvSpPr/>
          <p:nvPr>
            <p:ph idx="109" type="body" hasCustomPrompt="1"/>
          </p:nvPr>
        </p:nvSpPr>
        <p:spPr>
          <a:xfrm>
            <a:off x="6181344"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2" name="Shape 3"/>
          <p:cNvSpPr/>
          <p:nvPr/>
        </p:nvSpPr>
        <p:spPr>
          <a:xfrm>
            <a:off x="8951976" y="4069080"/>
            <a:ext cx="2606040" cy="0"/>
          </a:xfrm>
          <a:prstGeom prst="line">
            <a:avLst/>
          </a:prstGeom>
          <a:noFill/>
          <a:ln w="38100">
            <a:solidFill>
              <a:srgbClr val="B5893B"/>
            </a:solidFill>
            <a:prstDash val="solid"/>
          </a:ln>
        </p:spPr>
      </p:sp>
      <p:sp>
        <p:nvSpPr>
          <p:cNvPr id="13" name="kpi4"/>
          <p:cNvSpPr/>
          <p:nvPr>
            <p:ph idx="111" type="body" hasCustomPrompt="1"/>
          </p:nvPr>
        </p:nvSpPr>
        <p:spPr>
          <a:xfrm>
            <a:off x="8951976" y="4160520"/>
            <a:ext cx="2606040" cy="1508760"/>
          </a:xfrm>
          <a:prstGeom prst="rect">
            <a:avLst/>
          </a:prstGeom>
          <a:noFill/>
          <a:ln/>
        </p:spPr>
        <p:txBody>
          <a:bodyPr wrap="square" rtlCol="0"/>
          <a:lstStyle>
            <a:lvl1pPr algn="l" indent="0" marL="0">
              <a:buNone/>
              <a:defRPr lang="en-US" sz="1200" dirty="0">
                <a:solidFill>
                  <a:srgbClr val="FFFFFF"/>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4" name="caveat"/>
          <p:cNvSpPr/>
          <p:nvPr>
            <p:ph idx="112" type="body" hasCustomPrompt="1"/>
          </p:nvPr>
        </p:nvSpPr>
        <p:spPr>
          <a:xfrm>
            <a:off x="640080" y="6172200"/>
            <a:ext cx="10881360" cy="411480"/>
          </a:xfrm>
          <a:prstGeom prst="rect">
            <a:avLst/>
          </a:prstGeom>
          <a:noFill/>
          <a:ln/>
        </p:spPr>
        <p:txBody>
          <a:bodyPr wrap="square" rtlCol="0"/>
          <a:lstStyle>
            <a:lvl1pPr algn="l" indent="0" marL="0">
              <a:buNone/>
              <a:defRPr lang="en-US" sz="800" dirty="0">
                <a:solidFill>
                  <a:srgbClr val="C9D1DE"/>
                </a:solidFill>
                <a:latin typeface="Calibri" pitchFamily="34" charset="0"/>
                <a:ea typeface="Calibri" pitchFamily="34" charset="-122"/>
                <a:cs typeface="Calibri" pitchFamily="34" charset="-120"/>
              </a:defRPr>
            </a:lvl1pPr>
          </a:lstStyle>
          <a:p>
            <a:pPr algn="l" indent="0" marL="0">
              <a:buNone/>
            </a:pP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640080" y="2697480"/>
            <a:ext cx="914400" cy="0"/>
          </a:xfrm>
          <a:prstGeom prst="line">
            <a:avLst/>
          </a:prstGeom>
          <a:noFill/>
          <a:ln w="38100">
            <a:solidFill>
              <a:srgbClr val="B5893B"/>
            </a:solidFill>
            <a:prstDash val="solid"/>
          </a:ln>
        </p:spPr>
      </p:sp>
      <p:sp>
        <p:nvSpPr>
          <p:cNvPr id="3" name="eyebrow"/>
          <p:cNvSpPr/>
          <p:nvPr>
            <p:ph idx="101" type="body" hasCustomPrompt="1"/>
          </p:nvPr>
        </p:nvSpPr>
        <p:spPr>
          <a:xfrm>
            <a:off x="640080" y="2286000"/>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640080" y="2834640"/>
            <a:ext cx="10881360" cy="91440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5" name="body"/>
          <p:cNvSpPr/>
          <p:nvPr>
            <p:ph idx="103" type="body" hasCustomPrompt="1"/>
          </p:nvPr>
        </p:nvSpPr>
        <p:spPr>
          <a:xfrm>
            <a:off x="640080" y="3840480"/>
            <a:ext cx="10058400" cy="1097280"/>
          </a:xfrm>
          <a:prstGeom prst="rect">
            <a:avLst/>
          </a:prstGeom>
          <a:noFill/>
          <a:ln/>
        </p:spPr>
        <p:txBody>
          <a:bodyPr wrap="square" rtlCol="0"/>
          <a:lstStyle>
            <a:lvl1pPr algn="l" indent="0" marL="0">
              <a:buNone/>
              <a:defRPr lang="en-US" sz="1500" dirty="0">
                <a:solidFill>
                  <a:srgbClr val="C9D1DE"/>
                </a:solidFill>
                <a:latin typeface="Calibri" pitchFamily="34" charset="0"/>
                <a:ea typeface="Calibri" pitchFamily="34" charset="-122"/>
                <a:cs typeface="Calibri" pitchFamily="34" charset="-120"/>
              </a:defRPr>
            </a:lvl1pPr>
          </a:lstStyle>
          <a:p>
            <a:pPr algn="l" indent="0" marL="0">
              <a:buNone/>
            </a:pP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14213D"/>
        </a:solidFill>
      </p:bgPr>
    </p:bg>
    <p:spTree>
      <p:nvGrpSpPr>
        <p:cNvPr id="1" name=""/>
        <p:cNvGrpSpPr/>
        <p:nvPr/>
      </p:nvGrpSpPr>
      <p:grpSpPr>
        <a:xfrm>
          <a:off x="0" y="0"/>
          <a:ext cx="0" cy="0"/>
          <a:chOff x="0" y="0"/>
          <a:chExt cx="0" cy="0"/>
        </a:xfrm>
      </p:grpSpPr>
      <p:sp>
        <p:nvSpPr>
          <p:cNvPr id="2" name="eyebrow"/>
          <p:cNvSpPr/>
          <p:nvPr>
            <p:ph idx="100" type="body" hasCustomPrompt="1"/>
          </p:nvPr>
        </p:nvSpPr>
        <p:spPr>
          <a:xfrm>
            <a:off x="822960" y="1234440"/>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3" name="Shape 0"/>
          <p:cNvSpPr/>
          <p:nvPr/>
        </p:nvSpPr>
        <p:spPr>
          <a:xfrm>
            <a:off x="822960" y="1645920"/>
            <a:ext cx="731520" cy="0"/>
          </a:xfrm>
          <a:prstGeom prst="line">
            <a:avLst/>
          </a:prstGeom>
          <a:noFill/>
          <a:ln w="38100">
            <a:solidFill>
              <a:srgbClr val="B5893B"/>
            </a:solidFill>
            <a:prstDash val="solid"/>
          </a:ln>
        </p:spPr>
      </p:sp>
      <p:sp>
        <p:nvSpPr>
          <p:cNvPr id="4" name="statement"/>
          <p:cNvSpPr/>
          <p:nvPr>
            <p:ph idx="102" type="body" hasCustomPrompt="1"/>
          </p:nvPr>
        </p:nvSpPr>
        <p:spPr>
          <a:xfrm>
            <a:off x="822960" y="1874520"/>
            <a:ext cx="10515600" cy="2011680"/>
          </a:xfrm>
          <a:prstGeom prst="rect">
            <a:avLst/>
          </a:prstGeom>
          <a:noFill/>
          <a:ln/>
        </p:spPr>
        <p:txBody>
          <a:bodyPr wrap="square" rtlCol="0"/>
          <a:lstStyle>
            <a:lvl1pPr algn="l" indent="0" marL="0">
              <a:buNone/>
              <a:defRPr lang="en-US" sz="3400"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5" name="attribution"/>
          <p:cNvSpPr/>
          <p:nvPr>
            <p:ph idx="103" type="body" hasCustomPrompt="1"/>
          </p:nvPr>
        </p:nvSpPr>
        <p:spPr>
          <a:xfrm>
            <a:off x="822960" y="4023360"/>
            <a:ext cx="10515600" cy="548640"/>
          </a:xfrm>
          <a:prstGeom prst="rect">
            <a:avLst/>
          </a:prstGeom>
          <a:noFill/>
          <a:ln/>
        </p:spPr>
        <p:txBody>
          <a:bodyPr wrap="square" rtlCol="0"/>
          <a:lstStyle>
            <a:lvl1pPr algn="l" indent="0" marL="0">
              <a:buNone/>
              <a:defRPr lang="en-US" sz="1200" dirty="0">
                <a:solidFill>
                  <a:srgbClr val="C9D1DE"/>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6" name="Text 1"/>
          <p:cNvSpPr/>
          <p:nvPr/>
        </p:nvSpPr>
        <p:spPr>
          <a:xfrm>
            <a:off x="822960" y="6400800"/>
            <a:ext cx="7315200" cy="201168"/>
          </a:xfrm>
          <a:prstGeom prst="rect">
            <a:avLst/>
          </a:prstGeom>
          <a:noFill/>
          <a:ln/>
        </p:spPr>
        <p:txBody>
          <a:bodyPr wrap="square" lIns="0" tIns="0" rIns="0" bIns="0" rtlCol="0" anchor="ctr"/>
          <a:lstStyle/>
          <a:p>
            <a:pPr indent="0" marL="0">
              <a:buNone/>
            </a:pPr>
            <a:r>
              <a:rPr lang="en-US" sz="800" spc="200" kern="0" dirty="0">
                <a:solidFill>
                  <a:srgbClr val="C9D1DE"/>
                </a:solidFill>
                <a:latin typeface="Calibri" pitchFamily="34" charset="0"/>
                <a:ea typeface="Calibri" pitchFamily="34" charset="-122"/>
                <a:cs typeface="Calibri" pitchFamily="34" charset="-120"/>
              </a:rPr>
              <a:t>LONDON OFFICE AGENT  ·  TEAM BRIEF</a:t>
            </a:r>
            <a:endParaRPr lang="en-US" sz="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ro number">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hero"/>
          <p:cNvSpPr/>
          <p:nvPr>
            <p:ph idx="105" type="body" hasCustomPrompt="1"/>
          </p:nvPr>
        </p:nvSpPr>
        <p:spPr>
          <a:xfrm>
            <a:off x="548640" y="1691640"/>
            <a:ext cx="3931920" cy="1188720"/>
          </a:xfrm>
          <a:prstGeom prst="rect">
            <a:avLst/>
          </a:prstGeom>
          <a:noFill/>
          <a:ln/>
        </p:spPr>
        <p:txBody>
          <a:bodyPr wrap="square" rtlCol="0"/>
          <a:lstStyle>
            <a:lvl1pPr algn="l" indent="0" marL="0">
              <a:buNone/>
              <a:defRPr lang="en-US" sz="6000" b="1" i="1" dirty="0">
                <a:solidFill>
                  <a:srgbClr val="B5893B"/>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8" name="hero_caption"/>
          <p:cNvSpPr/>
          <p:nvPr>
            <p:ph idx="106" type="body" hasCustomPrompt="1"/>
          </p:nvPr>
        </p:nvSpPr>
        <p:spPr>
          <a:xfrm>
            <a:off x="548640" y="2926080"/>
            <a:ext cx="3931920" cy="320040"/>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9" name="hero_context"/>
          <p:cNvSpPr/>
          <p:nvPr>
            <p:ph idx="107" type="body" hasCustomPrompt="1"/>
          </p:nvPr>
        </p:nvSpPr>
        <p:spPr>
          <a:xfrm>
            <a:off x="548640" y="3337560"/>
            <a:ext cx="3931920" cy="2194560"/>
          </a:xfrm>
          <a:prstGeom prst="rect">
            <a:avLst/>
          </a:prstGeom>
          <a:noFill/>
          <a:ln/>
        </p:spPr>
        <p:txBody>
          <a:bodyPr wrap="square" rtlCol="0"/>
          <a:lstStyle>
            <a:lvl1pPr algn="l" indent="0" marL="0">
              <a:buNone/>
              <a:defRPr lang="en-US" sz="1200" dirty="0">
                <a:solidFill>
                  <a:srgbClr val="1F2A44"/>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0" name="chart_label"/>
          <p:cNvSpPr/>
          <p:nvPr>
            <p:ph idx="108" type="body" hasCustomPrompt="1"/>
          </p:nvPr>
        </p:nvSpPr>
        <p:spPr>
          <a:xfrm>
            <a:off x="4846320" y="1645920"/>
            <a:ext cx="6766560" cy="292608"/>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1" name="chart"/>
          <p:cNvSpPr/>
          <p:nvPr>
            <p:ph idx="109" type="chart" hasCustomPrompt="1"/>
          </p:nvPr>
        </p:nvSpPr>
        <p:spPr>
          <a:xfrm>
            <a:off x="4754880" y="1938528"/>
            <a:ext cx="6885432" cy="3611880"/>
          </a:xfrm>
          <a:prstGeom prst="rect">
            <a:avLst/>
          </a:prstGeom>
          <a:noFill/>
          <a:ln/>
        </p:spPr>
        <p:txBody>
          <a:bodyPr wrap="square" rtlCol="0"/>
          <a:lstStyle>
            <a:lvl1pPr algn="l" indent="0" marL="0">
              <a:buNone/>
              <a:defRPr lang="en-US" sz="1300" dirty="0">
                <a:solidFill>
                  <a:srgbClr val="1F2A4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2" name="source"/>
          <p:cNvSpPr/>
          <p:nvPr>
            <p:ph idx="110"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385"/>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 row">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Shape 3"/>
          <p:cNvSpPr/>
          <p:nvPr/>
        </p:nvSpPr>
        <p:spPr>
          <a:xfrm>
            <a:off x="548640" y="1691640"/>
            <a:ext cx="2651760" cy="0"/>
          </a:xfrm>
          <a:prstGeom prst="line">
            <a:avLst/>
          </a:prstGeom>
          <a:noFill/>
          <a:ln w="19050">
            <a:solidFill>
              <a:srgbClr val="B5893B"/>
            </a:solidFill>
            <a:prstDash val="solid"/>
          </a:ln>
        </p:spPr>
      </p:sp>
      <p:sp>
        <p:nvSpPr>
          <p:cNvPr id="8" name="stat1"/>
          <p:cNvSpPr/>
          <p:nvPr>
            <p:ph idx="106" type="body" hasCustomPrompt="1"/>
          </p:nvPr>
        </p:nvSpPr>
        <p:spPr>
          <a:xfrm>
            <a:off x="548640" y="1783080"/>
            <a:ext cx="2651760" cy="731520"/>
          </a:xfrm>
          <a:prstGeom prst="rect">
            <a:avLst/>
          </a:prstGeom>
          <a:noFill/>
          <a:ln/>
        </p:spPr>
        <p:txBody>
          <a:bodyPr wrap="square" rtlCol="0"/>
          <a:lstStyle>
            <a:lvl1pPr algn="l" indent="0" marL="0">
              <a:buNone/>
              <a:defRPr lang="en-US" sz="3000" b="1" i="1" dirty="0">
                <a:solidFill>
                  <a:srgbClr val="B5893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9" name="stat1_caption"/>
          <p:cNvSpPr/>
          <p:nvPr>
            <p:ph idx="107" type="body" hasCustomPrompt="1"/>
          </p:nvPr>
        </p:nvSpPr>
        <p:spPr>
          <a:xfrm>
            <a:off x="548640" y="2560320"/>
            <a:ext cx="2651760" cy="384048"/>
          </a:xfrm>
          <a:prstGeom prst="rect">
            <a:avLst/>
          </a:prstGeom>
          <a:noFill/>
          <a:ln/>
        </p:spPr>
        <p:txBody>
          <a:bodyPr wrap="square" rtlCol="0"/>
          <a:lstStyle>
            <a:lvl1pPr algn="l" indent="0" marL="0">
              <a:buNone/>
              <a:defRPr lang="en-US" sz="9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10" name="stat1_context"/>
          <p:cNvSpPr/>
          <p:nvPr>
            <p:ph idx="108" type="body" hasCustomPrompt="1"/>
          </p:nvPr>
        </p:nvSpPr>
        <p:spPr>
          <a:xfrm>
            <a:off x="548640" y="2962656"/>
            <a:ext cx="2651760" cy="438912"/>
          </a:xfrm>
          <a:prstGeom prst="rect">
            <a:avLst/>
          </a:prstGeom>
          <a:noFill/>
          <a:ln/>
        </p:spPr>
        <p:txBody>
          <a:bodyPr wrap="square" rtlCol="0"/>
          <a:lstStyle>
            <a:lvl1pPr algn="l" indent="0" marL="0">
              <a:buNone/>
              <a:defRPr lang="en-US" sz="100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1" name="Shape 4"/>
          <p:cNvSpPr/>
          <p:nvPr/>
        </p:nvSpPr>
        <p:spPr>
          <a:xfrm>
            <a:off x="3346704" y="1691640"/>
            <a:ext cx="2651760" cy="0"/>
          </a:xfrm>
          <a:prstGeom prst="line">
            <a:avLst/>
          </a:prstGeom>
          <a:noFill/>
          <a:ln w="19050">
            <a:solidFill>
              <a:srgbClr val="B5893B"/>
            </a:solidFill>
            <a:prstDash val="solid"/>
          </a:ln>
        </p:spPr>
      </p:sp>
      <p:sp>
        <p:nvSpPr>
          <p:cNvPr id="12" name="stat2"/>
          <p:cNvSpPr/>
          <p:nvPr>
            <p:ph idx="110" type="body" hasCustomPrompt="1"/>
          </p:nvPr>
        </p:nvSpPr>
        <p:spPr>
          <a:xfrm>
            <a:off x="3346704" y="1783080"/>
            <a:ext cx="2651760" cy="731520"/>
          </a:xfrm>
          <a:prstGeom prst="rect">
            <a:avLst/>
          </a:prstGeom>
          <a:noFill/>
          <a:ln/>
        </p:spPr>
        <p:txBody>
          <a:bodyPr wrap="square" rtlCol="0"/>
          <a:lstStyle>
            <a:lvl1pPr algn="l" indent="0" marL="0">
              <a:buNone/>
              <a:defRPr lang="en-US" sz="3000" b="1" i="1" dirty="0">
                <a:solidFill>
                  <a:srgbClr val="B5893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13" name="stat2_caption"/>
          <p:cNvSpPr/>
          <p:nvPr>
            <p:ph idx="111" type="body" hasCustomPrompt="1"/>
          </p:nvPr>
        </p:nvSpPr>
        <p:spPr>
          <a:xfrm>
            <a:off x="3346704" y="2560320"/>
            <a:ext cx="2651760" cy="384048"/>
          </a:xfrm>
          <a:prstGeom prst="rect">
            <a:avLst/>
          </a:prstGeom>
          <a:noFill/>
          <a:ln/>
        </p:spPr>
        <p:txBody>
          <a:bodyPr wrap="square" rtlCol="0"/>
          <a:lstStyle>
            <a:lvl1pPr algn="l" indent="0" marL="0">
              <a:buNone/>
              <a:defRPr lang="en-US" sz="9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14" name="stat2_context"/>
          <p:cNvSpPr/>
          <p:nvPr>
            <p:ph idx="112" type="body" hasCustomPrompt="1"/>
          </p:nvPr>
        </p:nvSpPr>
        <p:spPr>
          <a:xfrm>
            <a:off x="3346704" y="2962656"/>
            <a:ext cx="2651760" cy="438912"/>
          </a:xfrm>
          <a:prstGeom prst="rect">
            <a:avLst/>
          </a:prstGeom>
          <a:noFill/>
          <a:ln/>
        </p:spPr>
        <p:txBody>
          <a:bodyPr wrap="square" rtlCol="0"/>
          <a:lstStyle>
            <a:lvl1pPr algn="l" indent="0" marL="0">
              <a:buNone/>
              <a:defRPr lang="en-US" sz="100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5" name="Shape 5"/>
          <p:cNvSpPr/>
          <p:nvPr/>
        </p:nvSpPr>
        <p:spPr>
          <a:xfrm>
            <a:off x="6144768" y="1691640"/>
            <a:ext cx="2651760" cy="0"/>
          </a:xfrm>
          <a:prstGeom prst="line">
            <a:avLst/>
          </a:prstGeom>
          <a:noFill/>
          <a:ln w="19050">
            <a:solidFill>
              <a:srgbClr val="B5893B"/>
            </a:solidFill>
            <a:prstDash val="solid"/>
          </a:ln>
        </p:spPr>
      </p:sp>
      <p:sp>
        <p:nvSpPr>
          <p:cNvPr id="16" name="stat3"/>
          <p:cNvSpPr/>
          <p:nvPr>
            <p:ph idx="114" type="body" hasCustomPrompt="1"/>
          </p:nvPr>
        </p:nvSpPr>
        <p:spPr>
          <a:xfrm>
            <a:off x="6144768" y="1783080"/>
            <a:ext cx="2651760" cy="731520"/>
          </a:xfrm>
          <a:prstGeom prst="rect">
            <a:avLst/>
          </a:prstGeom>
          <a:noFill/>
          <a:ln/>
        </p:spPr>
        <p:txBody>
          <a:bodyPr wrap="square" rtlCol="0"/>
          <a:lstStyle>
            <a:lvl1pPr algn="l" indent="0" marL="0">
              <a:buNone/>
              <a:defRPr lang="en-US" sz="3000" b="1" i="1" dirty="0">
                <a:solidFill>
                  <a:srgbClr val="B5893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17" name="stat3_caption"/>
          <p:cNvSpPr/>
          <p:nvPr>
            <p:ph idx="115" type="body" hasCustomPrompt="1"/>
          </p:nvPr>
        </p:nvSpPr>
        <p:spPr>
          <a:xfrm>
            <a:off x="6144768" y="2560320"/>
            <a:ext cx="2651760" cy="384048"/>
          </a:xfrm>
          <a:prstGeom prst="rect">
            <a:avLst/>
          </a:prstGeom>
          <a:noFill/>
          <a:ln/>
        </p:spPr>
        <p:txBody>
          <a:bodyPr wrap="square" rtlCol="0"/>
          <a:lstStyle>
            <a:lvl1pPr algn="l" indent="0" marL="0">
              <a:buNone/>
              <a:defRPr lang="en-US" sz="9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18" name="stat3_context"/>
          <p:cNvSpPr/>
          <p:nvPr>
            <p:ph idx="116" type="body" hasCustomPrompt="1"/>
          </p:nvPr>
        </p:nvSpPr>
        <p:spPr>
          <a:xfrm>
            <a:off x="6144768" y="2962656"/>
            <a:ext cx="2651760" cy="438912"/>
          </a:xfrm>
          <a:prstGeom prst="rect">
            <a:avLst/>
          </a:prstGeom>
          <a:noFill/>
          <a:ln/>
        </p:spPr>
        <p:txBody>
          <a:bodyPr wrap="square" rtlCol="0"/>
          <a:lstStyle>
            <a:lvl1pPr algn="l" indent="0" marL="0">
              <a:buNone/>
              <a:defRPr lang="en-US" sz="100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9" name="Shape 6"/>
          <p:cNvSpPr/>
          <p:nvPr/>
        </p:nvSpPr>
        <p:spPr>
          <a:xfrm>
            <a:off x="8942832" y="1691640"/>
            <a:ext cx="2651760" cy="0"/>
          </a:xfrm>
          <a:prstGeom prst="line">
            <a:avLst/>
          </a:prstGeom>
          <a:noFill/>
          <a:ln w="19050">
            <a:solidFill>
              <a:srgbClr val="B5893B"/>
            </a:solidFill>
            <a:prstDash val="solid"/>
          </a:ln>
        </p:spPr>
      </p:sp>
      <p:sp>
        <p:nvSpPr>
          <p:cNvPr id="20" name="stat4"/>
          <p:cNvSpPr/>
          <p:nvPr>
            <p:ph idx="118" type="body" hasCustomPrompt="1"/>
          </p:nvPr>
        </p:nvSpPr>
        <p:spPr>
          <a:xfrm>
            <a:off x="8942832" y="1783080"/>
            <a:ext cx="2651760" cy="731520"/>
          </a:xfrm>
          <a:prstGeom prst="rect">
            <a:avLst/>
          </a:prstGeom>
          <a:noFill/>
          <a:ln/>
        </p:spPr>
        <p:txBody>
          <a:bodyPr wrap="square" rtlCol="0"/>
          <a:lstStyle>
            <a:lvl1pPr algn="l" indent="0" marL="0">
              <a:buNone/>
              <a:defRPr lang="en-US" sz="3000" b="1" i="1" dirty="0">
                <a:solidFill>
                  <a:srgbClr val="B5893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1" name="stat4_caption"/>
          <p:cNvSpPr/>
          <p:nvPr>
            <p:ph idx="119" type="body" hasCustomPrompt="1"/>
          </p:nvPr>
        </p:nvSpPr>
        <p:spPr>
          <a:xfrm>
            <a:off x="8942832" y="2560320"/>
            <a:ext cx="2651760" cy="384048"/>
          </a:xfrm>
          <a:prstGeom prst="rect">
            <a:avLst/>
          </a:prstGeom>
          <a:noFill/>
          <a:ln/>
        </p:spPr>
        <p:txBody>
          <a:bodyPr wrap="square" rtlCol="0"/>
          <a:lstStyle>
            <a:lvl1pPr algn="l" indent="0" marL="0">
              <a:buNone/>
              <a:defRPr lang="en-US" sz="9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900" dirty="0"/>
          </a:p>
        </p:txBody>
      </p:sp>
      <p:sp>
        <p:nvSpPr>
          <p:cNvPr id="22" name="stat4_context"/>
          <p:cNvSpPr/>
          <p:nvPr>
            <p:ph idx="120" type="body" hasCustomPrompt="1"/>
          </p:nvPr>
        </p:nvSpPr>
        <p:spPr>
          <a:xfrm>
            <a:off x="8942832" y="2962656"/>
            <a:ext cx="2651760" cy="438912"/>
          </a:xfrm>
          <a:prstGeom prst="rect">
            <a:avLst/>
          </a:prstGeom>
          <a:noFill/>
          <a:ln/>
        </p:spPr>
        <p:txBody>
          <a:bodyPr wrap="square" rtlCol="0"/>
          <a:lstStyle>
            <a:lvl1pPr algn="l" indent="0" marL="0">
              <a:buNone/>
              <a:defRPr lang="en-US" sz="100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3" name="chart_label"/>
          <p:cNvSpPr/>
          <p:nvPr>
            <p:ph idx="121" type="body" hasCustomPrompt="1"/>
          </p:nvPr>
        </p:nvSpPr>
        <p:spPr>
          <a:xfrm>
            <a:off x="548640" y="3493008"/>
            <a:ext cx="11064240" cy="274320"/>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4" name="chart"/>
          <p:cNvSpPr/>
          <p:nvPr>
            <p:ph idx="122" type="chart" hasCustomPrompt="1"/>
          </p:nvPr>
        </p:nvSpPr>
        <p:spPr>
          <a:xfrm>
            <a:off x="457200" y="3767328"/>
            <a:ext cx="11183112" cy="1783080"/>
          </a:xfrm>
          <a:prstGeom prst="rect">
            <a:avLst/>
          </a:prstGeom>
          <a:noFill/>
          <a:ln/>
        </p:spPr>
        <p:txBody>
          <a:bodyPr wrap="square" rtlCol="0"/>
          <a:lstStyle>
            <a:lvl1pPr algn="l" indent="0" marL="0">
              <a:buNone/>
              <a:defRPr lang="en-US" sz="1300" dirty="0">
                <a:solidFill>
                  <a:srgbClr val="1F2A4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25" name="source"/>
          <p:cNvSpPr/>
          <p:nvPr>
            <p:ph idx="123"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385"/>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rt + takeaway">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chart_label"/>
          <p:cNvSpPr/>
          <p:nvPr>
            <p:ph idx="105" type="body" hasCustomPrompt="1"/>
          </p:nvPr>
        </p:nvSpPr>
        <p:spPr>
          <a:xfrm>
            <a:off x="548640" y="1645920"/>
            <a:ext cx="7498080" cy="292608"/>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8" name="chart"/>
          <p:cNvSpPr/>
          <p:nvPr>
            <p:ph idx="106" type="chart" hasCustomPrompt="1"/>
          </p:nvPr>
        </p:nvSpPr>
        <p:spPr>
          <a:xfrm>
            <a:off x="457200" y="1938528"/>
            <a:ext cx="7589520" cy="3611880"/>
          </a:xfrm>
          <a:prstGeom prst="rect">
            <a:avLst/>
          </a:prstGeom>
          <a:noFill/>
          <a:ln/>
        </p:spPr>
        <p:txBody>
          <a:bodyPr wrap="square" rtlCol="0"/>
          <a:lstStyle>
            <a:lvl1pPr algn="l" indent="0" marL="0">
              <a:buNone/>
              <a:defRPr lang="en-US" sz="1300" dirty="0">
                <a:solidFill>
                  <a:srgbClr val="1F2A4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9" name="Shape 3"/>
          <p:cNvSpPr/>
          <p:nvPr/>
        </p:nvSpPr>
        <p:spPr>
          <a:xfrm>
            <a:off x="8275320" y="1645920"/>
            <a:ext cx="3364992" cy="3904488"/>
          </a:xfrm>
          <a:prstGeom prst="rect">
            <a:avLst/>
          </a:prstGeom>
          <a:solidFill>
            <a:srgbClr val="EDEBE4"/>
          </a:solidFill>
          <a:ln/>
        </p:spPr>
      </p:sp>
      <p:sp>
        <p:nvSpPr>
          <p:cNvPr id="10" name="Shape 4"/>
          <p:cNvSpPr/>
          <p:nvPr/>
        </p:nvSpPr>
        <p:spPr>
          <a:xfrm>
            <a:off x="8275320" y="1645920"/>
            <a:ext cx="3364992" cy="0"/>
          </a:xfrm>
          <a:prstGeom prst="line">
            <a:avLst/>
          </a:prstGeom>
          <a:noFill/>
          <a:ln w="38100">
            <a:solidFill>
              <a:srgbClr val="B5893B"/>
            </a:solidFill>
            <a:prstDash val="solid"/>
          </a:ln>
        </p:spPr>
      </p:sp>
      <p:sp>
        <p:nvSpPr>
          <p:cNvPr id="11" name="takeaway"/>
          <p:cNvSpPr/>
          <p:nvPr>
            <p:ph idx="109" type="body" hasCustomPrompt="1"/>
          </p:nvPr>
        </p:nvSpPr>
        <p:spPr>
          <a:xfrm>
            <a:off x="8412480" y="1783080"/>
            <a:ext cx="3108960" cy="3657600"/>
          </a:xfrm>
          <a:prstGeom prst="rect">
            <a:avLst/>
          </a:prstGeom>
          <a:noFill/>
          <a:ln/>
        </p:spPr>
        <p:txBody>
          <a:bodyPr wrap="square" rtlCol="0"/>
          <a:lstStyle>
            <a:lvl1pPr algn="l" indent="0" marL="0">
              <a:buNone/>
              <a:defRPr lang="en-US" sz="1200" dirty="0">
                <a:solidFill>
                  <a:srgbClr val="1F2A44"/>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2" name="source"/>
          <p:cNvSpPr/>
          <p:nvPr>
            <p:ph idx="110"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385"/>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harts">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left_label"/>
          <p:cNvSpPr/>
          <p:nvPr>
            <p:ph idx="105" type="body" hasCustomPrompt="1"/>
          </p:nvPr>
        </p:nvSpPr>
        <p:spPr>
          <a:xfrm>
            <a:off x="548640" y="1645920"/>
            <a:ext cx="5486400" cy="292608"/>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8" name="left_chart"/>
          <p:cNvSpPr/>
          <p:nvPr>
            <p:ph idx="106" type="chart" hasCustomPrompt="1"/>
          </p:nvPr>
        </p:nvSpPr>
        <p:spPr>
          <a:xfrm>
            <a:off x="457200" y="1938528"/>
            <a:ext cx="5623560" cy="3611880"/>
          </a:xfrm>
          <a:prstGeom prst="rect">
            <a:avLst/>
          </a:prstGeom>
          <a:noFill/>
          <a:ln/>
        </p:spPr>
        <p:txBody>
          <a:bodyPr wrap="square" rtlCol="0"/>
          <a:lstStyle>
            <a:lvl1pPr algn="l" indent="0" marL="0">
              <a:buNone/>
              <a:defRPr lang="en-US" sz="1300" dirty="0">
                <a:solidFill>
                  <a:srgbClr val="1F2A4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9" name="right_label"/>
          <p:cNvSpPr/>
          <p:nvPr>
            <p:ph idx="107" type="body" hasCustomPrompt="1"/>
          </p:nvPr>
        </p:nvSpPr>
        <p:spPr>
          <a:xfrm>
            <a:off x="6355080" y="1645920"/>
            <a:ext cx="5303520" cy="292608"/>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0" name="right_chart"/>
          <p:cNvSpPr/>
          <p:nvPr>
            <p:ph idx="108" type="chart" hasCustomPrompt="1"/>
          </p:nvPr>
        </p:nvSpPr>
        <p:spPr>
          <a:xfrm>
            <a:off x="6263640" y="1938528"/>
            <a:ext cx="5376672" cy="3611880"/>
          </a:xfrm>
          <a:prstGeom prst="rect">
            <a:avLst/>
          </a:prstGeom>
          <a:noFill/>
          <a:ln/>
        </p:spPr>
        <p:txBody>
          <a:bodyPr wrap="square" rtlCol="0"/>
          <a:lstStyle>
            <a:lvl1pPr algn="l" indent="0" marL="0">
              <a:buNone/>
              <a:defRPr lang="en-US" sz="1300" dirty="0">
                <a:solidFill>
                  <a:srgbClr val="1F2A4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1" name="source"/>
          <p:cNvSpPr/>
          <p:nvPr>
            <p:ph idx="109"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385"/>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rt + table">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chart_label"/>
          <p:cNvSpPr/>
          <p:nvPr>
            <p:ph idx="105" type="body" hasCustomPrompt="1"/>
          </p:nvPr>
        </p:nvSpPr>
        <p:spPr>
          <a:xfrm>
            <a:off x="548640" y="1645920"/>
            <a:ext cx="6675120" cy="292608"/>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8" name="chart"/>
          <p:cNvSpPr/>
          <p:nvPr>
            <p:ph idx="106" type="chart" hasCustomPrompt="1"/>
          </p:nvPr>
        </p:nvSpPr>
        <p:spPr>
          <a:xfrm>
            <a:off x="457200" y="1938528"/>
            <a:ext cx="6766560" cy="3611880"/>
          </a:xfrm>
          <a:prstGeom prst="rect">
            <a:avLst/>
          </a:prstGeom>
          <a:noFill/>
          <a:ln/>
        </p:spPr>
        <p:txBody>
          <a:bodyPr wrap="square" rtlCol="0"/>
          <a:lstStyle>
            <a:lvl1pPr algn="l" indent="0" marL="0">
              <a:buNone/>
              <a:defRPr lang="en-US" sz="1300" dirty="0">
                <a:solidFill>
                  <a:srgbClr val="1F2A4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9" name="table_label"/>
          <p:cNvSpPr/>
          <p:nvPr>
            <p:ph idx="107" type="body" hasCustomPrompt="1"/>
          </p:nvPr>
        </p:nvSpPr>
        <p:spPr>
          <a:xfrm>
            <a:off x="7498080" y="1645920"/>
            <a:ext cx="4114800" cy="292608"/>
          </a:xfrm>
          <a:prstGeom prst="rect">
            <a:avLst/>
          </a:prstGeom>
          <a:noFill/>
          <a:ln/>
        </p:spPr>
        <p:txBody>
          <a:bodyPr wrap="square" rtlCol="0"/>
          <a:lstStyle>
            <a:lvl1pPr algn="l" indent="0" marL="0">
              <a:buNone/>
              <a:defRPr lang="en-US" sz="1000" b="1" spc="200" kern="0" dirty="0">
                <a:solidFill>
                  <a:srgbClr val="6B7385"/>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0" name="table"/>
          <p:cNvSpPr/>
          <p:nvPr>
            <p:ph idx="108" type="body" hasCustomPrompt="1"/>
          </p:nvPr>
        </p:nvSpPr>
        <p:spPr>
          <a:xfrm>
            <a:off x="7498080" y="1938528"/>
            <a:ext cx="4142232" cy="2743200"/>
          </a:xfrm>
          <a:prstGeom prst="rect">
            <a:avLst/>
          </a:prstGeom>
          <a:noFill/>
          <a:ln/>
        </p:spPr>
        <p:txBody>
          <a:bodyPr wrap="square" rtlCol="0"/>
          <a:lstStyle>
            <a:lvl1pPr algn="l" indent="0" marL="0">
              <a:buNone/>
              <a:defRPr lang="en-US" sz="1300" dirty="0">
                <a:solidFill>
                  <a:srgbClr val="1F2A44"/>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11" name="source"/>
          <p:cNvSpPr/>
          <p:nvPr>
            <p:ph idx="109" type="body" hasCustomPrompt="1"/>
          </p:nvPr>
        </p:nvSpPr>
        <p:spPr>
          <a:xfrm>
            <a:off x="548640" y="6217920"/>
            <a:ext cx="11064240" cy="219456"/>
          </a:xfrm>
          <a:prstGeom prst="rect">
            <a:avLst/>
          </a:prstGeom>
          <a:noFill/>
          <a:ln/>
        </p:spPr>
        <p:txBody>
          <a:bodyPr wrap="square" rtlCol="0"/>
          <a:lstStyle>
            <a:lvl1pPr algn="l" indent="0" marL="0">
              <a:buNone/>
              <a:defRPr lang="en-US" sz="800" dirty="0">
                <a:solidFill>
                  <a:srgbClr val="6B7385"/>
                </a:solidFill>
                <a:latin typeface="Calibri" pitchFamily="34" charset="0"/>
                <a:ea typeface="Calibri" pitchFamily="34" charset="-122"/>
                <a:cs typeface="Calibri" pitchFamily="34" charset="-120"/>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umbered pillars">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Text 3"/>
          <p:cNvSpPr/>
          <p:nvPr/>
        </p:nvSpPr>
        <p:spPr>
          <a:xfrm>
            <a:off x="548640" y="1600200"/>
            <a:ext cx="1828800" cy="868680"/>
          </a:xfrm>
          <a:prstGeom prst="rect">
            <a:avLst/>
          </a:prstGeom>
          <a:noFill/>
          <a:ln/>
        </p:spPr>
        <p:txBody>
          <a:bodyPr wrap="square" lIns="0" tIns="0" rIns="0" bIns="0" rtlCol="0" anchor="b"/>
          <a:lstStyle/>
          <a:p>
            <a:pPr indent="0" marL="0">
              <a:buNone/>
            </a:pPr>
            <a:r>
              <a:rPr lang="en-US" sz="4800" b="1" i="1" dirty="0">
                <a:solidFill>
                  <a:srgbClr val="B5893B"/>
                </a:solidFill>
                <a:latin typeface="Cambria" pitchFamily="34" charset="0"/>
                <a:ea typeface="Cambria" pitchFamily="34" charset="-122"/>
                <a:cs typeface="Cambria" pitchFamily="34" charset="-120"/>
              </a:rPr>
              <a:t>01</a:t>
            </a:r>
            <a:endParaRPr lang="en-US" sz="4800" dirty="0"/>
          </a:p>
        </p:txBody>
      </p:sp>
      <p:sp>
        <p:nvSpPr>
          <p:cNvPr id="8" name="Shape 4"/>
          <p:cNvSpPr/>
          <p:nvPr/>
        </p:nvSpPr>
        <p:spPr>
          <a:xfrm>
            <a:off x="548640" y="2560320"/>
            <a:ext cx="3520440" cy="0"/>
          </a:xfrm>
          <a:prstGeom prst="line">
            <a:avLst/>
          </a:prstGeom>
          <a:noFill/>
          <a:ln w="12700">
            <a:solidFill>
              <a:srgbClr val="D9D6CC"/>
            </a:solidFill>
            <a:prstDash val="solid"/>
          </a:ln>
        </p:spPr>
      </p:sp>
      <p:sp>
        <p:nvSpPr>
          <p:cNvPr id="9" name="pillar1_head"/>
          <p:cNvSpPr/>
          <p:nvPr>
            <p:ph idx="107" type="body" hasCustomPrompt="1"/>
          </p:nvPr>
        </p:nvSpPr>
        <p:spPr>
          <a:xfrm>
            <a:off x="548640" y="2697480"/>
            <a:ext cx="3520440" cy="731520"/>
          </a:xfrm>
          <a:prstGeom prst="rect">
            <a:avLst/>
          </a:prstGeom>
          <a:noFill/>
          <a:ln/>
        </p:spPr>
        <p:txBody>
          <a:bodyPr wrap="square" rtlCol="0"/>
          <a:lstStyle>
            <a:lvl1pPr algn="l" indent="0" marL="0">
              <a:buNone/>
              <a:defRPr lang="en-US" sz="17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700" dirty="0"/>
          </a:p>
        </p:txBody>
      </p:sp>
      <p:sp>
        <p:nvSpPr>
          <p:cNvPr id="10" name="pillar1_body"/>
          <p:cNvSpPr/>
          <p:nvPr>
            <p:ph idx="108" type="body" hasCustomPrompt="1"/>
          </p:nvPr>
        </p:nvSpPr>
        <p:spPr>
          <a:xfrm>
            <a:off x="548640" y="3474720"/>
            <a:ext cx="3520440" cy="2011680"/>
          </a:xfrm>
          <a:prstGeom prst="rect">
            <a:avLst/>
          </a:prstGeom>
          <a:noFill/>
          <a:ln/>
        </p:spPr>
        <p:txBody>
          <a:bodyPr wrap="square" rtlCol="0"/>
          <a:lstStyle>
            <a:lvl1pPr algn="l" indent="0" marL="0">
              <a:buNone/>
              <a:defRPr lang="en-US" sz="1200" dirty="0">
                <a:solidFill>
                  <a:srgbClr val="1F2A44"/>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1" name="Text 5"/>
          <p:cNvSpPr/>
          <p:nvPr/>
        </p:nvSpPr>
        <p:spPr>
          <a:xfrm>
            <a:off x="4279392" y="1600200"/>
            <a:ext cx="1828800" cy="868680"/>
          </a:xfrm>
          <a:prstGeom prst="rect">
            <a:avLst/>
          </a:prstGeom>
          <a:noFill/>
          <a:ln/>
        </p:spPr>
        <p:txBody>
          <a:bodyPr wrap="square" lIns="0" tIns="0" rIns="0" bIns="0" rtlCol="0" anchor="b"/>
          <a:lstStyle/>
          <a:p>
            <a:pPr indent="0" marL="0">
              <a:buNone/>
            </a:pPr>
            <a:r>
              <a:rPr lang="en-US" sz="4800" b="1" i="1" dirty="0">
                <a:solidFill>
                  <a:srgbClr val="B5893B"/>
                </a:solidFill>
                <a:latin typeface="Cambria" pitchFamily="34" charset="0"/>
                <a:ea typeface="Cambria" pitchFamily="34" charset="-122"/>
                <a:cs typeface="Cambria" pitchFamily="34" charset="-120"/>
              </a:rPr>
              <a:t>02</a:t>
            </a:r>
            <a:endParaRPr lang="en-US" sz="4800" dirty="0"/>
          </a:p>
        </p:txBody>
      </p:sp>
      <p:sp>
        <p:nvSpPr>
          <p:cNvPr id="12" name="Shape 6"/>
          <p:cNvSpPr/>
          <p:nvPr/>
        </p:nvSpPr>
        <p:spPr>
          <a:xfrm>
            <a:off x="4279392" y="2560320"/>
            <a:ext cx="3520440" cy="0"/>
          </a:xfrm>
          <a:prstGeom prst="line">
            <a:avLst/>
          </a:prstGeom>
          <a:noFill/>
          <a:ln w="12700">
            <a:solidFill>
              <a:srgbClr val="D9D6CC"/>
            </a:solidFill>
            <a:prstDash val="solid"/>
          </a:ln>
        </p:spPr>
      </p:sp>
      <p:sp>
        <p:nvSpPr>
          <p:cNvPr id="13" name="pillar2_head"/>
          <p:cNvSpPr/>
          <p:nvPr>
            <p:ph idx="111" type="body" hasCustomPrompt="1"/>
          </p:nvPr>
        </p:nvSpPr>
        <p:spPr>
          <a:xfrm>
            <a:off x="4279392" y="2697480"/>
            <a:ext cx="3520440" cy="731520"/>
          </a:xfrm>
          <a:prstGeom prst="rect">
            <a:avLst/>
          </a:prstGeom>
          <a:noFill/>
          <a:ln/>
        </p:spPr>
        <p:txBody>
          <a:bodyPr wrap="square" rtlCol="0"/>
          <a:lstStyle>
            <a:lvl1pPr algn="l" indent="0" marL="0">
              <a:buNone/>
              <a:defRPr lang="en-US" sz="17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700" dirty="0"/>
          </a:p>
        </p:txBody>
      </p:sp>
      <p:sp>
        <p:nvSpPr>
          <p:cNvPr id="14" name="pillar2_body"/>
          <p:cNvSpPr/>
          <p:nvPr>
            <p:ph idx="112" type="body" hasCustomPrompt="1"/>
          </p:nvPr>
        </p:nvSpPr>
        <p:spPr>
          <a:xfrm>
            <a:off x="4279392" y="3474720"/>
            <a:ext cx="3520440" cy="2011680"/>
          </a:xfrm>
          <a:prstGeom prst="rect">
            <a:avLst/>
          </a:prstGeom>
          <a:noFill/>
          <a:ln/>
        </p:spPr>
        <p:txBody>
          <a:bodyPr wrap="square" rtlCol="0"/>
          <a:lstStyle>
            <a:lvl1pPr algn="l" indent="0" marL="0">
              <a:buNone/>
              <a:defRPr lang="en-US" sz="1200" dirty="0">
                <a:solidFill>
                  <a:srgbClr val="1F2A44"/>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15" name="Text 7"/>
          <p:cNvSpPr/>
          <p:nvPr/>
        </p:nvSpPr>
        <p:spPr>
          <a:xfrm>
            <a:off x="8010144" y="1600200"/>
            <a:ext cx="1828800" cy="868680"/>
          </a:xfrm>
          <a:prstGeom prst="rect">
            <a:avLst/>
          </a:prstGeom>
          <a:noFill/>
          <a:ln/>
        </p:spPr>
        <p:txBody>
          <a:bodyPr wrap="square" lIns="0" tIns="0" rIns="0" bIns="0" rtlCol="0" anchor="b"/>
          <a:lstStyle/>
          <a:p>
            <a:pPr indent="0" marL="0">
              <a:buNone/>
            </a:pPr>
            <a:r>
              <a:rPr lang="en-US" sz="4800" b="1" i="1" dirty="0">
                <a:solidFill>
                  <a:srgbClr val="B5893B"/>
                </a:solidFill>
                <a:latin typeface="Cambria" pitchFamily="34" charset="0"/>
                <a:ea typeface="Cambria" pitchFamily="34" charset="-122"/>
                <a:cs typeface="Cambria" pitchFamily="34" charset="-120"/>
              </a:rPr>
              <a:t>03</a:t>
            </a:r>
            <a:endParaRPr lang="en-US" sz="4800" dirty="0"/>
          </a:p>
        </p:txBody>
      </p:sp>
      <p:sp>
        <p:nvSpPr>
          <p:cNvPr id="16" name="Shape 8"/>
          <p:cNvSpPr/>
          <p:nvPr/>
        </p:nvSpPr>
        <p:spPr>
          <a:xfrm>
            <a:off x="8010144" y="2560320"/>
            <a:ext cx="3520440" cy="0"/>
          </a:xfrm>
          <a:prstGeom prst="line">
            <a:avLst/>
          </a:prstGeom>
          <a:noFill/>
          <a:ln w="12700">
            <a:solidFill>
              <a:srgbClr val="D9D6CC"/>
            </a:solidFill>
            <a:prstDash val="solid"/>
          </a:ln>
        </p:spPr>
      </p:sp>
      <p:sp>
        <p:nvSpPr>
          <p:cNvPr id="17" name="pillar3_head"/>
          <p:cNvSpPr/>
          <p:nvPr>
            <p:ph idx="115" type="body" hasCustomPrompt="1"/>
          </p:nvPr>
        </p:nvSpPr>
        <p:spPr>
          <a:xfrm>
            <a:off x="8010144" y="2697480"/>
            <a:ext cx="3520440" cy="731520"/>
          </a:xfrm>
          <a:prstGeom prst="rect">
            <a:avLst/>
          </a:prstGeom>
          <a:noFill/>
          <a:ln/>
        </p:spPr>
        <p:txBody>
          <a:bodyPr wrap="square" rtlCol="0"/>
          <a:lstStyle>
            <a:lvl1pPr algn="l" indent="0" marL="0">
              <a:buNone/>
              <a:defRPr lang="en-US" sz="17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700" dirty="0"/>
          </a:p>
        </p:txBody>
      </p:sp>
      <p:sp>
        <p:nvSpPr>
          <p:cNvPr id="18" name="pillar3_body"/>
          <p:cNvSpPr/>
          <p:nvPr>
            <p:ph idx="116" type="body" hasCustomPrompt="1"/>
          </p:nvPr>
        </p:nvSpPr>
        <p:spPr>
          <a:xfrm>
            <a:off x="8010144" y="3474720"/>
            <a:ext cx="3520440" cy="2011680"/>
          </a:xfrm>
          <a:prstGeom prst="rect">
            <a:avLst/>
          </a:prstGeom>
          <a:noFill/>
          <a:ln/>
        </p:spPr>
        <p:txBody>
          <a:bodyPr wrap="square" rtlCol="0"/>
          <a:lstStyle>
            <a:lvl1pPr algn="l" indent="0" marL="0">
              <a:buNone/>
              <a:defRPr lang="en-US" sz="1200" dirty="0">
                <a:solidFill>
                  <a:srgbClr val="1F2A44"/>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meline">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step1_when"/>
          <p:cNvSpPr/>
          <p:nvPr>
            <p:ph idx="105" type="body" hasCustomPrompt="1"/>
          </p:nvPr>
        </p:nvSpPr>
        <p:spPr>
          <a:xfrm>
            <a:off x="548640" y="2194560"/>
            <a:ext cx="2103120" cy="320040"/>
          </a:xfrm>
          <a:prstGeom prst="rect">
            <a:avLst/>
          </a:prstGeom>
          <a:noFill/>
          <a:ln/>
        </p:spPr>
        <p:txBody>
          <a:bodyPr wrap="square" rtlCol="0"/>
          <a:lstStyle>
            <a:lvl1pPr algn="l" indent="0" marL="0">
              <a:buNone/>
              <a:defRPr lang="en-US" sz="1100" b="1" spc="2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8" name="step1_head"/>
          <p:cNvSpPr/>
          <p:nvPr>
            <p:ph idx="106" type="body" hasCustomPrompt="1"/>
          </p:nvPr>
        </p:nvSpPr>
        <p:spPr>
          <a:xfrm>
            <a:off x="548640" y="3017520"/>
            <a:ext cx="2103120" cy="548640"/>
          </a:xfrm>
          <a:prstGeom prst="rect">
            <a:avLst/>
          </a:prstGeom>
          <a:noFill/>
          <a:ln/>
        </p:spPr>
        <p:txBody>
          <a:bodyPr wrap="square" rtlCol="0"/>
          <a:lstStyle>
            <a:lvl1pPr algn="l" indent="0" marL="0">
              <a:buNone/>
              <a:defRPr lang="en-US" sz="15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500" dirty="0"/>
          </a:p>
        </p:txBody>
      </p:sp>
      <p:sp>
        <p:nvSpPr>
          <p:cNvPr id="9" name="step1_body"/>
          <p:cNvSpPr/>
          <p:nvPr>
            <p:ph idx="107" type="body" hasCustomPrompt="1"/>
          </p:nvPr>
        </p:nvSpPr>
        <p:spPr>
          <a:xfrm>
            <a:off x="548640" y="3657600"/>
            <a:ext cx="2103120" cy="1828800"/>
          </a:xfrm>
          <a:prstGeom prst="rect">
            <a:avLst/>
          </a:prstGeom>
          <a:noFill/>
          <a:ln/>
        </p:spPr>
        <p:txBody>
          <a:bodyPr wrap="square" rtlCol="0"/>
          <a:lstStyle>
            <a:lvl1pPr algn="l" indent="0" marL="0">
              <a:buNone/>
              <a:defRPr lang="en-US" sz="1100" dirty="0">
                <a:solidFill>
                  <a:srgbClr val="1F2A44"/>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0" name="step2_when"/>
          <p:cNvSpPr/>
          <p:nvPr>
            <p:ph idx="108" type="body" hasCustomPrompt="1"/>
          </p:nvPr>
        </p:nvSpPr>
        <p:spPr>
          <a:xfrm>
            <a:off x="2788920" y="2194560"/>
            <a:ext cx="2103120" cy="320040"/>
          </a:xfrm>
          <a:prstGeom prst="rect">
            <a:avLst/>
          </a:prstGeom>
          <a:noFill/>
          <a:ln/>
        </p:spPr>
        <p:txBody>
          <a:bodyPr wrap="square" rtlCol="0"/>
          <a:lstStyle>
            <a:lvl1pPr algn="l" indent="0" marL="0">
              <a:buNone/>
              <a:defRPr lang="en-US" sz="1100" b="1" spc="2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1" name="step2_head"/>
          <p:cNvSpPr/>
          <p:nvPr>
            <p:ph idx="109" type="body" hasCustomPrompt="1"/>
          </p:nvPr>
        </p:nvSpPr>
        <p:spPr>
          <a:xfrm>
            <a:off x="2788920" y="3017520"/>
            <a:ext cx="2103120" cy="548640"/>
          </a:xfrm>
          <a:prstGeom prst="rect">
            <a:avLst/>
          </a:prstGeom>
          <a:noFill/>
          <a:ln/>
        </p:spPr>
        <p:txBody>
          <a:bodyPr wrap="square" rtlCol="0"/>
          <a:lstStyle>
            <a:lvl1pPr algn="l" indent="0" marL="0">
              <a:buNone/>
              <a:defRPr lang="en-US" sz="15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500" dirty="0"/>
          </a:p>
        </p:txBody>
      </p:sp>
      <p:sp>
        <p:nvSpPr>
          <p:cNvPr id="12" name="step2_body"/>
          <p:cNvSpPr/>
          <p:nvPr>
            <p:ph idx="110" type="body" hasCustomPrompt="1"/>
          </p:nvPr>
        </p:nvSpPr>
        <p:spPr>
          <a:xfrm>
            <a:off x="2788920" y="3657600"/>
            <a:ext cx="2103120" cy="1828800"/>
          </a:xfrm>
          <a:prstGeom prst="rect">
            <a:avLst/>
          </a:prstGeom>
          <a:noFill/>
          <a:ln/>
        </p:spPr>
        <p:txBody>
          <a:bodyPr wrap="square" rtlCol="0"/>
          <a:lstStyle>
            <a:lvl1pPr algn="l" indent="0" marL="0">
              <a:buNone/>
              <a:defRPr lang="en-US" sz="1100" dirty="0">
                <a:solidFill>
                  <a:srgbClr val="1F2A44"/>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3" name="step3_when"/>
          <p:cNvSpPr/>
          <p:nvPr>
            <p:ph idx="111" type="body" hasCustomPrompt="1"/>
          </p:nvPr>
        </p:nvSpPr>
        <p:spPr>
          <a:xfrm>
            <a:off x="5029200" y="2194560"/>
            <a:ext cx="2103120" cy="320040"/>
          </a:xfrm>
          <a:prstGeom prst="rect">
            <a:avLst/>
          </a:prstGeom>
          <a:noFill/>
          <a:ln/>
        </p:spPr>
        <p:txBody>
          <a:bodyPr wrap="square" rtlCol="0"/>
          <a:lstStyle>
            <a:lvl1pPr algn="l" indent="0" marL="0">
              <a:buNone/>
              <a:defRPr lang="en-US" sz="1100" b="1" spc="2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4" name="step3_head"/>
          <p:cNvSpPr/>
          <p:nvPr>
            <p:ph idx="112" type="body" hasCustomPrompt="1"/>
          </p:nvPr>
        </p:nvSpPr>
        <p:spPr>
          <a:xfrm>
            <a:off x="5029200" y="3017520"/>
            <a:ext cx="2103120" cy="548640"/>
          </a:xfrm>
          <a:prstGeom prst="rect">
            <a:avLst/>
          </a:prstGeom>
          <a:noFill/>
          <a:ln/>
        </p:spPr>
        <p:txBody>
          <a:bodyPr wrap="square" rtlCol="0"/>
          <a:lstStyle>
            <a:lvl1pPr algn="l" indent="0" marL="0">
              <a:buNone/>
              <a:defRPr lang="en-US" sz="15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500" dirty="0"/>
          </a:p>
        </p:txBody>
      </p:sp>
      <p:sp>
        <p:nvSpPr>
          <p:cNvPr id="15" name="step3_body"/>
          <p:cNvSpPr/>
          <p:nvPr>
            <p:ph idx="113" type="body" hasCustomPrompt="1"/>
          </p:nvPr>
        </p:nvSpPr>
        <p:spPr>
          <a:xfrm>
            <a:off x="5029200" y="3657600"/>
            <a:ext cx="2103120" cy="1828800"/>
          </a:xfrm>
          <a:prstGeom prst="rect">
            <a:avLst/>
          </a:prstGeom>
          <a:noFill/>
          <a:ln/>
        </p:spPr>
        <p:txBody>
          <a:bodyPr wrap="square" rtlCol="0"/>
          <a:lstStyle>
            <a:lvl1pPr algn="l" indent="0" marL="0">
              <a:buNone/>
              <a:defRPr lang="en-US" sz="1100" dirty="0">
                <a:solidFill>
                  <a:srgbClr val="1F2A44"/>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6" name="step4_when"/>
          <p:cNvSpPr/>
          <p:nvPr>
            <p:ph idx="114" type="body" hasCustomPrompt="1"/>
          </p:nvPr>
        </p:nvSpPr>
        <p:spPr>
          <a:xfrm>
            <a:off x="7269480" y="2194560"/>
            <a:ext cx="2103120" cy="320040"/>
          </a:xfrm>
          <a:prstGeom prst="rect">
            <a:avLst/>
          </a:prstGeom>
          <a:noFill/>
          <a:ln/>
        </p:spPr>
        <p:txBody>
          <a:bodyPr wrap="square" rtlCol="0"/>
          <a:lstStyle>
            <a:lvl1pPr algn="l" indent="0" marL="0">
              <a:buNone/>
              <a:defRPr lang="en-US" sz="1100" b="1" spc="2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7" name="step4_head"/>
          <p:cNvSpPr/>
          <p:nvPr>
            <p:ph idx="115" type="body" hasCustomPrompt="1"/>
          </p:nvPr>
        </p:nvSpPr>
        <p:spPr>
          <a:xfrm>
            <a:off x="7269480" y="3017520"/>
            <a:ext cx="2103120" cy="548640"/>
          </a:xfrm>
          <a:prstGeom prst="rect">
            <a:avLst/>
          </a:prstGeom>
          <a:noFill/>
          <a:ln/>
        </p:spPr>
        <p:txBody>
          <a:bodyPr wrap="square" rtlCol="0"/>
          <a:lstStyle>
            <a:lvl1pPr algn="l" indent="0" marL="0">
              <a:buNone/>
              <a:defRPr lang="en-US" sz="15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500" dirty="0"/>
          </a:p>
        </p:txBody>
      </p:sp>
      <p:sp>
        <p:nvSpPr>
          <p:cNvPr id="18" name="step4_body"/>
          <p:cNvSpPr/>
          <p:nvPr>
            <p:ph idx="116" type="body" hasCustomPrompt="1"/>
          </p:nvPr>
        </p:nvSpPr>
        <p:spPr>
          <a:xfrm>
            <a:off x="7269480" y="3657600"/>
            <a:ext cx="2103120" cy="1828800"/>
          </a:xfrm>
          <a:prstGeom prst="rect">
            <a:avLst/>
          </a:prstGeom>
          <a:noFill/>
          <a:ln/>
        </p:spPr>
        <p:txBody>
          <a:bodyPr wrap="square" rtlCol="0"/>
          <a:lstStyle>
            <a:lvl1pPr algn="l" indent="0" marL="0">
              <a:buNone/>
              <a:defRPr lang="en-US" sz="1100" dirty="0">
                <a:solidFill>
                  <a:srgbClr val="1F2A44"/>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19" name="step5_when"/>
          <p:cNvSpPr/>
          <p:nvPr>
            <p:ph idx="117" type="body" hasCustomPrompt="1"/>
          </p:nvPr>
        </p:nvSpPr>
        <p:spPr>
          <a:xfrm>
            <a:off x="9509760" y="2194560"/>
            <a:ext cx="2103120" cy="320040"/>
          </a:xfrm>
          <a:prstGeom prst="rect">
            <a:avLst/>
          </a:prstGeom>
          <a:noFill/>
          <a:ln/>
        </p:spPr>
        <p:txBody>
          <a:bodyPr wrap="square" rtlCol="0"/>
          <a:lstStyle>
            <a:lvl1pPr algn="l" indent="0" marL="0">
              <a:buNone/>
              <a:defRPr lang="en-US" sz="1100" b="1" spc="2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20" name="step5_head"/>
          <p:cNvSpPr/>
          <p:nvPr>
            <p:ph idx="118" type="body" hasCustomPrompt="1"/>
          </p:nvPr>
        </p:nvSpPr>
        <p:spPr>
          <a:xfrm>
            <a:off x="9509760" y="3017520"/>
            <a:ext cx="2103120" cy="548640"/>
          </a:xfrm>
          <a:prstGeom prst="rect">
            <a:avLst/>
          </a:prstGeom>
          <a:noFill/>
          <a:ln/>
        </p:spPr>
        <p:txBody>
          <a:bodyPr wrap="square" rtlCol="0"/>
          <a:lstStyle>
            <a:lvl1pPr algn="l" indent="0" marL="0">
              <a:buNone/>
              <a:defRPr lang="en-US" sz="1500" b="1" dirty="0">
                <a:solidFill>
                  <a:srgbClr val="1F2A44"/>
                </a:solidFill>
                <a:latin typeface="Cambria" pitchFamily="34" charset="0"/>
                <a:ea typeface="Cambria" pitchFamily="34" charset="-122"/>
                <a:cs typeface="Cambria" pitchFamily="34" charset="-120"/>
              </a:defRPr>
            </a:lvl1pPr>
          </a:lstStyle>
          <a:p>
            <a:pPr algn="l" indent="0" marL="0">
              <a:buNone/>
            </a:pPr>
            <a:endParaRPr lang="en-US" sz="1500" dirty="0"/>
          </a:p>
        </p:txBody>
      </p:sp>
      <p:sp>
        <p:nvSpPr>
          <p:cNvPr id="21" name="step5_body"/>
          <p:cNvSpPr/>
          <p:nvPr>
            <p:ph idx="119" type="body" hasCustomPrompt="1"/>
          </p:nvPr>
        </p:nvSpPr>
        <p:spPr>
          <a:xfrm>
            <a:off x="9509760" y="3657600"/>
            <a:ext cx="2103120" cy="1828800"/>
          </a:xfrm>
          <a:prstGeom prst="rect">
            <a:avLst/>
          </a:prstGeom>
          <a:noFill/>
          <a:ln/>
        </p:spPr>
        <p:txBody>
          <a:bodyPr wrap="square" rtlCol="0"/>
          <a:lstStyle>
            <a:lvl1pPr algn="l" indent="0" marL="0">
              <a:buNone/>
              <a:defRPr lang="en-US" sz="1100" dirty="0">
                <a:solidFill>
                  <a:srgbClr val="1F2A44"/>
                </a:solidFill>
                <a:latin typeface="Calibri" pitchFamily="34" charset="0"/>
                <a:ea typeface="Calibri" pitchFamily="34" charset="-122"/>
                <a:cs typeface="Calibri" pitchFamily="34" charset="-120"/>
              </a:defRPr>
            </a:lvl1pPr>
          </a:lstStyle>
          <a:p>
            <a:pPr algn="l" indent="0" marL="0">
              <a:buNone/>
            </a:pPr>
            <a:endParaRPr lang="en-US" sz="11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ignal cards">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Shape 3"/>
          <p:cNvSpPr/>
          <p:nvPr/>
        </p:nvSpPr>
        <p:spPr>
          <a:xfrm>
            <a:off x="548640" y="1645920"/>
            <a:ext cx="3611880" cy="1783080"/>
          </a:xfrm>
          <a:prstGeom prst="rect">
            <a:avLst/>
          </a:prstGeom>
          <a:solidFill>
            <a:srgbClr val="FFFFFF"/>
          </a:solidFill>
          <a:ln w="9525">
            <a:solidFill>
              <a:srgbClr val="D9D6CC"/>
            </a:solidFill>
            <a:prstDash val="solid"/>
          </a:ln>
        </p:spPr>
      </p:sp>
      <p:sp>
        <p:nvSpPr>
          <p:cNvPr id="8" name="card1"/>
          <p:cNvSpPr/>
          <p:nvPr>
            <p:ph idx="106" type="body" hasCustomPrompt="1"/>
          </p:nvPr>
        </p:nvSpPr>
        <p:spPr>
          <a:xfrm>
            <a:off x="676656" y="1737360"/>
            <a:ext cx="3383280" cy="164592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9" name="Shape 4"/>
          <p:cNvSpPr/>
          <p:nvPr/>
        </p:nvSpPr>
        <p:spPr>
          <a:xfrm>
            <a:off x="4279392" y="1645920"/>
            <a:ext cx="3611880" cy="1783080"/>
          </a:xfrm>
          <a:prstGeom prst="rect">
            <a:avLst/>
          </a:prstGeom>
          <a:solidFill>
            <a:srgbClr val="FFFFFF"/>
          </a:solidFill>
          <a:ln w="9525">
            <a:solidFill>
              <a:srgbClr val="D9D6CC"/>
            </a:solidFill>
            <a:prstDash val="solid"/>
          </a:ln>
        </p:spPr>
      </p:sp>
      <p:sp>
        <p:nvSpPr>
          <p:cNvPr id="10" name="card2"/>
          <p:cNvSpPr/>
          <p:nvPr>
            <p:ph idx="108" type="body" hasCustomPrompt="1"/>
          </p:nvPr>
        </p:nvSpPr>
        <p:spPr>
          <a:xfrm>
            <a:off x="4407408" y="1737360"/>
            <a:ext cx="3383280" cy="164592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1" name="Shape 5"/>
          <p:cNvSpPr/>
          <p:nvPr/>
        </p:nvSpPr>
        <p:spPr>
          <a:xfrm>
            <a:off x="8010144" y="1645920"/>
            <a:ext cx="3611880" cy="1783080"/>
          </a:xfrm>
          <a:prstGeom prst="rect">
            <a:avLst/>
          </a:prstGeom>
          <a:solidFill>
            <a:srgbClr val="FFFFFF"/>
          </a:solidFill>
          <a:ln w="9525">
            <a:solidFill>
              <a:srgbClr val="D9D6CC"/>
            </a:solidFill>
            <a:prstDash val="solid"/>
          </a:ln>
        </p:spPr>
      </p:sp>
      <p:sp>
        <p:nvSpPr>
          <p:cNvPr id="12" name="card3"/>
          <p:cNvSpPr/>
          <p:nvPr>
            <p:ph idx="110" type="body" hasCustomPrompt="1"/>
          </p:nvPr>
        </p:nvSpPr>
        <p:spPr>
          <a:xfrm>
            <a:off x="8138160" y="1737360"/>
            <a:ext cx="3383280" cy="164592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3" name="Shape 6"/>
          <p:cNvSpPr/>
          <p:nvPr/>
        </p:nvSpPr>
        <p:spPr>
          <a:xfrm>
            <a:off x="548640" y="3547872"/>
            <a:ext cx="3611880" cy="1783080"/>
          </a:xfrm>
          <a:prstGeom prst="rect">
            <a:avLst/>
          </a:prstGeom>
          <a:solidFill>
            <a:srgbClr val="FFFFFF"/>
          </a:solidFill>
          <a:ln w="9525">
            <a:solidFill>
              <a:srgbClr val="D9D6CC"/>
            </a:solidFill>
            <a:prstDash val="solid"/>
          </a:ln>
        </p:spPr>
      </p:sp>
      <p:sp>
        <p:nvSpPr>
          <p:cNvPr id="14" name="card4"/>
          <p:cNvSpPr/>
          <p:nvPr>
            <p:ph idx="112" type="body" hasCustomPrompt="1"/>
          </p:nvPr>
        </p:nvSpPr>
        <p:spPr>
          <a:xfrm>
            <a:off x="676656" y="3639312"/>
            <a:ext cx="3383280" cy="164592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5" name="Shape 7"/>
          <p:cNvSpPr/>
          <p:nvPr/>
        </p:nvSpPr>
        <p:spPr>
          <a:xfrm>
            <a:off x="4279392" y="3547872"/>
            <a:ext cx="3611880" cy="1783080"/>
          </a:xfrm>
          <a:prstGeom prst="rect">
            <a:avLst/>
          </a:prstGeom>
          <a:solidFill>
            <a:srgbClr val="FFFFFF"/>
          </a:solidFill>
          <a:ln w="9525">
            <a:solidFill>
              <a:srgbClr val="D9D6CC"/>
            </a:solidFill>
            <a:prstDash val="solid"/>
          </a:ln>
        </p:spPr>
      </p:sp>
      <p:sp>
        <p:nvSpPr>
          <p:cNvPr id="16" name="card5"/>
          <p:cNvSpPr/>
          <p:nvPr>
            <p:ph idx="114" type="body" hasCustomPrompt="1"/>
          </p:nvPr>
        </p:nvSpPr>
        <p:spPr>
          <a:xfrm>
            <a:off x="4407408" y="3639312"/>
            <a:ext cx="3383280" cy="164592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7" name="Shape 8"/>
          <p:cNvSpPr/>
          <p:nvPr/>
        </p:nvSpPr>
        <p:spPr>
          <a:xfrm>
            <a:off x="8010144" y="3547872"/>
            <a:ext cx="3611880" cy="1783080"/>
          </a:xfrm>
          <a:prstGeom prst="rect">
            <a:avLst/>
          </a:prstGeom>
          <a:solidFill>
            <a:srgbClr val="FFFFFF"/>
          </a:solidFill>
          <a:ln w="9525">
            <a:solidFill>
              <a:srgbClr val="D9D6CC"/>
            </a:solidFill>
            <a:prstDash val="solid"/>
          </a:ln>
        </p:spPr>
      </p:sp>
      <p:sp>
        <p:nvSpPr>
          <p:cNvPr id="18" name="card6"/>
          <p:cNvSpPr/>
          <p:nvPr>
            <p:ph idx="116" type="body" hasCustomPrompt="1"/>
          </p:nvPr>
        </p:nvSpPr>
        <p:spPr>
          <a:xfrm>
            <a:off x="8138160" y="3639312"/>
            <a:ext cx="3383280" cy="164592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19" name="talk"/>
          <p:cNvSpPr/>
          <p:nvPr>
            <p:ph idx="117" type="body" hasCustomPrompt="1"/>
          </p:nvPr>
        </p:nvSpPr>
        <p:spPr>
          <a:xfrm>
            <a:off x="548640" y="5513832"/>
            <a:ext cx="11064240" cy="64008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ources">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7" name="body"/>
          <p:cNvSpPr/>
          <p:nvPr>
            <p:ph idx="105" type="body" hasCustomPrompt="1"/>
          </p:nvPr>
        </p:nvSpPr>
        <p:spPr>
          <a:xfrm>
            <a:off x="548640" y="1645920"/>
            <a:ext cx="11064240" cy="4526280"/>
          </a:xfrm>
          <a:prstGeom prst="rect">
            <a:avLst/>
          </a:prstGeom>
          <a:noFill/>
          <a:ln/>
        </p:spPr>
        <p:txBody>
          <a:bodyPr wrap="square" rtlCol="0"/>
          <a:lstStyle>
            <a:lvl1pPr algn="l" indent="0" marL="0">
              <a:buNone/>
              <a:defRPr lang="en-US" sz="1000" dirty="0">
                <a:solidFill>
                  <a:srgbClr val="1F2A44"/>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8F7F3"/>
        </a:solidFill>
      </p:bgPr>
    </p:bg>
    <p:spTree>
      <p:nvGrpSpPr>
        <p:cNvPr id="1" name=""/>
        <p:cNvGrpSpPr/>
        <p:nvPr/>
      </p:nvGrpSpPr>
      <p:grpSpPr>
        <a:xfrm>
          <a:off x="0" y="0"/>
          <a:ext cx="0" cy="0"/>
          <a:chOff x="0" y="0"/>
          <a:chExt cx="0" cy="0"/>
        </a:xfrm>
      </p:grpSpPr>
      <p:sp>
        <p:nvSpPr>
          <p:cNvPr id="2" name="Shape 0"/>
          <p:cNvSpPr/>
          <p:nvPr/>
        </p:nvSpPr>
        <p:spPr>
          <a:xfrm>
            <a:off x="548640" y="640080"/>
            <a:ext cx="548640" cy="0"/>
          </a:xfrm>
          <a:prstGeom prst="line">
            <a:avLst/>
          </a:prstGeom>
          <a:noFill/>
          <a:ln w="25400">
            <a:solidFill>
              <a:srgbClr val="B5893B"/>
            </a:solidFill>
            <a:prstDash val="solid"/>
          </a:ln>
        </p:spPr>
      </p:sp>
      <p:sp>
        <p:nvSpPr>
          <p:cNvPr id="3" name="eyebrow"/>
          <p:cNvSpPr/>
          <p:nvPr>
            <p:ph idx="101" type="body" hasCustomPrompt="1"/>
          </p:nvPr>
        </p:nvSpPr>
        <p:spPr>
          <a:xfrm>
            <a:off x="548640" y="292608"/>
            <a:ext cx="8229600" cy="274320"/>
          </a:xfrm>
          <a:prstGeom prst="rect">
            <a:avLst/>
          </a:prstGeom>
          <a:noFill/>
          <a:ln/>
        </p:spPr>
        <p:txBody>
          <a:bodyPr wrap="square" rtlCol="0"/>
          <a:lstStyle>
            <a:lvl1pPr algn="l" indent="0" marL="0">
              <a:buNone/>
              <a:defRPr lang="en-US" sz="1000" b="1" spc="300" kern="0" dirty="0">
                <a:solidFill>
                  <a:srgbClr val="B5893B"/>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4" name="title"/>
          <p:cNvSpPr/>
          <p:nvPr>
            <p:ph idx="102" type="title" hasCustomPrompt="1"/>
          </p:nvPr>
        </p:nvSpPr>
        <p:spPr>
          <a:xfrm>
            <a:off x="548640" y="676656"/>
            <a:ext cx="11064240" cy="868680"/>
          </a:xfrm>
          <a:prstGeom prst="rect">
            <a:avLst/>
          </a:prstGeom>
          <a:noFill/>
          <a:ln/>
        </p:spPr>
        <p:txBody>
          <a:bodyPr wrap="square" rtlCol="0"/>
          <a:lstStyle>
            <a:lvl1pPr algn="l" indent="0" marL="0">
              <a:buNone/>
              <a:defRPr lang="en-US" sz="2600" dirty="0">
                <a:solidFill>
                  <a:srgbClr val="1F2A44"/>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5" name="Shape 1"/>
          <p:cNvSpPr/>
          <p:nvPr/>
        </p:nvSpPr>
        <p:spPr>
          <a:xfrm>
            <a:off x="548640" y="6437376"/>
            <a:ext cx="11091672" cy="0"/>
          </a:xfrm>
          <a:prstGeom prst="line">
            <a:avLst/>
          </a:prstGeom>
          <a:noFill/>
          <a:ln w="6350">
            <a:solidFill>
              <a:srgbClr val="D9D6CC"/>
            </a:solidFill>
            <a:prstDash val="solid"/>
          </a:ln>
        </p:spPr>
      </p:sp>
      <p:sp>
        <p:nvSpPr>
          <p:cNvPr id="6" name="Text 2"/>
          <p:cNvSpPr/>
          <p:nvPr/>
        </p:nvSpPr>
        <p:spPr>
          <a:xfrm>
            <a:off x="548640" y="6510528"/>
            <a:ext cx="7315200" cy="201168"/>
          </a:xfrm>
          <a:prstGeom prst="rect">
            <a:avLst/>
          </a:prstGeom>
          <a:noFill/>
          <a:ln/>
        </p:spPr>
        <p:txBody>
          <a:bodyPr wrap="square" lIns="0" tIns="0" rIns="0" bIns="0" rtlCol="0" anchor="ctr"/>
          <a:lstStyle/>
          <a:p>
            <a:pPr indent="0" marL="0">
              <a:buNone/>
            </a:pPr>
            <a:r>
              <a:rPr lang="en-US" sz="800" spc="200" kern="0" dirty="0">
                <a:solidFill>
                  <a:srgbClr val="6B7385"/>
                </a:solidFill>
                <a:latin typeface="Calibri" pitchFamily="34" charset="0"/>
                <a:ea typeface="Calibri" pitchFamily="34" charset="-122"/>
                <a:cs typeface="Calibri" pitchFamily="34" charset="-120"/>
              </a:rPr>
              <a:t>LONDON OFFICE AGENT  ·  TEAM BRIEF</a:t>
            </a:r>
            <a:endParaRPr lang="en-US" sz="800" dirty="0"/>
          </a:p>
        </p:txBody>
      </p:sp>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1014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92240"/>
            <a:ext cx="667512"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3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chart" Target="../charts/char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wrap="square"/>
          <a:lstStyle/>
          <a:p>
            <a:r>
              <a:rPr/>
              <a:t>LONDON OFFICE MARKET · 10 OCT 2026</a:t>
            </a:r>
          </a:p>
        </p:txBody>
      </p:sp>
      <p:sp>
        <p:nvSpPr>
          <p:cNvPr id="3" name="Title 2"/>
          <p:cNvSpPr>
            <a:spLocks noGrp="1"/>
          </p:cNvSpPr>
          <p:nvPr>
            <p:ph type="title" idx="101"/>
          </p:nvPr>
        </p:nvSpPr>
        <p:spPr/>
        <p:txBody>
          <a:bodyPr wrap="square"/>
          <a:lstStyle/>
          <a:p>
            <a:r>
              <a:rPr/>
              <a:t>Weekly board brief: vacancy down, demand building, capital cautious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r>
              <a:rPr/>
              <a:t>01 · OCCUPIERS</a:t>
            </a:r>
          </a:p>
        </p:txBody>
      </p:sp>
      <p:sp>
        <p:nvSpPr>
          <p:cNvPr id="3" name="Title 2"/>
          <p:cNvSpPr>
            <a:spLocks noGrp="1"/>
          </p:cNvSpPr>
          <p:nvPr>
            <p:ph type="title" idx="102"/>
          </p:nvPr>
        </p:nvSpPr>
        <p:spPr/>
        <p:txBody>
          <a:bodyPr wrap="square"/>
          <a:lstStyle/>
          <a:p>
            <a:r>
              <a:rPr/>
              <a:t>Vacancy fell to 8.0%, the lowest since Q1 2024</a:t>
            </a:r>
          </a:p>
        </p:txBody>
      </p:sp>
      <p:sp>
        <p:nvSpPr>
          <p:cNvPr id="4" name="Text Placeholder 3"/>
          <p:cNvSpPr>
            <a:spLocks noGrp="1"/>
          </p:cNvSpPr>
          <p:nvPr>
            <p:ph type="body" idx="105"/>
          </p:nvPr>
        </p:nvSpPr>
        <p:spPr/>
        <p:txBody>
          <a:bodyPr wrap="square"/>
          <a:lstStyle/>
          <a:p>
            <a:r>
              <a:rPr/>
              <a:t>CENTRAL LONDON VACANCY RATE</a:t>
            </a:r>
          </a:p>
        </p:txBody>
      </p:sp>
      <p:graphicFrame>
        <p:nvGraphicFramePr>
          <p:cNvPr id="5" name="Chart Placeholder 4"/>
          <p:cNvGraphicFramePr>
            <a:graphicFrameLocks noGrp="1"/>
          </p:cNvGraphicFramePr>
          <p:nvPr>
            <p:ph type="chart" idx="106"/>
          </p:nvPr>
        </p:nvGraphicFramePr>
        <p:xfrm>
          <a:off x="457200" y="1938528"/>
          <a:ext cx="5623560" cy="3611880"/>
        </p:xfrm>
        <a:graphic>
          <a:graphicData uri="http://schemas.openxmlformats.org/drawingml/2006/chart">
            <c:chart xmlns:c="http://schemas.openxmlformats.org/drawingml/2006/chart" r:id="rId2"/>
          </a:graphicData>
        </a:graphic>
      </p:graphicFrame>
      <p:sp>
        <p:nvSpPr>
          <p:cNvPr id="6" name="Text Placeholder 5"/>
          <p:cNvSpPr>
            <a:spLocks noGrp="1"/>
          </p:cNvSpPr>
          <p:nvPr>
            <p:ph type="body" idx="107"/>
          </p:nvPr>
        </p:nvSpPr>
        <p:spPr/>
        <p:txBody>
          <a:bodyPr wrap="square"/>
          <a:lstStyle/>
          <a:p>
            <a:r>
              <a:rPr/>
              <a:t>TAKE-UP, M SQ FT · LONG-TERM AVERAGE 2.80</a:t>
            </a:r>
          </a:p>
        </p:txBody>
      </p:sp>
      <p:graphicFrame>
        <p:nvGraphicFramePr>
          <p:cNvPr id="7" name="Chart Placeholder 6"/>
          <p:cNvGraphicFramePr>
            <a:graphicFrameLocks noGrp="1"/>
          </p:cNvGraphicFramePr>
          <p:nvPr>
            <p:ph type="chart" idx="108"/>
          </p:nvPr>
        </p:nvGraphicFramePr>
        <p:xfrm>
          <a:off x="6263640" y="1938528"/>
          <a:ext cx="5376672" cy="3611880"/>
        </p:xfrm>
        <a:graphic>
          <a:graphicData uri="http://schemas.openxmlformats.org/drawingml/2006/chart">
            <c:chart xmlns:c="http://schemas.openxmlformats.org/drawingml/2006/chart" r:id="rId3"/>
          </a:graphicData>
        </a:graphic>
      </p:graphicFrame>
      <p:sp>
        <p:nvSpPr>
          <p:cNvPr id="8" name="Text Placeholder 7"/>
          <p:cNvSpPr>
            <a:spLocks noGrp="1"/>
          </p:cNvSpPr>
          <p:nvPr>
            <p:ph type="body" idx="109"/>
          </p:nvPr>
        </p:nvSpPr>
        <p:spPr/>
        <p:txBody>
          <a:bodyPr wrap="square"/>
          <a:lstStyle/>
          <a:p>
            <a:r>
              <a:rPr/>
              <a:t>Source [1]. Quarters with no figures in the library are not shown.</a:t>
            </a:r>
          </a:p>
        </p:txBody>
      </p:sp>
      <p:sp>
        <p:nvSpPr>
          <p:cNvPr id="9" name="Rectangle 8"/>
          <p:cNvSpPr/>
          <p:nvPr/>
        </p:nvSpPr>
        <p:spPr>
          <a:xfrm>
            <a:off x="548640" y="5641848"/>
            <a:ext cx="11091672" cy="50292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l"/>
            <a:r>
              <a:rPr sz="900" b="1">
                <a:solidFill>
                  <a:srgbClr val="B5893B"/>
                </a:solidFill>
              </a:rPr>
              <a:t>SO WHAT    </a:t>
            </a:r>
            <a:r>
              <a:rPr sz="1200" i="1">
                <a:solidFill>
                  <a:srgbClr val="FFFFFF"/>
                </a:solidFill>
              </a:rPr>
              <a:t>Take-up of 3.10m sq ft is 11% above its long-term average while availability shrinks, so leasing risk falls for good buildings.</a:t>
            </a:r>
          </a:p>
        </p:txBody>
      </p:sp>
      <p:sp>
        <p:nvSpPr>
          <p:cNvPr id="10" name="TextBox 9"/>
          <p:cNvSpPr txBox="1"/>
          <p:nvPr/>
        </p:nvSpPr>
        <p:spPr>
          <a:xfrm>
            <a:off x="10698480" y="6492240"/>
            <a:ext cx="941832" cy="228600"/>
          </a:xfrm>
          <a:prstGeom prst="rect">
            <a:avLst/>
          </a:prstGeom>
          <a:noFill/>
        </p:spPr>
        <p:txBody>
          <a:bodyPr wrap="square">
            <a:spAutoFit/>
          </a:bodyPr>
          <a:lstStyle/>
          <a:p>
            <a:pPr algn="r"/>
            <a:r>
              <a:rPr sz="800">
                <a:solidFill>
                  <a:srgbClr val="6B7385"/>
                </a:solidFill>
              </a:rPr>
              <a:t>02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r>
              <a:rPr/>
              <a:t>02 · DEMAND</a:t>
            </a:r>
          </a:p>
        </p:txBody>
      </p:sp>
      <p:sp>
        <p:nvSpPr>
          <p:cNvPr id="3" name="Title 2"/>
          <p:cNvSpPr>
            <a:spLocks noGrp="1"/>
          </p:cNvSpPr>
          <p:nvPr>
            <p:ph type="title" idx="102"/>
          </p:nvPr>
        </p:nvSpPr>
        <p:spPr/>
        <p:txBody>
          <a:bodyPr wrap="square"/>
          <a:lstStyle/>
          <a:p>
            <a:r>
              <a:rPr/>
              <a:t>Active requirements jumped 2.20m sq ft to 14.30m sq ft</a:t>
            </a:r>
          </a:p>
        </p:txBody>
      </p:sp>
      <p:sp>
        <p:nvSpPr>
          <p:cNvPr id="4" name="Text Placeholder 3"/>
          <p:cNvSpPr>
            <a:spLocks noGrp="1"/>
          </p:cNvSpPr>
          <p:nvPr>
            <p:ph type="body" idx="106"/>
          </p:nvPr>
        </p:nvSpPr>
        <p:spPr/>
        <p:txBody>
          <a:bodyPr wrap="square"/>
          <a:lstStyle/>
          <a:p>
            <a:r>
              <a:rPr/>
              <a:t>8.0%</a:t>
            </a:r>
          </a:p>
        </p:txBody>
      </p:sp>
      <p:sp>
        <p:nvSpPr>
          <p:cNvPr id="5" name="Text Placeholder 4"/>
          <p:cNvSpPr>
            <a:spLocks noGrp="1"/>
          </p:cNvSpPr>
          <p:nvPr>
            <p:ph type="body" idx="107"/>
          </p:nvPr>
        </p:nvSpPr>
        <p:spPr/>
        <p:txBody>
          <a:bodyPr wrap="square"/>
          <a:lstStyle/>
          <a:p>
            <a:r>
              <a:rPr/>
              <a:t>VACANCY RATE · Q2 2026</a:t>
            </a:r>
          </a:p>
        </p:txBody>
      </p:sp>
      <p:sp>
        <p:nvSpPr>
          <p:cNvPr id="6" name="Text Placeholder 5"/>
          <p:cNvSpPr>
            <a:spLocks noGrp="1"/>
          </p:cNvSpPr>
          <p:nvPr>
            <p:ph type="body" idx="108"/>
          </p:nvPr>
        </p:nvSpPr>
        <p:spPr/>
        <p:txBody>
          <a:bodyPr wrap="square"/>
          <a:lstStyle/>
          <a:p>
            <a:r>
              <a:rPr/>
              <a:t>−0.50pp vs Q1 2026 [1]</a:t>
            </a:r>
          </a:p>
        </p:txBody>
      </p:sp>
      <p:sp>
        <p:nvSpPr>
          <p:cNvPr id="7" name="Text Placeholder 6"/>
          <p:cNvSpPr>
            <a:spLocks noGrp="1"/>
          </p:cNvSpPr>
          <p:nvPr>
            <p:ph type="body" idx="110"/>
          </p:nvPr>
        </p:nvSpPr>
        <p:spPr/>
        <p:txBody>
          <a:bodyPr wrap="square"/>
          <a:lstStyle/>
          <a:p>
            <a:r>
              <a:rPr/>
              <a:t>3.10m sq ft</a:t>
            </a:r>
          </a:p>
        </p:txBody>
      </p:sp>
      <p:sp>
        <p:nvSpPr>
          <p:cNvPr id="8" name="Text Placeholder 7"/>
          <p:cNvSpPr>
            <a:spLocks noGrp="1"/>
          </p:cNvSpPr>
          <p:nvPr>
            <p:ph type="body" idx="111"/>
          </p:nvPr>
        </p:nvSpPr>
        <p:spPr/>
        <p:txBody>
          <a:bodyPr wrap="square"/>
          <a:lstStyle/>
          <a:p>
            <a:r>
              <a:rPr/>
              <a:t>TAKE-UP · Q2 2026</a:t>
            </a:r>
          </a:p>
        </p:txBody>
      </p:sp>
      <p:sp>
        <p:nvSpPr>
          <p:cNvPr id="9" name="Text Placeholder 8"/>
          <p:cNvSpPr>
            <a:spLocks noGrp="1"/>
          </p:cNvSpPr>
          <p:nvPr>
            <p:ph type="body" idx="112"/>
          </p:nvPr>
        </p:nvSpPr>
        <p:spPr/>
        <p:txBody>
          <a:bodyPr wrap="square"/>
          <a:lstStyle/>
          <a:p>
            <a:r>
              <a:rPr/>
              <a:t>+0.60 vs Q1 2026 [1] +11% against the long-term average.</a:t>
            </a:r>
          </a:p>
        </p:txBody>
      </p:sp>
      <p:sp>
        <p:nvSpPr>
          <p:cNvPr id="10" name="Text Placeholder 9"/>
          <p:cNvSpPr>
            <a:spLocks noGrp="1"/>
          </p:cNvSpPr>
          <p:nvPr>
            <p:ph type="body" idx="114"/>
          </p:nvPr>
        </p:nvSpPr>
        <p:spPr/>
        <p:txBody>
          <a:bodyPr wrap="square"/>
          <a:lstStyle/>
          <a:p>
            <a:r>
              <a:rPr/>
              <a:t>£2.00bn</a:t>
            </a:r>
          </a:p>
        </p:txBody>
      </p:sp>
      <p:sp>
        <p:nvSpPr>
          <p:cNvPr id="11" name="Text Placeholder 10"/>
          <p:cNvSpPr>
            <a:spLocks noGrp="1"/>
          </p:cNvSpPr>
          <p:nvPr>
            <p:ph type="body" idx="115"/>
          </p:nvPr>
        </p:nvSpPr>
        <p:spPr/>
        <p:txBody>
          <a:bodyPr wrap="square"/>
          <a:lstStyle/>
          <a:p>
            <a:r>
              <a:rPr/>
              <a:t>INVESTMENT VOLUME · Q2 2026</a:t>
            </a:r>
          </a:p>
        </p:txBody>
      </p:sp>
      <p:sp>
        <p:nvSpPr>
          <p:cNvPr id="12" name="Text Placeholder 11"/>
          <p:cNvSpPr>
            <a:spLocks noGrp="1"/>
          </p:cNvSpPr>
          <p:nvPr>
            <p:ph type="body" idx="116"/>
          </p:nvPr>
        </p:nvSpPr>
        <p:spPr/>
        <p:txBody>
          <a:bodyPr wrap="square"/>
          <a:lstStyle/>
          <a:p>
            <a:r>
              <a:rPr/>
              <a:t>+0.10 vs Q1 2026 [1] -36% against the long-term average.</a:t>
            </a:r>
          </a:p>
        </p:txBody>
      </p:sp>
      <p:sp>
        <p:nvSpPr>
          <p:cNvPr id="13" name="Text Placeholder 12"/>
          <p:cNvSpPr>
            <a:spLocks noGrp="1"/>
          </p:cNvSpPr>
          <p:nvPr>
            <p:ph type="body" idx="118"/>
          </p:nvPr>
        </p:nvSpPr>
        <p:spPr/>
        <p:txBody>
          <a:bodyPr wrap="square"/>
          <a:lstStyle/>
          <a:p>
            <a:r>
              <a:rPr/>
              <a:t>3.75%</a:t>
            </a:r>
          </a:p>
        </p:txBody>
      </p:sp>
      <p:sp>
        <p:nvSpPr>
          <p:cNvPr id="14" name="Text Placeholder 13"/>
          <p:cNvSpPr>
            <a:spLocks noGrp="1"/>
          </p:cNvSpPr>
          <p:nvPr>
            <p:ph type="body" idx="119"/>
          </p:nvPr>
        </p:nvSpPr>
        <p:spPr/>
        <p:txBody>
          <a:bodyPr wrap="square"/>
          <a:lstStyle/>
          <a:p>
            <a:r>
              <a:rPr/>
              <a:t>BANK RATE · AS OF 2026-10-08</a:t>
            </a:r>
          </a:p>
        </p:txBody>
      </p:sp>
      <p:sp>
        <p:nvSpPr>
          <p:cNvPr id="15" name="Text Placeholder 14"/>
          <p:cNvSpPr>
            <a:spLocks noGrp="1"/>
          </p:cNvSpPr>
          <p:nvPr>
            <p:ph type="body" idx="120"/>
          </p:nvPr>
        </p:nvSpPr>
        <p:spPr/>
        <p:txBody>
          <a:bodyPr wrap="square"/>
          <a:lstStyle/>
          <a:p>
            <a:r>
              <a:rPr/>
              <a:t>Bank of England Bank Rate [2].</a:t>
            </a:r>
          </a:p>
        </p:txBody>
      </p:sp>
      <p:sp>
        <p:nvSpPr>
          <p:cNvPr id="16" name="Text Placeholder 15"/>
          <p:cNvSpPr>
            <a:spLocks noGrp="1"/>
          </p:cNvSpPr>
          <p:nvPr>
            <p:ph type="body" idx="121"/>
          </p:nvPr>
        </p:nvSpPr>
        <p:spPr/>
        <p:txBody>
          <a:bodyPr wrap="square"/>
          <a:lstStyle/>
          <a:p>
            <a:r>
              <a:rPr/>
              <a:t>TAKE-UP, M SQ FT</a:t>
            </a:r>
          </a:p>
        </p:txBody>
      </p:sp>
      <p:graphicFrame>
        <p:nvGraphicFramePr>
          <p:cNvPr id="17" name="Chart Placeholder 16"/>
          <p:cNvGraphicFramePr>
            <a:graphicFrameLocks noGrp="1"/>
          </p:cNvGraphicFramePr>
          <p:nvPr>
            <p:ph type="chart" idx="122"/>
          </p:nvPr>
        </p:nvGraphicFramePr>
        <p:xfrm>
          <a:off x="457200" y="3767328"/>
          <a:ext cx="11183112" cy="1783080"/>
        </p:xfrm>
        <a:graphic>
          <a:graphicData uri="http://schemas.openxmlformats.org/drawingml/2006/chart">
            <c:chart xmlns:c="http://schemas.openxmlformats.org/drawingml/2006/chart" r:id="rId2"/>
          </a:graphicData>
        </a:graphic>
      </p:graphicFrame>
      <p:sp>
        <p:nvSpPr>
          <p:cNvPr id="18" name="Text Placeholder 17"/>
          <p:cNvSpPr>
            <a:spLocks noGrp="1"/>
          </p:cNvSpPr>
          <p:nvPr>
            <p:ph type="body" idx="123"/>
          </p:nvPr>
        </p:nvSpPr>
        <p:spPr/>
        <p:txBody>
          <a:bodyPr wrap="square"/>
          <a:lstStyle/>
          <a:p>
            <a:r>
              <a:rPr/>
              <a:t>Source [1].</a:t>
            </a:r>
          </a:p>
        </p:txBody>
      </p:sp>
      <p:sp>
        <p:nvSpPr>
          <p:cNvPr id="19" name="Rectangle 18"/>
          <p:cNvSpPr/>
          <p:nvPr/>
        </p:nvSpPr>
        <p:spPr>
          <a:xfrm>
            <a:off x="548640" y="5641848"/>
            <a:ext cx="11091672" cy="50292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l"/>
            <a:r>
              <a:rPr sz="900" b="1">
                <a:solidFill>
                  <a:srgbClr val="B5893B"/>
                </a:solidFill>
              </a:rPr>
              <a:t>SO WHAT    </a:t>
            </a:r>
            <a:r>
              <a:rPr sz="1200" i="1">
                <a:solidFill>
                  <a:srgbClr val="FFFFFF"/>
                </a:solidFill>
              </a:rPr>
              <a:t>Requirements rising alongside falling vacancy points to firmer rental tone ahead, especially in tight submarkets.</a:t>
            </a:r>
          </a:p>
        </p:txBody>
      </p:sp>
      <p:sp>
        <p:nvSpPr>
          <p:cNvPr id="20" name="TextBox 19"/>
          <p:cNvSpPr txBox="1"/>
          <p:nvPr/>
        </p:nvSpPr>
        <p:spPr>
          <a:xfrm>
            <a:off x="10698480" y="6492240"/>
            <a:ext cx="941832" cy="228600"/>
          </a:xfrm>
          <a:prstGeom prst="rect">
            <a:avLst/>
          </a:prstGeom>
          <a:noFill/>
        </p:spPr>
        <p:txBody>
          <a:bodyPr wrap="square">
            <a:spAutoFit/>
          </a:bodyPr>
          <a:lstStyle/>
          <a:p>
            <a:pPr algn="r"/>
            <a:r>
              <a:rPr sz="800">
                <a:solidFill>
                  <a:srgbClr val="6B7385"/>
                </a:solidFill>
              </a:rPr>
              <a:t>03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r>
              <a:rPr/>
              <a:t>03 · CAPITAL MARKETS</a:t>
            </a:r>
          </a:p>
        </p:txBody>
      </p:sp>
      <p:sp>
        <p:nvSpPr>
          <p:cNvPr id="3" name="Title 2"/>
          <p:cNvSpPr>
            <a:spLocks noGrp="1"/>
          </p:cNvSpPr>
          <p:nvPr>
            <p:ph type="title" idx="102"/>
          </p:nvPr>
        </p:nvSpPr>
        <p:spPr/>
        <p:txBody>
          <a:bodyPr wrap="square"/>
          <a:lstStyle/>
          <a:p>
            <a:r>
              <a:rPr/>
              <a:t>Investment £2.00bn, 36% below the long-term average</a:t>
            </a:r>
          </a:p>
        </p:txBody>
      </p:sp>
      <p:sp>
        <p:nvSpPr>
          <p:cNvPr id="4" name="Text Placeholder 3"/>
          <p:cNvSpPr>
            <a:spLocks noGrp="1"/>
          </p:cNvSpPr>
          <p:nvPr>
            <p:ph type="body" idx="105"/>
          </p:nvPr>
        </p:nvSpPr>
        <p:spPr/>
        <p:txBody>
          <a:bodyPr wrap="square"/>
          <a:lstStyle/>
          <a:p>
            <a:r>
              <a:rPr/>
              <a:t>INVESTMENT, £BN, Q2 2026 VS LONG-TERM AVERAGE</a:t>
            </a:r>
          </a:p>
        </p:txBody>
      </p:sp>
      <p:graphicFrame>
        <p:nvGraphicFramePr>
          <p:cNvPr id="5" name="Chart Placeholder 4"/>
          <p:cNvGraphicFramePr>
            <a:graphicFrameLocks noGrp="1"/>
          </p:cNvGraphicFramePr>
          <p:nvPr>
            <p:ph type="chart" idx="106"/>
          </p:nvPr>
        </p:nvGraphicFramePr>
        <p:xfrm>
          <a:off x="457200" y="1938528"/>
          <a:ext cx="6766560" cy="3611880"/>
        </p:xfrm>
        <a:graphic>
          <a:graphicData uri="http://schemas.openxmlformats.org/drawingml/2006/chart">
            <c:chart xmlns:c="http://schemas.openxmlformats.org/drawingml/2006/chart" r:id="rId2"/>
          </a:graphicData>
        </a:graphic>
      </p:graphicFrame>
      <p:sp>
        <p:nvSpPr>
          <p:cNvPr id="6" name="Text Placeholder 5"/>
          <p:cNvSpPr>
            <a:spLocks noGrp="1"/>
          </p:cNvSpPr>
          <p:nvPr>
            <p:ph type="body" idx="107"/>
          </p:nvPr>
        </p:nvSpPr>
        <p:spPr/>
        <p:txBody>
          <a:bodyPr wrap="square"/>
          <a:lstStyle/>
          <a:p>
            <a:r>
              <a:rPr/>
              <a:t>PRICING AND RATES</a:t>
            </a:r>
          </a:p>
        </p:txBody>
      </p:sp>
      <p:sp>
        <p:nvSpPr>
          <p:cNvPr id="8" name="Text Placeholder 7"/>
          <p:cNvSpPr>
            <a:spLocks noGrp="1"/>
          </p:cNvSpPr>
          <p:nvPr>
            <p:ph type="body" idx="109"/>
          </p:nvPr>
        </p:nvSpPr>
        <p:spPr/>
        <p:txBody>
          <a:bodyPr wrap="square"/>
          <a:lstStyle/>
          <a:p>
            <a:r>
              <a:rPr/>
              <a:t>London total £2.00bn [1]. Yields are the publisher's prime yields.</a:t>
            </a:r>
          </a:p>
        </p:txBody>
      </p:sp>
      <p:graphicFrame>
        <p:nvGraphicFramePr>
          <p:cNvPr id="9" name="Table 8"/>
          <p:cNvGraphicFramePr>
            <a:graphicFrameLocks noGrp="1"/>
          </p:cNvGraphicFramePr>
          <p:nvPr/>
        </p:nvGraphicFramePr>
        <p:xfrm>
          <a:off x="7498080" y="1938528"/>
          <a:ext cx="4142232" cy="1920240"/>
        </p:xfrm>
        <a:graphic>
          <a:graphicData uri="http://schemas.openxmlformats.org/drawingml/2006/table">
            <a:tbl>
              <a:tblPr firstRow="1" bandRow="1">
                <a:tableStyleId>{5C22544A-7EE6-4342-B048-85BDC9FD1C3A}</a:tableStyleId>
              </a:tblPr>
              <a:tblGrid>
                <a:gridCol w="1737360"/>
                <a:gridCol w="1188720"/>
                <a:gridCol w="1216152"/>
              </a:tblGrid>
              <a:tr h="384048">
                <a:tc>
                  <a:txBody>
                    <a:bodyPr/>
                    <a:lstStyle/>
                    <a:p>
                      <a:r>
                        <a:rPr sz="900" b="1">
                          <a:solidFill>
                            <a:srgbClr val="FFFFFF"/>
                          </a:solidFill>
                        </a:rPr>
                        <a:t>PRIME YIELD</a:t>
                      </a:r>
                    </a:p>
                  </a:txBody>
                  <a:tcPr>
                    <a:solidFill>
                      <a:srgbClr val="14213D"/>
                    </a:solidFill>
                  </a:tcPr>
                </a:tc>
                <a:tc>
                  <a:txBody>
                    <a:bodyPr/>
                    <a:lstStyle/>
                    <a:p>
                      <a:r>
                        <a:rPr sz="900" b="1">
                          <a:solidFill>
                            <a:srgbClr val="FFFFFF"/>
                          </a:solidFill>
                        </a:rPr>
                        <a:t>LATEST</a:t>
                      </a:r>
                    </a:p>
                  </a:txBody>
                  <a:tcPr>
                    <a:solidFill>
                      <a:srgbClr val="14213D"/>
                    </a:solidFill>
                  </a:tcPr>
                </a:tc>
                <a:tc>
                  <a:txBody>
                    <a:bodyPr/>
                    <a:lstStyle/>
                    <a:p>
                      <a:r>
                        <a:rPr sz="900" b="1">
                          <a:solidFill>
                            <a:srgbClr val="FFFFFF"/>
                          </a:solidFill>
                        </a:rPr>
                        <a:t>CHANGE</a:t>
                      </a:r>
                    </a:p>
                  </a:txBody>
                  <a:tcPr>
                    <a:solidFill>
                      <a:srgbClr val="14213D"/>
                    </a:solidFill>
                  </a:tcPr>
                </a:tc>
              </a:tr>
              <a:tr h="384048">
                <a:tc>
                  <a:txBody>
                    <a:bodyPr/>
                    <a:lstStyle/>
                    <a:p>
                      <a:r>
                        <a:rPr sz="1000" b="0">
                          <a:solidFill>
                            <a:srgbClr val="1F2A44"/>
                          </a:solidFill>
                        </a:rPr>
                        <a:t>West End</a:t>
                      </a:r>
                    </a:p>
                  </a:txBody>
                  <a:tcPr>
                    <a:solidFill>
                      <a:srgbClr val="FFFFFF"/>
                    </a:solidFill>
                  </a:tcPr>
                </a:tc>
                <a:tc>
                  <a:txBody>
                    <a:bodyPr/>
                    <a:lstStyle/>
                    <a:p>
                      <a:r>
                        <a:rPr sz="1000" b="0">
                          <a:solidFill>
                            <a:srgbClr val="1F2A44"/>
                          </a:solidFill>
                        </a:rPr>
                        <a:t>3.8% [1]</a:t>
                      </a:r>
                    </a:p>
                  </a:txBody>
                  <a:tcPr>
                    <a:solidFill>
                      <a:srgbClr val="FFFFFF"/>
                    </a:solidFill>
                  </a:tcPr>
                </a:tc>
                <a:tc>
                  <a:txBody>
                    <a:bodyPr/>
                    <a:lstStyle/>
                    <a:p>
                      <a:r>
                        <a:rPr sz="1000" b="0">
                          <a:solidFill>
                            <a:srgbClr val="1F2A44"/>
                          </a:solidFill>
                        </a:rPr>
                        <a:t>±0.00pp vs Q1 2026</a:t>
                      </a:r>
                    </a:p>
                  </a:txBody>
                  <a:tcPr>
                    <a:solidFill>
                      <a:srgbClr val="FFFFFF"/>
                    </a:solidFill>
                  </a:tcPr>
                </a:tc>
              </a:tr>
              <a:tr h="384048">
                <a:tc>
                  <a:txBody>
                    <a:bodyPr/>
                    <a:lstStyle/>
                    <a:p>
                      <a:r>
                        <a:rPr sz="1000" b="0">
                          <a:solidFill>
                            <a:srgbClr val="1F2A44"/>
                          </a:solidFill>
                        </a:rPr>
                        <a:t>City &amp; Southbank</a:t>
                      </a:r>
                    </a:p>
                  </a:txBody>
                  <a:tcPr>
                    <a:solidFill>
                      <a:srgbClr val="EDEBE4"/>
                    </a:solidFill>
                  </a:tcPr>
                </a:tc>
                <a:tc>
                  <a:txBody>
                    <a:bodyPr/>
                    <a:lstStyle/>
                    <a:p>
                      <a:r>
                        <a:rPr sz="1000" b="0">
                          <a:solidFill>
                            <a:srgbClr val="1F2A44"/>
                          </a:solidFill>
                        </a:rPr>
                        <a:t>5.2% [1]</a:t>
                      </a:r>
                    </a:p>
                  </a:txBody>
                  <a:tcPr>
                    <a:solidFill>
                      <a:srgbClr val="EDEBE4"/>
                    </a:solidFill>
                  </a:tcPr>
                </a:tc>
                <a:tc>
                  <a:txBody>
                    <a:bodyPr/>
                    <a:lstStyle/>
                    <a:p>
                      <a:r>
                        <a:rPr sz="1000" b="0">
                          <a:solidFill>
                            <a:srgbClr val="1F2A44"/>
                          </a:solidFill>
                        </a:rPr>
                        <a:t>±0.00pp vs Q1 2026</a:t>
                      </a:r>
                    </a:p>
                  </a:txBody>
                  <a:tcPr>
                    <a:solidFill>
                      <a:srgbClr val="EDEBE4"/>
                    </a:solidFill>
                  </a:tcPr>
                </a:tc>
              </a:tr>
              <a:tr h="384048">
                <a:tc>
                  <a:txBody>
                    <a:bodyPr/>
                    <a:lstStyle/>
                    <a:p>
                      <a:r>
                        <a:rPr sz="1000" b="0">
                          <a:solidFill>
                            <a:srgbClr val="1F2A44"/>
                          </a:solidFill>
                        </a:rPr>
                        <a:t>Docklands &amp; Stratford</a:t>
                      </a:r>
                    </a:p>
                  </a:txBody>
                  <a:tcPr>
                    <a:solidFill>
                      <a:srgbClr val="FFFFFF"/>
                    </a:solidFill>
                  </a:tcPr>
                </a:tc>
                <a:tc>
                  <a:txBody>
                    <a:bodyPr/>
                    <a:lstStyle/>
                    <a:p>
                      <a:r>
                        <a:rPr sz="1000" b="0">
                          <a:solidFill>
                            <a:srgbClr val="1F2A44"/>
                          </a:solidFill>
                        </a:rPr>
                        <a:t>7.5% [1]</a:t>
                      </a:r>
                    </a:p>
                  </a:txBody>
                  <a:tcPr>
                    <a:solidFill>
                      <a:srgbClr val="FFFFFF"/>
                    </a:solidFill>
                  </a:tcPr>
                </a:tc>
                <a:tc>
                  <a:txBody>
                    <a:bodyPr/>
                    <a:lstStyle/>
                    <a:p>
                      <a:r>
                        <a:rPr sz="1000" b="0">
                          <a:solidFill>
                            <a:srgbClr val="1F2A44"/>
                          </a:solidFill>
                        </a:rPr>
                        <a:t>±0.00pp vs Q1 2026</a:t>
                      </a:r>
                    </a:p>
                  </a:txBody>
                  <a:tcPr>
                    <a:solidFill>
                      <a:srgbClr val="FFFFFF"/>
                    </a:solidFill>
                  </a:tcPr>
                </a:tc>
              </a:tr>
              <a:tr h="384048">
                <a:tc>
                  <a:txBody>
                    <a:bodyPr/>
                    <a:lstStyle/>
                    <a:p>
                      <a:r>
                        <a:rPr sz="1000" b="0">
                          <a:solidFill>
                            <a:srgbClr val="1F2A44"/>
                          </a:solidFill>
                        </a:rPr>
                        <a:t>Bank Rate</a:t>
                      </a:r>
                    </a:p>
                  </a:txBody>
                  <a:tcPr>
                    <a:solidFill>
                      <a:srgbClr val="EDEBE4"/>
                    </a:solidFill>
                  </a:tcPr>
                </a:tc>
                <a:tc>
                  <a:txBody>
                    <a:bodyPr/>
                    <a:lstStyle/>
                    <a:p>
                      <a:r>
                        <a:rPr sz="1000" b="0">
                          <a:solidFill>
                            <a:srgbClr val="1F2A44"/>
                          </a:solidFill>
                        </a:rPr>
                        <a:t>3.75% [2]</a:t>
                      </a:r>
                    </a:p>
                  </a:txBody>
                  <a:tcPr>
                    <a:solidFill>
                      <a:srgbClr val="EDEBE4"/>
                    </a:solidFill>
                  </a:tcPr>
                </a:tc>
                <a:tc>
                  <a:txBody>
                    <a:bodyPr/>
                    <a:lstStyle/>
                    <a:p>
                      <a:r>
                        <a:rPr sz="1000" b="0">
                          <a:solidFill>
                            <a:srgbClr val="1F2A44"/>
                          </a:solidFill>
                        </a:rPr>
                        <a:t>as of 2026-10-08</a:t>
                      </a:r>
                    </a:p>
                  </a:txBody>
                  <a:tcPr>
                    <a:solidFill>
                      <a:srgbClr val="EDEBE4"/>
                    </a:solidFill>
                  </a:tcPr>
                </a:tc>
              </a:tr>
            </a:tbl>
          </a:graphicData>
        </a:graphic>
      </p:graphicFrame>
      <p:sp>
        <p:nvSpPr>
          <p:cNvPr id="10" name="Rectangle 9"/>
          <p:cNvSpPr/>
          <p:nvPr/>
        </p:nvSpPr>
        <p:spPr>
          <a:xfrm>
            <a:off x="548640" y="5641848"/>
            <a:ext cx="11091672" cy="50292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lIns="182880" wrap="square"/>
          <a:lstStyle/>
          <a:p>
            <a:pPr algn="l"/>
            <a:r>
              <a:rPr sz="900" b="1">
                <a:solidFill>
                  <a:srgbClr val="B5893B"/>
                </a:solidFill>
              </a:rPr>
              <a:t>SO WHAT    </a:t>
            </a:r>
            <a:r>
              <a:rPr sz="1200" i="1">
                <a:solidFill>
                  <a:srgbClr val="FFFFFF"/>
                </a:solidFill>
              </a:rPr>
              <a:t>City &amp; Southbank is 77% below its long-term average: little fresh pricing evidence, so valuations rest on fewer comparables.</a:t>
            </a:r>
          </a:p>
        </p:txBody>
      </p:sp>
      <p:sp>
        <p:nvSpPr>
          <p:cNvPr id="11" name="TextBox 10"/>
          <p:cNvSpPr txBox="1"/>
          <p:nvPr/>
        </p:nvSpPr>
        <p:spPr>
          <a:xfrm>
            <a:off x="10698480" y="6492240"/>
            <a:ext cx="941832" cy="228600"/>
          </a:xfrm>
          <a:prstGeom prst="rect">
            <a:avLst/>
          </a:prstGeom>
          <a:noFill/>
        </p:spPr>
        <p:txBody>
          <a:bodyPr wrap="square">
            <a:spAutoFit/>
          </a:bodyPr>
          <a:lstStyle/>
          <a:p>
            <a:pPr algn="r"/>
            <a:r>
              <a:rPr sz="800">
                <a:solidFill>
                  <a:srgbClr val="6B7385"/>
                </a:solidFill>
              </a:rPr>
              <a:t>04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r>
              <a:rPr/>
              <a:t>04 · SIGNAL CARDS</a:t>
            </a:r>
          </a:p>
        </p:txBody>
      </p:sp>
      <p:sp>
        <p:nvSpPr>
          <p:cNvPr id="3" name="Title 2"/>
          <p:cNvSpPr>
            <a:spLocks noGrp="1"/>
          </p:cNvSpPr>
          <p:nvPr>
            <p:ph type="title" idx="102"/>
          </p:nvPr>
        </p:nvSpPr>
        <p:spPr/>
        <p:txBody>
          <a:bodyPr wrap="square"/>
          <a:lstStyle/>
          <a:p>
            <a:r>
              <a:rPr/>
              <a:t>What the team is watching: deals, pre-lets and refurb finance</a:t>
            </a:r>
          </a:p>
        </p:txBody>
      </p:sp>
      <p:sp>
        <p:nvSpPr>
          <p:cNvPr id="4" name="Text Placeholder 3"/>
          <p:cNvSpPr>
            <a:spLocks noGrp="1"/>
          </p:cNvSpPr>
          <p:nvPr>
            <p:ph type="body" idx="106"/>
          </p:nvPr>
        </p:nvSpPr>
        <p:spPr/>
        <p:txBody>
          <a:bodyPr wrap="square"/>
          <a:lstStyle/>
          <a:p>
            <a:r>
              <a:rPr sz="900" b="1">
                <a:solidFill>
                  <a:srgbClr val="2E7D4F"/>
                </a:solidFill>
              </a:rPr>
              <a:t>▲ POSITIVE</a:t>
            </a:r>
            <a:r>
              <a:rPr sz="900">
                <a:solidFill>
                  <a:srgbClr val="A8322A"/>
                </a:solidFill>
              </a:rPr>
              <a:t/>
            </a:r>
          </a:p>
          <a:p>
            <a:r>
              <a:rPr sz="1200" b="1">
                <a:solidFill>
                  <a:srgbClr val="1F2A44"/>
                </a:solidFill>
                <a:latin typeface="Cambria"/>
              </a:rPr>
              <a:t>Barclays buys 1 Churchill Place, Canary Wharf, for £750m</a:t>
            </a:r>
          </a:p>
          <a:p>
            <a:r>
              <a:rPr sz="900"/>
              <a:t>Barclays has acquired its Canary Wharf headquarters at 1 Churchill Place for £750m, reflecting a 5.62% yield. The deal lifted Docklands &amp; Stratford investment turnover to… [10]</a:t>
            </a:r>
          </a:p>
          <a:p>
            <a:r>
              <a:rPr sz="900" i="1">
                <a:solidFill>
                  <a:srgbClr val="6B7385"/>
                </a:solidFill>
              </a:rPr>
              <a:t>Sets fresh pricing (yield) evidence for valuations and acquisitions.</a:t>
            </a:r>
          </a:p>
        </p:txBody>
      </p:sp>
      <p:sp>
        <p:nvSpPr>
          <p:cNvPr id="5" name="Text Placeholder 4"/>
          <p:cNvSpPr>
            <a:spLocks noGrp="1"/>
          </p:cNvSpPr>
          <p:nvPr>
            <p:ph type="body" idx="108"/>
          </p:nvPr>
        </p:nvSpPr>
        <p:spPr/>
        <p:txBody>
          <a:bodyPr wrap="square"/>
          <a:lstStyle/>
          <a:p>
            <a:r>
              <a:rPr sz="900" b="1">
                <a:solidFill>
                  <a:srgbClr val="2E7D4F"/>
                </a:solidFill>
              </a:rPr>
              <a:t>▲ POSITIVE</a:t>
            </a:r>
            <a:r>
              <a:rPr sz="900">
                <a:solidFill>
                  <a:srgbClr val="A8322A"/>
                </a:solidFill>
              </a:rPr>
              <a:t/>
            </a:r>
          </a:p>
          <a:p>
            <a:r>
              <a:rPr sz="1200" b="1">
                <a:solidFill>
                  <a:srgbClr val="1F2A44"/>
                </a:solidFill>
                <a:latin typeface="Cambria"/>
              </a:rPr>
              <a:t>J.P. Morgan Asset Management Agree to Major City Pre-Let - CBRE</a:t>
            </a:r>
          </a:p>
          <a:p>
            <a:r>
              <a:rPr sz="900"/>
              <a:t>J.P. Morgan Asset Management Agree to Major City Pre-Let CBRE [11]</a:t>
            </a:r>
          </a:p>
          <a:p>
            <a:r>
              <a:rPr sz="900" i="1">
                <a:solidFill>
                  <a:srgbClr val="6B7385"/>
                </a:solidFill>
              </a:rPr>
              <a:t>Large lettings set rental evidence and show which occupiers are taking space.</a:t>
            </a:r>
          </a:p>
        </p:txBody>
      </p:sp>
      <p:sp>
        <p:nvSpPr>
          <p:cNvPr id="6" name="Text Placeholder 5"/>
          <p:cNvSpPr>
            <a:spLocks noGrp="1"/>
          </p:cNvSpPr>
          <p:nvPr>
            <p:ph type="body" idx="110"/>
          </p:nvPr>
        </p:nvSpPr>
        <p:spPr/>
        <p:txBody>
          <a:bodyPr wrap="square"/>
          <a:lstStyle/>
          <a:p>
            <a:r>
              <a:rPr sz="900" b="1">
                <a:solidFill>
                  <a:srgbClr val="2E7D4F"/>
                </a:solidFill>
              </a:rPr>
              <a:t>▲ POSITIVE</a:t>
            </a:r>
            <a:r>
              <a:rPr sz="900">
                <a:solidFill>
                  <a:srgbClr val="A8322A"/>
                </a:solidFill>
              </a:rPr>
              <a:t/>
            </a:r>
          </a:p>
          <a:p>
            <a:r>
              <a:rPr sz="1200" b="1">
                <a:solidFill>
                  <a:srgbClr val="1F2A44"/>
                </a:solidFill>
                <a:latin typeface="Cambria"/>
              </a:rPr>
              <a:t>Citi reopens Canary Wharf HQ after hefty $1.5bn refit - The Banker</a:t>
            </a:r>
          </a:p>
          <a:p>
            <a:r>
              <a:rPr sz="900"/>
              <a:t>Citi reopens Canary Wharf HQ after hefty $1.5bn refit The Banker [12]</a:t>
            </a:r>
          </a:p>
          <a:p>
            <a:r>
              <a:rPr sz="900" i="1">
                <a:solidFill>
                  <a:srgbClr val="6B7385"/>
                </a:solidFill>
              </a:rPr>
              <a:t>Large lettings set rental evidence and show which occupiers are taking space.</a:t>
            </a:r>
          </a:p>
        </p:txBody>
      </p:sp>
      <p:sp>
        <p:nvSpPr>
          <p:cNvPr id="7" name="Text Placeholder 6"/>
          <p:cNvSpPr>
            <a:spLocks noGrp="1"/>
          </p:cNvSpPr>
          <p:nvPr>
            <p:ph type="body" idx="112"/>
          </p:nvPr>
        </p:nvSpPr>
        <p:spPr/>
        <p:txBody>
          <a:bodyPr wrap="square"/>
          <a:lstStyle/>
          <a:p>
            <a:r>
              <a:rPr sz="900" b="1">
                <a:solidFill>
                  <a:srgbClr val="2E7D4F"/>
                </a:solidFill>
              </a:rPr>
              <a:t>▲ POSITIVE</a:t>
            </a:r>
            <a:r>
              <a:rPr sz="900">
                <a:solidFill>
                  <a:srgbClr val="A8322A"/>
                </a:solidFill>
              </a:rPr>
              <a:t/>
            </a:r>
          </a:p>
          <a:p>
            <a:r>
              <a:rPr sz="1200" b="1">
                <a:solidFill>
                  <a:srgbClr val="1F2A44"/>
                </a:solidFill>
                <a:latin typeface="Cambria"/>
              </a:rPr>
              <a:t>Central London vacancy falls to 8.0% as active requirements reach 14.3m sq ft</a:t>
            </a:r>
          </a:p>
          <a:p>
            <a:r>
              <a:rPr sz="900"/>
              <a:t>London office vacancy fell to 8.0% in Q2 2026 while active requirements rose to 14.3m sq ft. Take-up rebounded to 3.1m sq ft after a subdued first quarter. Also reported by… [10]</a:t>
            </a:r>
          </a:p>
          <a:p>
            <a:r>
              <a:rPr sz="900" i="1">
                <a:solidFill>
                  <a:srgbClr val="6B7385"/>
                </a:solidFill>
              </a:rPr>
              <a:t>Headline market data shifts the narrative for the quarter.</a:t>
            </a:r>
          </a:p>
        </p:txBody>
      </p:sp>
      <p:sp>
        <p:nvSpPr>
          <p:cNvPr id="8" name="Text Placeholder 7"/>
          <p:cNvSpPr>
            <a:spLocks noGrp="1"/>
          </p:cNvSpPr>
          <p:nvPr>
            <p:ph type="body" idx="114"/>
          </p:nvPr>
        </p:nvSpPr>
        <p:spPr/>
        <p:txBody>
          <a:bodyPr wrap="square"/>
          <a:lstStyle/>
          <a:p>
            <a:r>
              <a:rPr sz="900" b="1">
                <a:solidFill>
                  <a:srgbClr val="2E7D4F"/>
                </a:solidFill>
              </a:rPr>
              <a:t>▲ POSITIVE</a:t>
            </a:r>
            <a:r>
              <a:rPr sz="900">
                <a:solidFill>
                  <a:srgbClr val="A8322A"/>
                </a:solidFill>
              </a:rPr>
              <a:t/>
            </a:r>
          </a:p>
          <a:p>
            <a:r>
              <a:rPr sz="1200" b="1">
                <a:solidFill>
                  <a:srgbClr val="1F2A44"/>
                </a:solidFill>
                <a:latin typeface="Cambria"/>
              </a:rPr>
              <a:t>ING and DBS back £1.016bn City of London office refurbishment - East London Advertiser</a:t>
            </a:r>
          </a:p>
          <a:p>
            <a:r>
              <a:rPr sz="900"/>
              <a:t>ING and DBS back £1.016bn City of London office refurbishment East London Advertiser Also reported by FF News. [13]</a:t>
            </a:r>
          </a:p>
          <a:p>
            <a:r>
              <a:rPr sz="900" i="1">
                <a:solidFill>
                  <a:srgbClr val="6B7385"/>
                </a:solidFill>
              </a:rPr>
              <a:t>New supply competes with existing buildings for the same tenants.</a:t>
            </a:r>
          </a:p>
        </p:txBody>
      </p:sp>
      <p:sp>
        <p:nvSpPr>
          <p:cNvPr id="9" name="Text Placeholder 8"/>
          <p:cNvSpPr>
            <a:spLocks noGrp="1"/>
          </p:cNvSpPr>
          <p:nvPr>
            <p:ph type="body" idx="116"/>
          </p:nvPr>
        </p:nvSpPr>
        <p:spPr/>
        <p:txBody>
          <a:bodyPr wrap="square"/>
          <a:lstStyle/>
          <a:p>
            <a:r>
              <a:rPr sz="900" b="1">
                <a:solidFill>
                  <a:srgbClr val="2E7D4F"/>
                </a:solidFill>
              </a:rPr>
              <a:t>▲ POSITIVE</a:t>
            </a:r>
            <a:r>
              <a:rPr sz="900">
                <a:solidFill>
                  <a:srgbClr val="A8322A"/>
                </a:solidFill>
              </a:rPr>
              <a:t/>
            </a:r>
          </a:p>
          <a:p>
            <a:r>
              <a:rPr sz="1200" b="1">
                <a:solidFill>
                  <a:srgbClr val="1F2A44"/>
                </a:solidFill>
                <a:latin typeface="Cambria"/>
              </a:rPr>
              <a:t>City office secures £47.2m refurbishment finance - PropertyWire</a:t>
            </a:r>
          </a:p>
          <a:p>
            <a:r>
              <a:rPr sz="900"/>
              <a:t>City office secures £47.2m refurbishment finance PropertyWire [14]</a:t>
            </a:r>
          </a:p>
          <a:p>
            <a:r>
              <a:rPr sz="900" i="1">
                <a:solidFill>
                  <a:srgbClr val="6B7385"/>
                </a:solidFill>
              </a:rPr>
              <a:t>New supply competes with existing buildings for the same tenants.</a:t>
            </a:r>
          </a:p>
        </p:txBody>
      </p:sp>
      <p:sp>
        <p:nvSpPr>
          <p:cNvPr id="11" name="Rectangle 10"/>
          <p:cNvSpPr/>
          <p:nvPr/>
        </p:nvSpPr>
        <p:spPr>
          <a:xfrm>
            <a:off x="548640" y="1645920"/>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79392" y="1645920"/>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10144" y="1645920"/>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47872"/>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3547872"/>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10144" y="3547872"/>
            <a:ext cx="3611880" cy="45720"/>
          </a:xfrm>
          <a:prstGeom prst="rect">
            <a:avLst/>
          </a:prstGeom>
          <a:solidFill>
            <a:srgbClr val="2E7D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98480" y="6492240"/>
            <a:ext cx="941832" cy="228600"/>
          </a:xfrm>
          <a:prstGeom prst="rect">
            <a:avLst/>
          </a:prstGeom>
          <a:noFill/>
        </p:spPr>
        <p:txBody>
          <a:bodyPr wrap="square">
            <a:spAutoFit/>
          </a:bodyPr>
          <a:lstStyle/>
          <a:p>
            <a:pPr algn="r"/>
            <a:r>
              <a:rPr sz="800">
                <a:solidFill>
                  <a:srgbClr val="6B7385"/>
                </a:solidFill>
              </a:rPr>
              <a:t>05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1"/>
          </p:nvPr>
        </p:nvSpPr>
        <p:spPr/>
        <p:txBody>
          <a:bodyPr wrap="square"/>
          <a:lstStyle/>
          <a:p>
            <a:r>
              <a:rPr/>
              <a:t>05 · SOURCES</a:t>
            </a:r>
          </a:p>
        </p:txBody>
      </p:sp>
      <p:sp>
        <p:nvSpPr>
          <p:cNvPr id="3" name="Title 2"/>
          <p:cNvSpPr>
            <a:spLocks noGrp="1"/>
          </p:cNvSpPr>
          <p:nvPr>
            <p:ph type="title" idx="102"/>
          </p:nvPr>
        </p:nvSpPr>
        <p:spPr/>
        <p:txBody>
          <a:bodyPr wrap="square"/>
          <a:lstStyle/>
          <a:p>
            <a:r>
              <a:rPr/>
              <a:t>Sources and footnotes</a:t>
            </a:r>
          </a:p>
        </p:txBody>
      </p:sp>
      <p:sp>
        <p:nvSpPr>
          <p:cNvPr id="4" name="Text Placeholder 3"/>
          <p:cNvSpPr>
            <a:spLocks noGrp="1"/>
          </p:cNvSpPr>
          <p:nvPr>
            <p:ph type="body" idx="105"/>
          </p:nvPr>
        </p:nvSpPr>
        <p:spPr/>
        <p:txBody>
          <a:bodyPr wrap="square"/>
          <a:lstStyle/>
          <a:p>
            <a:r>
              <a:rPr/>
              <a:t>[1] London Offices Spotlight Q2 2026 (Uploaded by PoC seed · 2026-10-10) - https://www.knightfrank.co.uk/site-assets/research/report-pdfs/london-office-spotlight/spotlight-q2-2026.pdf</a:t>
            </a:r>
          </a:p>
          <a:p>
            <a:r>
              <a:rPr/>
              <a:t>[2] Bank of England Bank Rate - https://www.bankofengland.co.uk/boeapps/database/Bank-Rate.asp</a:t>
            </a:r>
          </a:p>
          <a:p>
            <a:r>
              <a:rPr/>
              <a:t>[3] The London Office Market Report Q1 2024 (Uploaded by PoC seed · 2026-10-10) - https://content.knightfrank.com/research/104/documents/en/the-london-office-market-report-q1-2024-11170.pdf</a:t>
            </a:r>
          </a:p>
          <a:p>
            <a:r>
              <a:rPr/>
              <a:t>[4] London Offices Spotlight Q2 2024 (Uploaded by PoC seed · 2026-10-10) - https://content.knightfrank.com/research/1903/documents/en/london-offices-spotlight-q2-2024-11338.pdf</a:t>
            </a:r>
          </a:p>
          <a:p>
            <a:r>
              <a:rPr/>
              <a:t>[5] The London Office Market Report Q3 2024 (Uploaded by PoC seed · 2026-10-10) - https://www.knightfrank.co.uk/research/reports/the-london-office-market-report-104/contentassets/the-london-office-market-report-q3-2024-11701.pdf</a:t>
            </a:r>
          </a:p>
          <a:p>
            <a:r>
              <a:rPr/>
              <a:t>[6] The London Office Market Report Q2 2025 (Uploaded by PoC seed · 2026-10-10) - https://content.knightfrank.com/research/104/documents/en/the-london-office-market-report-q2-2025-12541.pdf</a:t>
            </a:r>
          </a:p>
          <a:p>
            <a:r>
              <a:rPr/>
              <a:t>[7] London Offices Spotlight Q3 2025 (Uploaded by PoC seed · 2026-10-10) - https://content.knightfrank.com/research/1903/documents/en/london-offices-spotlight-q3-2025-12540.pdf</a:t>
            </a:r>
          </a:p>
          <a:p>
            <a:r>
              <a:rPr/>
              <a:t>[8] London Offices Spotlight Q4 2025 (Uploaded by PoC seed · 2026-10-10) - https://www.knightfrank.co.uk/site-assets/research/report-pdfs/spotlight/spotlight-q4-2025-2.pdf</a:t>
            </a:r>
          </a:p>
          <a:p>
            <a:r>
              <a:rPr/>
              <a:t>[9] London Offices Spotlight Q1 2026 (Uploaded by PoC seed · 2026-10-10) - https://www.knightfrank.co.uk/site-assets/research/report-pdfs/london-office-spotlight/spotlight-q1-2026v3.pdf</a:t>
            </a:r>
          </a:p>
          <a:p>
            <a:r>
              <a:rPr/>
              <a:t>[10] Knight Frank research (seed) (2026-06-30) - https://www.knightfrank.co.uk/site-assets/research/report-pdfs/london-office-spotlight/spotlight-q2-2026.pdf</a:t>
            </a:r>
          </a:p>
          <a:p>
            <a:r>
              <a:rPr/>
              <a:t>[11] CBRE (2026-09-24) - https://news.google.com/rss/articles/CBMimgFBVV95cUxOYTBBeWdSVXpaRmEwYjdQZTJRTDNuSkdxTXRvZlhaVy1aQTljU0lJdTRHV3Q1a0VNaVk1ODBiQ0M4VXVPMzRyUVc5blFRWFdmUlRwRWJNUmNCb3ZMekVmMGxTV2FGYkg2NzRzU1JaUm9vNmFkeFlEY3plUElvbWFMbld1S0FNV1A3NURiYlNSWmg3b25sV1gza0xB?oc=5</a:t>
            </a:r>
          </a:p>
          <a:p>
            <a:r>
              <a:rPr/>
              <a:t>[12] The Banker (2026-09-22) - https://news.google.com/rss/articles/CBMiekFVX3lxTE9SQzVSOFJucnQzamgzMXRJSENoMUpwTUY0bFhQRmxDUm9PdGh3bmp6T3ZfX2pjekc1Y0p3ZnQxbWRsUHFfWFllQVg1a1lkYWpIdTlNR3dpM1ZuNHdNaFhpNVVFRWRzWDVDaE9lTUZfaGRTUHJCZWFwcENB?oc=5</a:t>
            </a:r>
          </a:p>
          <a:p>
            <a:r>
              <a:rPr/>
              <a:t>[13] East London Advertiser (2026-10-01) - https://news.google.com/rss/articles/CBMiqAFBVV95cUxQUTJpMEdTMFBfVnEyeEhnNU5yZm1FdUhFVWg4MHpfSFhTVmNlUEZsemNTM190elkzc3V6VHk1VnM0THh5ZEFfa3AxUEJrQXVCakpBbXhLTlNTTXNRbXZ6eWYzeFBDbFRpcFBxSmJvWHRnV0VadkY5Y2d0WEV2YmpXX0pQbk1OT2NXbml6emR6b25UMTJuNHctV0hGWEdXVUFmSzc3dmhaWF8?oc=5</a:t>
            </a:r>
          </a:p>
          <a:p>
            <a:r>
              <a:rPr/>
              <a:t>[14] PropertyWire (2026-10-02) - https://news.google.com/rss/articles/CBMijgFBVV95cUxOTTV4dXpJVXc1NnUyeUlvR3Nkb3NTX1pMN2dESWR2N0h6RU1uNmZ6a19kbDNkWmh1X0hfaVFfZmJ1ajJFa1hMeDVObmktakdIQjF0aWMxQmd3eks3Zll1a09iN216NUo2MFlQLWEyUHJ6UkxudmxKc1lmRmJacFZoZzd1TTVoOHh4X3VQTnpn?oc=5</a:t>
            </a:r>
          </a:p>
          <a:p>
            <a:r>
              <a:rPr/>
              <a:t/>
            </a:r>
          </a:p>
          <a:p>
            <a:r>
              <a:rPr i="1">
                <a:solidFill>
                  <a:srgbClr val="6B7385"/>
                </a:solidFill>
              </a:rPr>
              <a:t>Figures restated from public research for this proof of concept (Knight Frank terms bar AI use of their data); verify against the original before external use.</a:t>
            </a:r>
          </a:p>
          <a:p>
            <a:r>
              <a:rPr>
                <a:solidFill>
                  <a:srgbClr val="6B7385"/>
                </a:solidFill>
              </a:rPr>
              <a:t>🟢 collected automatically from open data · 🟠 uploaded by a colleague under the team's own access</a:t>
            </a:r>
          </a:p>
        </p:txBody>
      </p:sp>
      <p:sp>
        <p:nvSpPr>
          <p:cNvPr id="5" name="TextBox 4"/>
          <p:cNvSpPr txBox="1"/>
          <p:nvPr/>
        </p:nvSpPr>
        <p:spPr>
          <a:xfrm>
            <a:off x="10698480" y="6492240"/>
            <a:ext cx="941832" cy="228600"/>
          </a:xfrm>
          <a:prstGeom prst="rect">
            <a:avLst/>
          </a:prstGeom>
          <a:noFill/>
        </p:spPr>
        <p:txBody>
          <a:bodyPr wrap="square">
            <a:spAutoFit/>
          </a:bodyPr>
          <a:lstStyle/>
          <a:p>
            <a:pPr algn="r"/>
            <a:r>
              <a:rPr sz="800">
                <a:solidFill>
                  <a:srgbClr val="6B7385"/>
                </a:solidFill>
              </a:rPr>
              <a:t>06 / 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London office team: weekly brief</dc:title>
  <dc:subject>PptxGenJS Presentation</dc:subject>
  <dc:creator>London Office Market Agent</dc:creator>
  <cp:lastModifiedBy>PptxGenJS</cp:lastModifiedBy>
  <cp:revision>1</cp:revision>
  <dcterms:created xsi:type="dcterms:W3CDTF">2026-10-10T13:15:17Z</dcterms:created>
  <dcterms:modified xsi:type="dcterms:W3CDTF">2026-10-10T13:15:17Z</dcterms:modified>
</cp:coreProperties>
</file>