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Vacancy</c:v>
                </c:pt>
              </c:strCache>
            </c:strRef>
          </c:tx>
          <c:spPr>
            <a:ln w="28575">
              <a:solidFill>
                <a:srgbClr val="2B6CB0"/>
              </a:solidFill>
            </a:ln>
          </c:spPr>
          <c:marker>
            <c:size val="8"/>
            <c:spPr>
              <a:solidFill>
                <a:srgbClr val="2B6CB0"/>
              </a:solidFill>
            </c:spPr>
          </c:marker>
          <c:dLbls>
            <c:dLbl>
              <c:idx val="0"/>
              <c:tx>
                <c:rich>
                  <a:bodyPr/>
                  <a:lstStyle/>
                  <a:p>
                    <a:r>
                      <a:rPr sz="1000" b="0"/>
                      <a:t>9.9%</a:t>
                    </a:r>
                  </a:p>
                </c:rich>
              </c:tx>
              <c:dLblPos val="t"/>
              <c:showLegendKey val="0"/>
              <c:showVal val="1"/>
              <c:showCatName val="0"/>
              <c:showSerName val="0"/>
              <c:showPercent val="0"/>
              <c:showBubbleSize val="0"/>
            </c:dLbl>
            <c:dLbl>
              <c:idx val="7"/>
              <c:tx>
                <c:rich>
                  <a:bodyPr/>
                  <a:lstStyle/>
                  <a:p>
                    <a:r>
                      <a:rPr sz="1000" b="1"/>
                      <a:t>8.0%</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Q1 2024</c:v>
                </c:pt>
                <c:pt idx="1">
                  <c:v>Q2 2024</c:v>
                </c:pt>
                <c:pt idx="2">
                  <c:v>Q3 2024</c:v>
                </c:pt>
                <c:pt idx="3">
                  <c:v>Q2 2025</c:v>
                </c:pt>
                <c:pt idx="4">
                  <c:v>Q3 2025</c:v>
                </c:pt>
                <c:pt idx="5">
                  <c:v>Q4 2025</c:v>
                </c:pt>
                <c:pt idx="6">
                  <c:v>Q1 2026</c:v>
                </c:pt>
                <c:pt idx="7">
                  <c:v>Q2 2026</c:v>
                </c:pt>
              </c:strCache>
            </c:strRef>
          </c:cat>
          <c:val>
            <c:numRef>
              <c:f>Sheet1!$B$2:$B$9</c:f>
              <c:numCache>
                <c:formatCode>General</c:formatCode>
                <c:ptCount val="8"/>
                <c:pt idx="0">
                  <c:v>9.9</c:v>
                </c:pt>
                <c:pt idx="1">
                  <c:v>9.4</c:v>
                </c:pt>
                <c:pt idx="2">
                  <c:v>9.1</c:v>
                </c:pt>
                <c:pt idx="3">
                  <c:v>8.8</c:v>
                </c:pt>
                <c:pt idx="4">
                  <c:v>9.0</c:v>
                </c:pt>
                <c:pt idx="5">
                  <c:v>8.6</c:v>
                </c:pt>
                <c:pt idx="6">
                  <c:v>8.5</c:v>
                </c:pt>
                <c:pt idx="7">
                  <c:v>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5E7EB"/>
            </a:solidFill>
          </a:ln>
        </c:spPr>
        <c:txPr>
          <a:bodyPr/>
          <a:lstStyle/>
          <a:p>
            <a:pPr>
              <a:defRPr sz="900"/>
            </a:pPr>
          </a:p>
        </c:txPr>
        <c:crossAx val="2140495176"/>
        <c:crosses val="autoZero"/>
        <c:auto val="1"/>
        <c:lblAlgn val="ctr"/>
        <c:lblOffset val="100"/>
        <c:noMultiLvlLbl val="0"/>
      </c:catAx>
      <c:valAx>
        <c:axId val="2140495176"/>
        <c:scaling>
          <c:max val="11.0"/>
          <c:min val="7.0"/>
        </c:scaling>
        <c:delete val="0"/>
        <c:axPos val="l"/>
        <c:majorGridlines>
          <c:spPr>
            <a:ln>
              <a:solidFill>
                <a:srgbClr val="E5E7EB"/>
              </a:solidFill>
            </a:ln>
          </c:spPr>
        </c:majorGridlines>
        <c:numFmt formatCode="0.0&quot;%&quot;" sourceLinked="0"/>
        <c:majorTickMark val="out"/>
        <c:minorTickMark val="none"/>
        <c:tickLblPos val="nextTo"/>
        <c:spPr>
          <a:ln>
            <a:noFill/>
          </a:ln>
        </c:spPr>
        <c:crossAx val="2118791784"/>
        <c:crosses val="autoZero"/>
      </c:valAx>
    </c:plotArea>
    <c:plotVisOnly val="1"/>
    <c:dispBlanksAs val="gap"/>
    <c:showDLblsOverMax val="0"/>
  </c:chart>
  <c:txPr>
    <a:bodyPr/>
    <a:lstStyle/>
    <a:p>
      <a:pPr>
        <a:defRPr sz="1000">
          <a:solidFill>
            <a:srgbClr val="6B728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Take-up</c:v>
                </c:pt>
              </c:strCache>
            </c:strRef>
          </c:tx>
          <c:spPr>
            <a:solidFill>
              <a:srgbClr val="2B6CB0"/>
            </a:solidFill>
          </c:spPr>
          <c:dPt>
            <c:idx val="7"/>
            <c:spPr>
              <a:solidFill>
                <a:srgbClr val="C98316"/>
              </a:solidFill>
            </c:spPr>
          </c:dPt>
          <c:cat>
            <c:strRef>
              <c:f>Sheet1!$A$2:$A$9</c:f>
              <c:strCache>
                <c:ptCount val="8"/>
                <c:pt idx="0">
                  <c:v>Q1 2024</c:v>
                </c:pt>
                <c:pt idx="1">
                  <c:v>Q2 2024</c:v>
                </c:pt>
                <c:pt idx="2">
                  <c:v>Q3 2024</c:v>
                </c:pt>
                <c:pt idx="3">
                  <c:v>Q2 2025</c:v>
                </c:pt>
                <c:pt idx="4">
                  <c:v>Q3 2025</c:v>
                </c:pt>
                <c:pt idx="5">
                  <c:v>Q4 2025</c:v>
                </c:pt>
                <c:pt idx="6">
                  <c:v>Q1 2026</c:v>
                </c:pt>
                <c:pt idx="7">
                  <c:v>Q2 2026</c:v>
                </c:pt>
              </c:strCache>
            </c:strRef>
          </c:cat>
          <c:val>
            <c:numRef>
              <c:f>Sheet1!$B$2:$B$9</c:f>
              <c:numCache>
                <c:formatCode>General</c:formatCode>
                <c:ptCount val="8"/>
                <c:pt idx="0">
                  <c:v>1.88</c:v>
                </c:pt>
                <c:pt idx="1">
                  <c:v>2.45</c:v>
                </c:pt>
                <c:pt idx="2">
                  <c:v>3.01</c:v>
                </c:pt>
                <c:pt idx="3">
                  <c:v>3.53</c:v>
                </c:pt>
                <c:pt idx="4">
                  <c:v>2.7</c:v>
                </c:pt>
                <c:pt idx="5">
                  <c:v>3.3</c:v>
                </c:pt>
                <c:pt idx="6">
                  <c:v>2.5</c:v>
                </c:pt>
                <c:pt idx="7">
                  <c:v>3.1</c:v>
                </c:pt>
              </c:numCache>
            </c:numRef>
          </c:val>
        </c:ser>
        <c:dLbls>
          <c:numFmt formatCode="0.00" sourceLinked="0"/>
          <c:txPr>
            <a:bodyPr/>
            <a:lstStyle/>
            <a:p>
              <a:pPr>
                <a:defRPr sz="900">
                  <a:solidFill>
                    <a:srgbClr val="11182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5E7EB"/>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E5E7EB"/>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000">
          <a:solidFill>
            <a:srgbClr val="6B728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Q2 2026</c:v>
                </c:pt>
              </c:strCache>
            </c:strRef>
          </c:tx>
          <c:spPr>
            <a:solidFill>
              <a:srgbClr val="2B6CB0"/>
            </a:solidFill>
          </c:spPr>
          <c:cat>
            <c:strRef>
              <c:f>Sheet1!$A$2:$A$4</c:f>
              <c:strCache>
                <c:ptCount val="3"/>
                <c:pt idx="0">
                  <c:v>West End</c:v>
                </c:pt>
                <c:pt idx="1">
                  <c:v>City &amp; Southbank</c:v>
                </c:pt>
                <c:pt idx="2">
                  <c:v>Docklands &amp; Stratford</c:v>
                </c:pt>
              </c:strCache>
            </c:strRef>
          </c:cat>
          <c:val>
            <c:numRef>
              <c:f>Sheet1!$B$2:$B$4</c:f>
              <c:numCache>
                <c:formatCode>General</c:formatCode>
                <c:ptCount val="3"/>
                <c:pt idx="0">
                  <c:v>0.91</c:v>
                </c:pt>
                <c:pt idx="1">
                  <c:v>0.37</c:v>
                </c:pt>
                <c:pt idx="2">
                  <c:v>0.75</c:v>
                </c:pt>
              </c:numCache>
            </c:numRef>
          </c:val>
        </c:ser>
        <c:ser>
          <c:idx val="1"/>
          <c:order val="1"/>
          <c:tx>
            <c:strRef>
              <c:f>Sheet1!$C$1</c:f>
              <c:strCache>
                <c:ptCount val="1"/>
                <c:pt idx="0">
                  <c:v>Long-term average</c:v>
                </c:pt>
              </c:strCache>
            </c:strRef>
          </c:tx>
          <c:spPr>
            <a:solidFill>
              <a:srgbClr val="C98316"/>
            </a:solidFill>
          </c:spPr>
          <c:cat>
            <c:strRef>
              <c:f>Sheet1!$A$2:$A$4</c:f>
              <c:strCache>
                <c:ptCount val="3"/>
                <c:pt idx="0">
                  <c:v>West End</c:v>
                </c:pt>
                <c:pt idx="1">
                  <c:v>City &amp; Southbank</c:v>
                </c:pt>
                <c:pt idx="2">
                  <c:v>Docklands &amp; Stratford</c:v>
                </c:pt>
              </c:strCache>
            </c:strRef>
          </c:cat>
          <c:val>
            <c:numRef>
              <c:f>Sheet1!$C$2:$C$4</c:f>
              <c:numCache>
                <c:formatCode>General</c:formatCode>
                <c:ptCount val="3"/>
                <c:pt idx="0">
                  <c:v>1.19</c:v>
                </c:pt>
                <c:pt idx="1">
                  <c:v>1.6</c:v>
                </c:pt>
                <c:pt idx="2">
                  <c:v>0.12</c:v>
                </c:pt>
              </c:numCache>
            </c:numRef>
          </c:val>
        </c:ser>
        <c:dLbls>
          <c:numFmt formatCode="&quot;£&quot;0.00" sourceLinked="0"/>
          <c:txPr>
            <a:bodyPr/>
            <a:lstStyle/>
            <a:p>
              <a:pPr>
                <a:defRPr sz="900"/>
              </a:pPr>
            </a:p>
          </c:txPr>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E5E7EB"/>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E5E7EB"/>
              </a:solidFill>
            </a:ln>
          </c:spPr>
        </c:majorGridlines>
        <c:numFmt formatCode="&quot;£&quot;0.0" sourceLinked="0"/>
        <c:majorTickMark val="out"/>
        <c:minorTickMark val="none"/>
        <c:tickLblPos val="nextTo"/>
        <c:spPr>
          <a:ln>
            <a:noFill/>
          </a:ln>
        </c:spPr>
        <c:crossAx val="-2068027336"/>
        <c:crosses val="autoZero"/>
      </c:valAx>
    </c:plotArea>
    <c:legend>
      <c:legendPos val="t"/>
      <c:overlay val="0"/>
    </c:legend>
    <c:dispBlanksAs val="gap"/>
  </c:chart>
  <c:txPr>
    <a:bodyPr/>
    <a:lstStyle/>
    <a:p>
      <a:pPr>
        <a:defRPr sz="1000">
          <a:solidFill>
            <a:srgbClr val="6B728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Vacancy, take-up, requirements and investment all moved this quarter: occupancy firmed while capital markets stayed well below trend.</a:t>
            </a:r>
          </a:p>
          <a:p>
            <a:r>
              <a:t>Investment committee market section, built from the team brief data of 10 Oct 2026. Headline metrics: vacancy 8.0% (Q2 2026, down 0.5pp on the quarter), take-up 3.10m sq ft (11% above its long-term average), active requirements 14.30m sq ft (up 2.20m sq ft), investment £2.00bn (36% below its long-term average). All market figures from Knight Frank London Offices Spotlight Q2 2026, uploaded to the team library by PoC seed on 10 Oct 2026. Figures are restated for the proof of concept: verify against the original before external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Vacancy fell 0.50pp to 8.0%, the lowest since Q1 2024, and take-up of 3.10m sq ft came in 11% above its long-term average — the top-ranked signal this week.</a:t>
            </a:r>
          </a:p>
          <a:p>
            <a:r>
              <a:t>Vacancy has fallen from 9.9% in Q1 2024 to 8.0% in Q2 2026, the lowest reading held in the series and 8% above the 7.4% long-term average. Take-up of 3.10m sq ft in Q2 2026 is 11% above the 2.80m sq ft long-term average, rebounding from a subdued Q1 2026 at 2.50m sq ft. Active requirements rose 2.20m sq ft to 14.30m sq ft, so the demand pipeline is also building. Source: Knight Frank London Offices Spotlight Q2 2026 [1]; quarters with no library figures are not plotted.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The evidence table carries the submarket-level figures — rent, incentives, vacancy, yield and investment for three key submarkets — that back the IC's asset-level decisions.</a:t>
            </a:r>
          </a:p>
          <a:p>
            <a:r>
              <a:t>Evidence table, Q2 2026, all from Knight Frank London Offices Spotlight Q2 2026 [1]. West End: prime rent £185.00/sq ft, rent-free 21 months, vacancy 7.0% (down 0.70pp on the quarter), prime yield 3.8%, investment £0.91bn. City &amp; Southbank: £102.50/sq ft, 24 months rent-free (down 1.50), vacancy 8.1% (down 0.40pp), yield 5.2%, investment £0.37bn. Docklands &amp; Stratford: £62.50/sq ft (up £5.00), 28.5 months rent-free, vacancy 10.7% (down 0.40pp), yield 7.5%, investment £0.75bn. Note vacancy fell in all three submarkets this quarter even as the London total rose — a definitional difference worth checking with the publisher before the IC relies on either figure.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Investment rose to £2.00bn on the quarter but remains 36% below the long-term average, with City &amp; Southbank 77% below trend and prime yields still above their long-term averages.</a:t>
            </a:r>
          </a:p>
          <a:p>
            <a:r>
              <a:t>London investment totalled £2.00bn in Q2 2026, up £0.10bn from Q1 2026 but 36% below the £3.13bn long-term average. By submarket: West End £0.91bn (24% below its long-term average), City &amp; Southbank £0.37bn (77% below), Docklands &amp; Stratford £0.75bn (well above its £0.12bn average, lifted by the Barclays purchase of 1 Churchill Place at a reported 5.62% yield, ref [10]). Prime yields were unchanged on the quarter across all three submarkets and sit above their long-term averages: West End 3.8% vs 3.59%, City &amp; Southbank 5.2% vs 4.54%, Docklands &amp; Stratford 7.5% vs 5.64%. Source: Knight Frank Q2 2026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Six signals this week split the IC's decision both ways: firming demand and fresh Canary Wharf pricing on one side, thin investment volumes and two City refurbishment financings adding supply on the other.</a:t>
            </a:r>
          </a:p>
          <a:p>
            <a:r>
              <a:t>Signals for and against the investment case this week. For: vacancy fell to 8.0% [1]; take-up 11% above its long-term average; active requirements rose to 14.30m sq ft; Barclays bought 1 Churchill Place for £750m at a reported 5.62% yield [10]; J.P. Morgan Asset Management City pre-let [11]; Citi reopened its Canary Wharf HQ after a $1.5bn refit [12]. Against: investment remains 36% below its long-term average; City &amp; Southbank investment is 77% below trend; two City refurbishment financings add competing supply — a £1.016bn scheme backed by ING and DBS [13] and £47.2m of finance on another City office [14]. No unconfirmed market talk and no flagged figures this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Every figure in this IC section needs a traceable source: the library holds 14 footnotes across Knight Frank reports and Bank of England open data.</a:t>
            </a:r>
          </a:p>
          <a:p>
            <a:r>
              <a:t>All market figures come from Knight Frank research uploaded to the team library by PoC seed on 10 Oct 2026. Bank Rate is collected automatically from the Bank of England. Figures are restated for the proof of concept: verify against the original before external use. No figures in this pack are flagged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11827"/>
        </a:solidFill>
      </p:bgPr>
    </p:bg>
    <p:spTree>
      <p:nvGrpSpPr>
        <p:cNvPr id="1" name=""/>
        <p:cNvGrpSpPr/>
        <p:nvPr/>
      </p:nvGrpSpPr>
      <p:grpSpPr>
        <a:xfrm>
          <a:off x="0" y="0"/>
          <a:ext cx="0" cy="0"/>
          <a:chOff x="0" y="0"/>
          <a:chExt cx="0" cy="0"/>
        </a:xfrm>
      </p:grpSpPr>
      <p:sp>
        <p:nvSpPr>
          <p:cNvPr id="2" name="eyebrow"/>
          <p:cNvSpPr/>
          <p:nvPr>
            <p:ph idx="100" type="body" hasCustomPrompt="1"/>
          </p:nvPr>
        </p:nvSpPr>
        <p:spPr>
          <a:xfrm>
            <a:off x="640080" y="502920"/>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3" name="title"/>
          <p:cNvSpPr/>
          <p:nvPr>
            <p:ph idx="101" type="title" hasCustomPrompt="1"/>
          </p:nvPr>
        </p:nvSpPr>
        <p:spPr>
          <a:xfrm>
            <a:off x="640080" y="822960"/>
            <a:ext cx="10881360" cy="914400"/>
          </a:xfrm>
          <a:prstGeom prst="rect">
            <a:avLst/>
          </a:prstGeom>
          <a:noFill/>
          <a:ln/>
        </p:spPr>
        <p:txBody>
          <a:bodyPr wrap="square" rtlCol="0"/>
          <a:lstStyle>
            <a:lvl1pPr algn="l" indent="0" marL="0">
              <a:buNone/>
              <a:defRPr lang="en-US" sz="3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4" name="subtitle"/>
          <p:cNvSpPr/>
          <p:nvPr>
            <p:ph idx="102" type="body" hasCustomPrompt="1"/>
          </p:nvPr>
        </p:nvSpPr>
        <p:spPr>
          <a:xfrm>
            <a:off x="640080" y="1783080"/>
            <a:ext cx="10881360" cy="365760"/>
          </a:xfrm>
          <a:prstGeom prst="rect">
            <a:avLst/>
          </a:prstGeom>
          <a:noFill/>
          <a:ln/>
        </p:spPr>
        <p:txBody>
          <a:bodyPr wrap="square" rtlCol="0"/>
          <a:lstStyle>
            <a:lvl1pPr algn="l" indent="0" marL="0">
              <a:buNone/>
              <a:defRPr lang="en-US" sz="1300" dirty="0">
                <a:solidFill>
                  <a:srgbClr val="C7CBD3"/>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5" name="headline"/>
          <p:cNvSpPr/>
          <p:nvPr>
            <p:ph idx="103" type="body" hasCustomPrompt="1"/>
          </p:nvPr>
        </p:nvSpPr>
        <p:spPr>
          <a:xfrm>
            <a:off x="640080" y="2286000"/>
            <a:ext cx="10881360" cy="1600200"/>
          </a:xfrm>
          <a:prstGeom prst="rect">
            <a:avLst/>
          </a:prstGeom>
          <a:noFill/>
          <a:ln/>
        </p:spPr>
        <p:txBody>
          <a:bodyPr wrap="square" rtlCol="0"/>
          <a:lstStyle>
            <a:lvl1pPr algn="l" indent="0" marL="0">
              <a:buNone/>
              <a:defRPr lang="en-US" sz="1500" dirty="0">
                <a:solidFill>
                  <a:srgbClr val="FFFFFF"/>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6" name="Shape 0"/>
          <p:cNvSpPr/>
          <p:nvPr/>
        </p:nvSpPr>
        <p:spPr>
          <a:xfrm>
            <a:off x="640080" y="4069080"/>
            <a:ext cx="2606040" cy="0"/>
          </a:xfrm>
          <a:prstGeom prst="line">
            <a:avLst/>
          </a:prstGeom>
          <a:noFill/>
          <a:ln w="38100">
            <a:solidFill>
              <a:srgbClr val="B3202A"/>
            </a:solidFill>
            <a:prstDash val="solid"/>
          </a:ln>
        </p:spPr>
      </p:sp>
      <p:sp>
        <p:nvSpPr>
          <p:cNvPr id="7" name="kpi1"/>
          <p:cNvSpPr/>
          <p:nvPr>
            <p:ph idx="105" type="body" hasCustomPrompt="1"/>
          </p:nvPr>
        </p:nvSpPr>
        <p:spPr>
          <a:xfrm>
            <a:off x="640080"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8" name="Shape 1"/>
          <p:cNvSpPr/>
          <p:nvPr/>
        </p:nvSpPr>
        <p:spPr>
          <a:xfrm>
            <a:off x="3410712" y="4069080"/>
            <a:ext cx="2606040" cy="0"/>
          </a:xfrm>
          <a:prstGeom prst="line">
            <a:avLst/>
          </a:prstGeom>
          <a:noFill/>
          <a:ln w="38100">
            <a:solidFill>
              <a:srgbClr val="B3202A"/>
            </a:solidFill>
            <a:prstDash val="solid"/>
          </a:ln>
        </p:spPr>
      </p:sp>
      <p:sp>
        <p:nvSpPr>
          <p:cNvPr id="9" name="kpi2"/>
          <p:cNvSpPr/>
          <p:nvPr>
            <p:ph idx="107" type="body" hasCustomPrompt="1"/>
          </p:nvPr>
        </p:nvSpPr>
        <p:spPr>
          <a:xfrm>
            <a:off x="3410712"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0" name="Shape 2"/>
          <p:cNvSpPr/>
          <p:nvPr/>
        </p:nvSpPr>
        <p:spPr>
          <a:xfrm>
            <a:off x="6181344" y="4069080"/>
            <a:ext cx="2606040" cy="0"/>
          </a:xfrm>
          <a:prstGeom prst="line">
            <a:avLst/>
          </a:prstGeom>
          <a:noFill/>
          <a:ln w="38100">
            <a:solidFill>
              <a:srgbClr val="B3202A"/>
            </a:solidFill>
            <a:prstDash val="solid"/>
          </a:ln>
        </p:spPr>
      </p:sp>
      <p:sp>
        <p:nvSpPr>
          <p:cNvPr id="11" name="kpi3"/>
          <p:cNvSpPr/>
          <p:nvPr>
            <p:ph idx="109" type="body" hasCustomPrompt="1"/>
          </p:nvPr>
        </p:nvSpPr>
        <p:spPr>
          <a:xfrm>
            <a:off x="6181344"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2" name="Shape 3"/>
          <p:cNvSpPr/>
          <p:nvPr/>
        </p:nvSpPr>
        <p:spPr>
          <a:xfrm>
            <a:off x="8951976" y="4069080"/>
            <a:ext cx="2606040" cy="0"/>
          </a:xfrm>
          <a:prstGeom prst="line">
            <a:avLst/>
          </a:prstGeom>
          <a:noFill/>
          <a:ln w="38100">
            <a:solidFill>
              <a:srgbClr val="B3202A"/>
            </a:solidFill>
            <a:prstDash val="solid"/>
          </a:ln>
        </p:spPr>
      </p:sp>
      <p:sp>
        <p:nvSpPr>
          <p:cNvPr id="13" name="kpi4"/>
          <p:cNvSpPr/>
          <p:nvPr>
            <p:ph idx="111" type="body" hasCustomPrompt="1"/>
          </p:nvPr>
        </p:nvSpPr>
        <p:spPr>
          <a:xfrm>
            <a:off x="8951976"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4" name="caveat"/>
          <p:cNvSpPr/>
          <p:nvPr>
            <p:ph idx="112" type="body" hasCustomPrompt="1"/>
          </p:nvPr>
        </p:nvSpPr>
        <p:spPr>
          <a:xfrm>
            <a:off x="640080" y="6172200"/>
            <a:ext cx="10881360" cy="411480"/>
          </a:xfrm>
          <a:prstGeom prst="rect">
            <a:avLst/>
          </a:prstGeom>
          <a:noFill/>
          <a:ln/>
        </p:spPr>
        <p:txBody>
          <a:bodyPr wrap="square" rtlCol="0"/>
          <a:lstStyle>
            <a:lvl1pPr algn="l" indent="0" marL="0">
              <a:buNone/>
              <a:defRPr lang="en-US" sz="800" dirty="0">
                <a:solidFill>
                  <a:srgbClr val="C7CBD3"/>
                </a:solidFill>
                <a:latin typeface="Calibri" pitchFamily="34" charset="0"/>
                <a:ea typeface="Calibri" pitchFamily="34" charset="-122"/>
                <a:cs typeface="Calibri" pitchFamily="34" charset="-120"/>
              </a:defRPr>
            </a:lvl1pPr>
          </a:lstStyle>
          <a:p>
            <a:pPr algn="l" indent="0" marL="0">
              <a:buNone/>
            </a:pP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640080" y="2697480"/>
            <a:ext cx="914400" cy="0"/>
          </a:xfrm>
          <a:prstGeom prst="line">
            <a:avLst/>
          </a:prstGeom>
          <a:noFill/>
          <a:ln w="38100">
            <a:solidFill>
              <a:srgbClr val="B3202A"/>
            </a:solidFill>
            <a:prstDash val="solid"/>
          </a:ln>
        </p:spPr>
      </p:sp>
      <p:sp>
        <p:nvSpPr>
          <p:cNvPr id="3" name="eyebrow"/>
          <p:cNvSpPr/>
          <p:nvPr>
            <p:ph idx="101" type="body" hasCustomPrompt="1"/>
          </p:nvPr>
        </p:nvSpPr>
        <p:spPr>
          <a:xfrm>
            <a:off x="640080" y="2286000"/>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640080" y="2834640"/>
            <a:ext cx="10881360" cy="914400"/>
          </a:xfrm>
          <a:prstGeom prst="rect">
            <a:avLst/>
          </a:prstGeom>
          <a:noFill/>
          <a:ln/>
        </p:spPr>
        <p:txBody>
          <a:bodyPr wrap="square" rtlCol="0"/>
          <a:lstStyle>
            <a:lvl1pPr algn="l" indent="0" marL="0">
              <a:buNone/>
              <a:defRPr lang="en-US" sz="3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5" name="body"/>
          <p:cNvSpPr/>
          <p:nvPr>
            <p:ph idx="103" type="body" hasCustomPrompt="1"/>
          </p:nvPr>
        </p:nvSpPr>
        <p:spPr>
          <a:xfrm>
            <a:off x="640080" y="3840480"/>
            <a:ext cx="10058400" cy="1097280"/>
          </a:xfrm>
          <a:prstGeom prst="rect">
            <a:avLst/>
          </a:prstGeom>
          <a:noFill/>
          <a:ln/>
        </p:spPr>
        <p:txBody>
          <a:bodyPr wrap="square" rtlCol="0"/>
          <a:lstStyle>
            <a:lvl1pPr algn="l" indent="0" marL="0">
              <a:buNone/>
              <a:defRPr lang="en-US" sz="1500" dirty="0">
                <a:solidFill>
                  <a:srgbClr val="C7CBD3"/>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111827"/>
        </a:solidFill>
      </p:bgPr>
    </p:bg>
    <p:spTree>
      <p:nvGrpSpPr>
        <p:cNvPr id="1" name=""/>
        <p:cNvGrpSpPr/>
        <p:nvPr/>
      </p:nvGrpSpPr>
      <p:grpSpPr>
        <a:xfrm>
          <a:off x="0" y="0"/>
          <a:ext cx="0" cy="0"/>
          <a:chOff x="0" y="0"/>
          <a:chExt cx="0" cy="0"/>
        </a:xfrm>
      </p:grpSpPr>
      <p:sp>
        <p:nvSpPr>
          <p:cNvPr id="2" name="eyebrow"/>
          <p:cNvSpPr/>
          <p:nvPr>
            <p:ph idx="100" type="body" hasCustomPrompt="1"/>
          </p:nvPr>
        </p:nvSpPr>
        <p:spPr>
          <a:xfrm>
            <a:off x="822960" y="1234440"/>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3" name="Shape 0"/>
          <p:cNvSpPr/>
          <p:nvPr/>
        </p:nvSpPr>
        <p:spPr>
          <a:xfrm>
            <a:off x="822960" y="1645920"/>
            <a:ext cx="731520" cy="0"/>
          </a:xfrm>
          <a:prstGeom prst="line">
            <a:avLst/>
          </a:prstGeom>
          <a:noFill/>
          <a:ln w="38100">
            <a:solidFill>
              <a:srgbClr val="B3202A"/>
            </a:solidFill>
            <a:prstDash val="solid"/>
          </a:ln>
        </p:spPr>
      </p:sp>
      <p:sp>
        <p:nvSpPr>
          <p:cNvPr id="4" name="statement"/>
          <p:cNvSpPr/>
          <p:nvPr>
            <p:ph idx="102" type="body" hasCustomPrompt="1"/>
          </p:nvPr>
        </p:nvSpPr>
        <p:spPr>
          <a:xfrm>
            <a:off x="822960" y="1874520"/>
            <a:ext cx="10515600" cy="2011680"/>
          </a:xfrm>
          <a:prstGeom prst="rect">
            <a:avLst/>
          </a:prstGeom>
          <a:noFill/>
          <a:ln/>
        </p:spPr>
        <p:txBody>
          <a:bodyPr wrap="square" rtlCol="0"/>
          <a:lstStyle>
            <a:lvl1pPr algn="l" indent="0" marL="0">
              <a:buNone/>
              <a:defRPr lang="en-US" sz="3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5" name="attribution"/>
          <p:cNvSpPr/>
          <p:nvPr>
            <p:ph idx="103" type="body" hasCustomPrompt="1"/>
          </p:nvPr>
        </p:nvSpPr>
        <p:spPr>
          <a:xfrm>
            <a:off x="822960" y="4023360"/>
            <a:ext cx="10515600" cy="548640"/>
          </a:xfrm>
          <a:prstGeom prst="rect">
            <a:avLst/>
          </a:prstGeom>
          <a:noFill/>
          <a:ln/>
        </p:spPr>
        <p:txBody>
          <a:bodyPr wrap="square" rtlCol="0"/>
          <a:lstStyle>
            <a:lvl1pPr algn="l" indent="0" marL="0">
              <a:buNone/>
              <a:defRPr lang="en-US" sz="1200" dirty="0">
                <a:solidFill>
                  <a:srgbClr val="C7CBD3"/>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6" name="Text 1"/>
          <p:cNvSpPr/>
          <p:nvPr/>
        </p:nvSpPr>
        <p:spPr>
          <a:xfrm>
            <a:off x="822960" y="6400800"/>
            <a:ext cx="7315200" cy="201168"/>
          </a:xfrm>
          <a:prstGeom prst="rect">
            <a:avLst/>
          </a:prstGeom>
          <a:noFill/>
          <a:ln/>
        </p:spPr>
        <p:txBody>
          <a:bodyPr wrap="square" lIns="0" tIns="0" rIns="0" bIns="0" rtlCol="0" anchor="ctr"/>
          <a:lstStyle/>
          <a:p>
            <a:pPr indent="0" marL="0">
              <a:buNone/>
            </a:pPr>
            <a:r>
              <a:rPr lang="en-US" sz="800" spc="200" kern="0" dirty="0">
                <a:solidFill>
                  <a:srgbClr val="C7CBD3"/>
                </a:solidFill>
                <a:latin typeface="Calibri" pitchFamily="34" charset="0"/>
                <a:ea typeface="Calibri" pitchFamily="34" charset="-122"/>
                <a:cs typeface="Calibri" pitchFamily="34" charset="-120"/>
              </a:rPr>
              <a:t>LONDON OFFICE AGENT  ·  TEAM BRIEF</a:t>
            </a:r>
            <a:endParaRPr lang="en-US" sz="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ro numb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hero"/>
          <p:cNvSpPr/>
          <p:nvPr>
            <p:ph idx="106" type="body" hasCustomPrompt="1"/>
          </p:nvPr>
        </p:nvSpPr>
        <p:spPr>
          <a:xfrm>
            <a:off x="548640" y="1691640"/>
            <a:ext cx="3931920" cy="1188720"/>
          </a:xfrm>
          <a:prstGeom prst="rect">
            <a:avLst/>
          </a:prstGeom>
          <a:noFill/>
          <a:ln/>
        </p:spPr>
        <p:txBody>
          <a:bodyPr wrap="square" rtlCol="0"/>
          <a:lstStyle>
            <a:lvl1pPr algn="l" indent="0" marL="0">
              <a:buNone/>
              <a:defRPr lang="en-US" sz="6000" b="1" dirty="0">
                <a:solidFill>
                  <a:srgbClr val="B3202A"/>
                </a:solidFill>
                <a:latin typeface="Calibri" pitchFamily="34" charset="0"/>
                <a:ea typeface="Calibri" pitchFamily="34" charset="-122"/>
                <a:cs typeface="Calibri" pitchFamily="34" charset="-120"/>
              </a:defRPr>
            </a:lvl1pPr>
          </a:lstStyle>
          <a:p>
            <a:pPr algn="l" indent="0" marL="0">
              <a:buNone/>
            </a:pPr>
            <a:endParaRPr lang="en-US" sz="6000" dirty="0"/>
          </a:p>
        </p:txBody>
      </p:sp>
      <p:sp>
        <p:nvSpPr>
          <p:cNvPr id="9" name="hero_caption"/>
          <p:cNvSpPr/>
          <p:nvPr>
            <p:ph idx="107" type="body" hasCustomPrompt="1"/>
          </p:nvPr>
        </p:nvSpPr>
        <p:spPr>
          <a:xfrm>
            <a:off x="548640" y="2926080"/>
            <a:ext cx="3931920" cy="320040"/>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0" name="hero_context"/>
          <p:cNvSpPr/>
          <p:nvPr>
            <p:ph idx="108" type="body" hasCustomPrompt="1"/>
          </p:nvPr>
        </p:nvSpPr>
        <p:spPr>
          <a:xfrm>
            <a:off x="548640" y="3337560"/>
            <a:ext cx="3931920" cy="2194560"/>
          </a:xfrm>
          <a:prstGeom prst="rect">
            <a:avLst/>
          </a:prstGeom>
          <a:noFill/>
          <a:ln/>
        </p:spPr>
        <p:txBody>
          <a:bodyPr wrap="square" rtlCol="0"/>
          <a:lstStyle>
            <a:lvl1pPr algn="l" indent="0" marL="0">
              <a:buNone/>
              <a:defRPr lang="en-US" sz="1200" dirty="0">
                <a:solidFill>
                  <a:srgbClr val="111827"/>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1" name="chart_label"/>
          <p:cNvSpPr/>
          <p:nvPr>
            <p:ph idx="109" type="body" hasCustomPrompt="1"/>
          </p:nvPr>
        </p:nvSpPr>
        <p:spPr>
          <a:xfrm>
            <a:off x="4846320" y="1645920"/>
            <a:ext cx="676656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2" name="chart"/>
          <p:cNvSpPr/>
          <p:nvPr>
            <p:ph idx="110" type="chart" hasCustomPrompt="1"/>
          </p:nvPr>
        </p:nvSpPr>
        <p:spPr>
          <a:xfrm>
            <a:off x="4754880" y="1938528"/>
            <a:ext cx="6885432" cy="36118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3" name="source"/>
          <p:cNvSpPr/>
          <p:nvPr>
            <p:ph idx="111"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280"/>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 row">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Shape 4"/>
          <p:cNvSpPr/>
          <p:nvPr/>
        </p:nvSpPr>
        <p:spPr>
          <a:xfrm>
            <a:off x="548640" y="1691640"/>
            <a:ext cx="2651760" cy="0"/>
          </a:xfrm>
          <a:prstGeom prst="line">
            <a:avLst/>
          </a:prstGeom>
          <a:noFill/>
          <a:ln w="19050">
            <a:solidFill>
              <a:srgbClr val="B3202A"/>
            </a:solidFill>
            <a:prstDash val="solid"/>
          </a:ln>
        </p:spPr>
      </p:sp>
      <p:sp>
        <p:nvSpPr>
          <p:cNvPr id="9" name="stat1"/>
          <p:cNvSpPr/>
          <p:nvPr>
            <p:ph idx="107" type="body" hasCustomPrompt="1"/>
          </p:nvPr>
        </p:nvSpPr>
        <p:spPr>
          <a:xfrm>
            <a:off x="548640" y="1783080"/>
            <a:ext cx="2651760" cy="731520"/>
          </a:xfrm>
          <a:prstGeom prst="rect">
            <a:avLst/>
          </a:prstGeom>
          <a:noFill/>
          <a:ln/>
        </p:spPr>
        <p:txBody>
          <a:bodyPr wrap="square" rtlCol="0"/>
          <a:lstStyle>
            <a:lvl1pPr algn="l" indent="0" marL="0">
              <a:buNone/>
              <a:defRPr lang="en-US" sz="3000" b="1" dirty="0">
                <a:solidFill>
                  <a:srgbClr val="B3202A"/>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10" name="stat1_caption"/>
          <p:cNvSpPr/>
          <p:nvPr>
            <p:ph idx="108" type="body" hasCustomPrompt="1"/>
          </p:nvPr>
        </p:nvSpPr>
        <p:spPr>
          <a:xfrm>
            <a:off x="548640" y="2560320"/>
            <a:ext cx="2651760" cy="384048"/>
          </a:xfrm>
          <a:prstGeom prst="rect">
            <a:avLst/>
          </a:prstGeom>
          <a:noFill/>
          <a:ln/>
        </p:spPr>
        <p:txBody>
          <a:bodyPr wrap="square" rtlCol="0"/>
          <a:lstStyle>
            <a:lvl1pPr algn="l" indent="0" marL="0">
              <a:buNone/>
              <a:defRPr lang="en-US" sz="9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1" name="stat1_context"/>
          <p:cNvSpPr/>
          <p:nvPr>
            <p:ph idx="109" type="body" hasCustomPrompt="1"/>
          </p:nvPr>
        </p:nvSpPr>
        <p:spPr>
          <a:xfrm>
            <a:off x="548640" y="2962656"/>
            <a:ext cx="2651760" cy="438912"/>
          </a:xfrm>
          <a:prstGeom prst="rect">
            <a:avLst/>
          </a:prstGeom>
          <a:noFill/>
          <a:ln/>
        </p:spPr>
        <p:txBody>
          <a:bodyPr wrap="square" rtlCol="0"/>
          <a:lstStyle>
            <a:lvl1pPr algn="l" indent="0" marL="0">
              <a:buNone/>
              <a:defRPr lang="en-US" sz="100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2" name="Shape 5"/>
          <p:cNvSpPr/>
          <p:nvPr/>
        </p:nvSpPr>
        <p:spPr>
          <a:xfrm>
            <a:off x="3346704" y="1691640"/>
            <a:ext cx="2651760" cy="0"/>
          </a:xfrm>
          <a:prstGeom prst="line">
            <a:avLst/>
          </a:prstGeom>
          <a:noFill/>
          <a:ln w="19050">
            <a:solidFill>
              <a:srgbClr val="B3202A"/>
            </a:solidFill>
            <a:prstDash val="solid"/>
          </a:ln>
        </p:spPr>
      </p:sp>
      <p:sp>
        <p:nvSpPr>
          <p:cNvPr id="13" name="stat2"/>
          <p:cNvSpPr/>
          <p:nvPr>
            <p:ph idx="111" type="body" hasCustomPrompt="1"/>
          </p:nvPr>
        </p:nvSpPr>
        <p:spPr>
          <a:xfrm>
            <a:off x="3346704" y="1783080"/>
            <a:ext cx="2651760" cy="731520"/>
          </a:xfrm>
          <a:prstGeom prst="rect">
            <a:avLst/>
          </a:prstGeom>
          <a:noFill/>
          <a:ln/>
        </p:spPr>
        <p:txBody>
          <a:bodyPr wrap="square" rtlCol="0"/>
          <a:lstStyle>
            <a:lvl1pPr algn="l" indent="0" marL="0">
              <a:buNone/>
              <a:defRPr lang="en-US" sz="3000" b="1" dirty="0">
                <a:solidFill>
                  <a:srgbClr val="B3202A"/>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14" name="stat2_caption"/>
          <p:cNvSpPr/>
          <p:nvPr>
            <p:ph idx="112" type="body" hasCustomPrompt="1"/>
          </p:nvPr>
        </p:nvSpPr>
        <p:spPr>
          <a:xfrm>
            <a:off x="3346704" y="2560320"/>
            <a:ext cx="2651760" cy="384048"/>
          </a:xfrm>
          <a:prstGeom prst="rect">
            <a:avLst/>
          </a:prstGeom>
          <a:noFill/>
          <a:ln/>
        </p:spPr>
        <p:txBody>
          <a:bodyPr wrap="square" rtlCol="0"/>
          <a:lstStyle>
            <a:lvl1pPr algn="l" indent="0" marL="0">
              <a:buNone/>
              <a:defRPr lang="en-US" sz="9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5" name="stat2_context"/>
          <p:cNvSpPr/>
          <p:nvPr>
            <p:ph idx="113" type="body" hasCustomPrompt="1"/>
          </p:nvPr>
        </p:nvSpPr>
        <p:spPr>
          <a:xfrm>
            <a:off x="3346704" y="2962656"/>
            <a:ext cx="2651760" cy="438912"/>
          </a:xfrm>
          <a:prstGeom prst="rect">
            <a:avLst/>
          </a:prstGeom>
          <a:noFill/>
          <a:ln/>
        </p:spPr>
        <p:txBody>
          <a:bodyPr wrap="square" rtlCol="0"/>
          <a:lstStyle>
            <a:lvl1pPr algn="l" indent="0" marL="0">
              <a:buNone/>
              <a:defRPr lang="en-US" sz="100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6" name="Shape 6"/>
          <p:cNvSpPr/>
          <p:nvPr/>
        </p:nvSpPr>
        <p:spPr>
          <a:xfrm>
            <a:off x="6144768" y="1691640"/>
            <a:ext cx="2651760" cy="0"/>
          </a:xfrm>
          <a:prstGeom prst="line">
            <a:avLst/>
          </a:prstGeom>
          <a:noFill/>
          <a:ln w="19050">
            <a:solidFill>
              <a:srgbClr val="B3202A"/>
            </a:solidFill>
            <a:prstDash val="solid"/>
          </a:ln>
        </p:spPr>
      </p:sp>
      <p:sp>
        <p:nvSpPr>
          <p:cNvPr id="17" name="stat3"/>
          <p:cNvSpPr/>
          <p:nvPr>
            <p:ph idx="115" type="body" hasCustomPrompt="1"/>
          </p:nvPr>
        </p:nvSpPr>
        <p:spPr>
          <a:xfrm>
            <a:off x="6144768" y="1783080"/>
            <a:ext cx="2651760" cy="731520"/>
          </a:xfrm>
          <a:prstGeom prst="rect">
            <a:avLst/>
          </a:prstGeom>
          <a:noFill/>
          <a:ln/>
        </p:spPr>
        <p:txBody>
          <a:bodyPr wrap="square" rtlCol="0"/>
          <a:lstStyle>
            <a:lvl1pPr algn="l" indent="0" marL="0">
              <a:buNone/>
              <a:defRPr lang="en-US" sz="3000" b="1" dirty="0">
                <a:solidFill>
                  <a:srgbClr val="B3202A"/>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18" name="stat3_caption"/>
          <p:cNvSpPr/>
          <p:nvPr>
            <p:ph idx="116" type="body" hasCustomPrompt="1"/>
          </p:nvPr>
        </p:nvSpPr>
        <p:spPr>
          <a:xfrm>
            <a:off x="6144768" y="2560320"/>
            <a:ext cx="2651760" cy="384048"/>
          </a:xfrm>
          <a:prstGeom prst="rect">
            <a:avLst/>
          </a:prstGeom>
          <a:noFill/>
          <a:ln/>
        </p:spPr>
        <p:txBody>
          <a:bodyPr wrap="square" rtlCol="0"/>
          <a:lstStyle>
            <a:lvl1pPr algn="l" indent="0" marL="0">
              <a:buNone/>
              <a:defRPr lang="en-US" sz="9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9" name="stat3_context"/>
          <p:cNvSpPr/>
          <p:nvPr>
            <p:ph idx="117" type="body" hasCustomPrompt="1"/>
          </p:nvPr>
        </p:nvSpPr>
        <p:spPr>
          <a:xfrm>
            <a:off x="6144768" y="2962656"/>
            <a:ext cx="2651760" cy="438912"/>
          </a:xfrm>
          <a:prstGeom prst="rect">
            <a:avLst/>
          </a:prstGeom>
          <a:noFill/>
          <a:ln/>
        </p:spPr>
        <p:txBody>
          <a:bodyPr wrap="square" rtlCol="0"/>
          <a:lstStyle>
            <a:lvl1pPr algn="l" indent="0" marL="0">
              <a:buNone/>
              <a:defRPr lang="en-US" sz="100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0" name="Shape 7"/>
          <p:cNvSpPr/>
          <p:nvPr/>
        </p:nvSpPr>
        <p:spPr>
          <a:xfrm>
            <a:off x="8942832" y="1691640"/>
            <a:ext cx="2651760" cy="0"/>
          </a:xfrm>
          <a:prstGeom prst="line">
            <a:avLst/>
          </a:prstGeom>
          <a:noFill/>
          <a:ln w="19050">
            <a:solidFill>
              <a:srgbClr val="B3202A"/>
            </a:solidFill>
            <a:prstDash val="solid"/>
          </a:ln>
        </p:spPr>
      </p:sp>
      <p:sp>
        <p:nvSpPr>
          <p:cNvPr id="21" name="stat4"/>
          <p:cNvSpPr/>
          <p:nvPr>
            <p:ph idx="119" type="body" hasCustomPrompt="1"/>
          </p:nvPr>
        </p:nvSpPr>
        <p:spPr>
          <a:xfrm>
            <a:off x="8942832" y="1783080"/>
            <a:ext cx="2651760" cy="731520"/>
          </a:xfrm>
          <a:prstGeom prst="rect">
            <a:avLst/>
          </a:prstGeom>
          <a:noFill/>
          <a:ln/>
        </p:spPr>
        <p:txBody>
          <a:bodyPr wrap="square" rtlCol="0"/>
          <a:lstStyle>
            <a:lvl1pPr algn="l" indent="0" marL="0">
              <a:buNone/>
              <a:defRPr lang="en-US" sz="3000" b="1" dirty="0">
                <a:solidFill>
                  <a:srgbClr val="B3202A"/>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2" name="stat4_caption"/>
          <p:cNvSpPr/>
          <p:nvPr>
            <p:ph idx="120" type="body" hasCustomPrompt="1"/>
          </p:nvPr>
        </p:nvSpPr>
        <p:spPr>
          <a:xfrm>
            <a:off x="8942832" y="2560320"/>
            <a:ext cx="2651760" cy="384048"/>
          </a:xfrm>
          <a:prstGeom prst="rect">
            <a:avLst/>
          </a:prstGeom>
          <a:noFill/>
          <a:ln/>
        </p:spPr>
        <p:txBody>
          <a:bodyPr wrap="square" rtlCol="0"/>
          <a:lstStyle>
            <a:lvl1pPr algn="l" indent="0" marL="0">
              <a:buNone/>
              <a:defRPr lang="en-US" sz="9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23" name="stat4_context"/>
          <p:cNvSpPr/>
          <p:nvPr>
            <p:ph idx="121" type="body" hasCustomPrompt="1"/>
          </p:nvPr>
        </p:nvSpPr>
        <p:spPr>
          <a:xfrm>
            <a:off x="8942832" y="2962656"/>
            <a:ext cx="2651760" cy="438912"/>
          </a:xfrm>
          <a:prstGeom prst="rect">
            <a:avLst/>
          </a:prstGeom>
          <a:noFill/>
          <a:ln/>
        </p:spPr>
        <p:txBody>
          <a:bodyPr wrap="square" rtlCol="0"/>
          <a:lstStyle>
            <a:lvl1pPr algn="l" indent="0" marL="0">
              <a:buNone/>
              <a:defRPr lang="en-US" sz="100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4" name="chart_label"/>
          <p:cNvSpPr/>
          <p:nvPr>
            <p:ph idx="122" type="body" hasCustomPrompt="1"/>
          </p:nvPr>
        </p:nvSpPr>
        <p:spPr>
          <a:xfrm>
            <a:off x="548640" y="3493008"/>
            <a:ext cx="11064240" cy="274320"/>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5" name="chart"/>
          <p:cNvSpPr/>
          <p:nvPr>
            <p:ph idx="123" type="chart" hasCustomPrompt="1"/>
          </p:nvPr>
        </p:nvSpPr>
        <p:spPr>
          <a:xfrm>
            <a:off x="457200" y="3767328"/>
            <a:ext cx="11183112" cy="17830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26" name="source"/>
          <p:cNvSpPr/>
          <p:nvPr>
            <p:ph idx="124"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280"/>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 + takeawa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chart_label"/>
          <p:cNvSpPr/>
          <p:nvPr>
            <p:ph idx="106" type="body" hasCustomPrompt="1"/>
          </p:nvPr>
        </p:nvSpPr>
        <p:spPr>
          <a:xfrm>
            <a:off x="548640" y="1645920"/>
            <a:ext cx="749808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9" name="chart"/>
          <p:cNvSpPr/>
          <p:nvPr>
            <p:ph idx="107" type="chart" hasCustomPrompt="1"/>
          </p:nvPr>
        </p:nvSpPr>
        <p:spPr>
          <a:xfrm>
            <a:off x="457200" y="1938528"/>
            <a:ext cx="7589520" cy="36118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0" name="Shape 4"/>
          <p:cNvSpPr/>
          <p:nvPr/>
        </p:nvSpPr>
        <p:spPr>
          <a:xfrm>
            <a:off x="8275320" y="1645920"/>
            <a:ext cx="3364992" cy="3904488"/>
          </a:xfrm>
          <a:prstGeom prst="rect">
            <a:avLst/>
          </a:prstGeom>
          <a:solidFill>
            <a:srgbClr val="F3F4F6"/>
          </a:solidFill>
          <a:ln/>
        </p:spPr>
      </p:sp>
      <p:sp>
        <p:nvSpPr>
          <p:cNvPr id="11" name="Shape 5"/>
          <p:cNvSpPr/>
          <p:nvPr/>
        </p:nvSpPr>
        <p:spPr>
          <a:xfrm>
            <a:off x="8275320" y="1645920"/>
            <a:ext cx="3364992" cy="0"/>
          </a:xfrm>
          <a:prstGeom prst="line">
            <a:avLst/>
          </a:prstGeom>
          <a:noFill/>
          <a:ln w="38100">
            <a:solidFill>
              <a:srgbClr val="B3202A"/>
            </a:solidFill>
            <a:prstDash val="solid"/>
          </a:ln>
        </p:spPr>
      </p:sp>
      <p:sp>
        <p:nvSpPr>
          <p:cNvPr id="12" name="takeaway"/>
          <p:cNvSpPr/>
          <p:nvPr>
            <p:ph idx="110" type="body" hasCustomPrompt="1"/>
          </p:nvPr>
        </p:nvSpPr>
        <p:spPr>
          <a:xfrm>
            <a:off x="8412480" y="1783080"/>
            <a:ext cx="3108960" cy="3657600"/>
          </a:xfrm>
          <a:prstGeom prst="rect">
            <a:avLst/>
          </a:prstGeom>
          <a:noFill/>
          <a:ln/>
        </p:spPr>
        <p:txBody>
          <a:bodyPr wrap="square" rtlCol="0"/>
          <a:lstStyle>
            <a:lvl1pPr algn="l" indent="0" marL="0">
              <a:buNone/>
              <a:defRPr lang="en-US" sz="1200" dirty="0">
                <a:solidFill>
                  <a:srgbClr val="111827"/>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3" name="source"/>
          <p:cNvSpPr/>
          <p:nvPr>
            <p:ph idx="111"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280"/>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hart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left_label"/>
          <p:cNvSpPr/>
          <p:nvPr>
            <p:ph idx="106" type="body" hasCustomPrompt="1"/>
          </p:nvPr>
        </p:nvSpPr>
        <p:spPr>
          <a:xfrm>
            <a:off x="548640" y="1645920"/>
            <a:ext cx="548640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9" name="left_chart"/>
          <p:cNvSpPr/>
          <p:nvPr>
            <p:ph idx="107" type="chart" hasCustomPrompt="1"/>
          </p:nvPr>
        </p:nvSpPr>
        <p:spPr>
          <a:xfrm>
            <a:off x="457200" y="1938528"/>
            <a:ext cx="5623560" cy="36118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0" name="right_label"/>
          <p:cNvSpPr/>
          <p:nvPr>
            <p:ph idx="108" type="body" hasCustomPrompt="1"/>
          </p:nvPr>
        </p:nvSpPr>
        <p:spPr>
          <a:xfrm>
            <a:off x="6355080" y="1645920"/>
            <a:ext cx="530352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1" name="right_chart"/>
          <p:cNvSpPr/>
          <p:nvPr>
            <p:ph idx="109" type="chart" hasCustomPrompt="1"/>
          </p:nvPr>
        </p:nvSpPr>
        <p:spPr>
          <a:xfrm>
            <a:off x="6263640" y="1938528"/>
            <a:ext cx="5376672" cy="36118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2" name="source"/>
          <p:cNvSpPr/>
          <p:nvPr>
            <p:ph idx="110"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280"/>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rt + tab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chart_label"/>
          <p:cNvSpPr/>
          <p:nvPr>
            <p:ph idx="106" type="body" hasCustomPrompt="1"/>
          </p:nvPr>
        </p:nvSpPr>
        <p:spPr>
          <a:xfrm>
            <a:off x="548640" y="1645920"/>
            <a:ext cx="667512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9" name="chart"/>
          <p:cNvSpPr/>
          <p:nvPr>
            <p:ph idx="107" type="chart" hasCustomPrompt="1"/>
          </p:nvPr>
        </p:nvSpPr>
        <p:spPr>
          <a:xfrm>
            <a:off x="457200" y="1938528"/>
            <a:ext cx="6766560" cy="361188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0" name="table_label"/>
          <p:cNvSpPr/>
          <p:nvPr>
            <p:ph idx="108" type="body" hasCustomPrompt="1"/>
          </p:nvPr>
        </p:nvSpPr>
        <p:spPr>
          <a:xfrm>
            <a:off x="7498080" y="1645920"/>
            <a:ext cx="4114800" cy="292608"/>
          </a:xfrm>
          <a:prstGeom prst="rect">
            <a:avLst/>
          </a:prstGeom>
          <a:noFill/>
          <a:ln/>
        </p:spPr>
        <p:txBody>
          <a:bodyPr wrap="square" rtlCol="0"/>
          <a:lstStyle>
            <a:lvl1pPr algn="l" indent="0" marL="0">
              <a:buNone/>
              <a:defRPr lang="en-US" sz="1000" b="1" spc="200" kern="0" dirty="0">
                <a:solidFill>
                  <a:srgbClr val="6B7280"/>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1" name="table"/>
          <p:cNvSpPr/>
          <p:nvPr>
            <p:ph idx="109" type="body" hasCustomPrompt="1"/>
          </p:nvPr>
        </p:nvSpPr>
        <p:spPr>
          <a:xfrm>
            <a:off x="7498080" y="1938528"/>
            <a:ext cx="4142232" cy="2743200"/>
          </a:xfrm>
          <a:prstGeom prst="rect">
            <a:avLst/>
          </a:prstGeom>
          <a:noFill/>
          <a:ln/>
        </p:spPr>
        <p:txBody>
          <a:bodyPr wrap="square" rtlCol="0"/>
          <a:lstStyle>
            <a:lvl1pPr algn="l" indent="0" marL="0">
              <a:buNone/>
              <a:defRPr lang="en-US" sz="1300" dirty="0">
                <a:solidFill>
                  <a:srgbClr val="111827"/>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2" name="source"/>
          <p:cNvSpPr/>
          <p:nvPr>
            <p:ph idx="110"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280"/>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umbered pillar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Text 4"/>
          <p:cNvSpPr/>
          <p:nvPr/>
        </p:nvSpPr>
        <p:spPr>
          <a:xfrm>
            <a:off x="548640" y="1600200"/>
            <a:ext cx="1828800" cy="868680"/>
          </a:xfrm>
          <a:prstGeom prst="rect">
            <a:avLst/>
          </a:prstGeom>
          <a:noFill/>
          <a:ln/>
        </p:spPr>
        <p:txBody>
          <a:bodyPr wrap="square" lIns="0" tIns="0" rIns="0" bIns="0" rtlCol="0" anchor="b"/>
          <a:lstStyle/>
          <a:p>
            <a:pPr indent="0" marL="0">
              <a:buNone/>
            </a:pPr>
            <a:r>
              <a:rPr lang="en-US" sz="4800" b="1" dirty="0">
                <a:solidFill>
                  <a:srgbClr val="B3202A"/>
                </a:solidFill>
                <a:latin typeface="Calibri" pitchFamily="34" charset="0"/>
                <a:ea typeface="Calibri" pitchFamily="34" charset="-122"/>
                <a:cs typeface="Calibri" pitchFamily="34" charset="-120"/>
              </a:rPr>
              <a:t>01</a:t>
            </a:r>
            <a:endParaRPr lang="en-US" sz="4800" dirty="0"/>
          </a:p>
        </p:txBody>
      </p:sp>
      <p:sp>
        <p:nvSpPr>
          <p:cNvPr id="9" name="Shape 5"/>
          <p:cNvSpPr/>
          <p:nvPr/>
        </p:nvSpPr>
        <p:spPr>
          <a:xfrm>
            <a:off x="548640" y="2560320"/>
            <a:ext cx="3520440" cy="0"/>
          </a:xfrm>
          <a:prstGeom prst="line">
            <a:avLst/>
          </a:prstGeom>
          <a:noFill/>
          <a:ln w="12700">
            <a:solidFill>
              <a:srgbClr val="E5E7EB"/>
            </a:solidFill>
            <a:prstDash val="solid"/>
          </a:ln>
        </p:spPr>
      </p:sp>
      <p:sp>
        <p:nvSpPr>
          <p:cNvPr id="10" name="pillar1_head"/>
          <p:cNvSpPr/>
          <p:nvPr>
            <p:ph idx="108" type="body" hasCustomPrompt="1"/>
          </p:nvPr>
        </p:nvSpPr>
        <p:spPr>
          <a:xfrm>
            <a:off x="548640" y="2697480"/>
            <a:ext cx="3520440" cy="731520"/>
          </a:xfrm>
          <a:prstGeom prst="rect">
            <a:avLst/>
          </a:prstGeom>
          <a:noFill/>
          <a:ln/>
        </p:spPr>
        <p:txBody>
          <a:bodyPr wrap="square" rtlCol="0"/>
          <a:lstStyle>
            <a:lvl1pPr algn="l" indent="0" marL="0">
              <a:buNone/>
              <a:defRPr lang="en-US" sz="17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700" dirty="0"/>
          </a:p>
        </p:txBody>
      </p:sp>
      <p:sp>
        <p:nvSpPr>
          <p:cNvPr id="11" name="pillar1_body"/>
          <p:cNvSpPr/>
          <p:nvPr>
            <p:ph idx="109" type="body" hasCustomPrompt="1"/>
          </p:nvPr>
        </p:nvSpPr>
        <p:spPr>
          <a:xfrm>
            <a:off x="548640" y="3474720"/>
            <a:ext cx="3520440" cy="2011680"/>
          </a:xfrm>
          <a:prstGeom prst="rect">
            <a:avLst/>
          </a:prstGeom>
          <a:noFill/>
          <a:ln/>
        </p:spPr>
        <p:txBody>
          <a:bodyPr wrap="square" rtlCol="0"/>
          <a:lstStyle>
            <a:lvl1pPr algn="l" indent="0" marL="0">
              <a:buNone/>
              <a:defRPr lang="en-US" sz="1200" dirty="0">
                <a:solidFill>
                  <a:srgbClr val="111827"/>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2" name="Text 6"/>
          <p:cNvSpPr/>
          <p:nvPr/>
        </p:nvSpPr>
        <p:spPr>
          <a:xfrm>
            <a:off x="4279392" y="1600200"/>
            <a:ext cx="1828800" cy="868680"/>
          </a:xfrm>
          <a:prstGeom prst="rect">
            <a:avLst/>
          </a:prstGeom>
          <a:noFill/>
          <a:ln/>
        </p:spPr>
        <p:txBody>
          <a:bodyPr wrap="square" lIns="0" tIns="0" rIns="0" bIns="0" rtlCol="0" anchor="b"/>
          <a:lstStyle/>
          <a:p>
            <a:pPr indent="0" marL="0">
              <a:buNone/>
            </a:pPr>
            <a:r>
              <a:rPr lang="en-US" sz="4800" b="1" dirty="0">
                <a:solidFill>
                  <a:srgbClr val="B3202A"/>
                </a:solidFill>
                <a:latin typeface="Calibri" pitchFamily="34" charset="0"/>
                <a:ea typeface="Calibri" pitchFamily="34" charset="-122"/>
                <a:cs typeface="Calibri" pitchFamily="34" charset="-120"/>
              </a:rPr>
              <a:t>02</a:t>
            </a:r>
            <a:endParaRPr lang="en-US" sz="4800" dirty="0"/>
          </a:p>
        </p:txBody>
      </p:sp>
      <p:sp>
        <p:nvSpPr>
          <p:cNvPr id="13" name="Shape 7"/>
          <p:cNvSpPr/>
          <p:nvPr/>
        </p:nvSpPr>
        <p:spPr>
          <a:xfrm>
            <a:off x="4279392" y="2560320"/>
            <a:ext cx="3520440" cy="0"/>
          </a:xfrm>
          <a:prstGeom prst="line">
            <a:avLst/>
          </a:prstGeom>
          <a:noFill/>
          <a:ln w="12700">
            <a:solidFill>
              <a:srgbClr val="E5E7EB"/>
            </a:solidFill>
            <a:prstDash val="solid"/>
          </a:ln>
        </p:spPr>
      </p:sp>
      <p:sp>
        <p:nvSpPr>
          <p:cNvPr id="14" name="pillar2_head"/>
          <p:cNvSpPr/>
          <p:nvPr>
            <p:ph idx="112" type="body" hasCustomPrompt="1"/>
          </p:nvPr>
        </p:nvSpPr>
        <p:spPr>
          <a:xfrm>
            <a:off x="4279392" y="2697480"/>
            <a:ext cx="3520440" cy="731520"/>
          </a:xfrm>
          <a:prstGeom prst="rect">
            <a:avLst/>
          </a:prstGeom>
          <a:noFill/>
          <a:ln/>
        </p:spPr>
        <p:txBody>
          <a:bodyPr wrap="square" rtlCol="0"/>
          <a:lstStyle>
            <a:lvl1pPr algn="l" indent="0" marL="0">
              <a:buNone/>
              <a:defRPr lang="en-US" sz="17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700" dirty="0"/>
          </a:p>
        </p:txBody>
      </p:sp>
      <p:sp>
        <p:nvSpPr>
          <p:cNvPr id="15" name="pillar2_body"/>
          <p:cNvSpPr/>
          <p:nvPr>
            <p:ph idx="113" type="body" hasCustomPrompt="1"/>
          </p:nvPr>
        </p:nvSpPr>
        <p:spPr>
          <a:xfrm>
            <a:off x="4279392" y="3474720"/>
            <a:ext cx="3520440" cy="2011680"/>
          </a:xfrm>
          <a:prstGeom prst="rect">
            <a:avLst/>
          </a:prstGeom>
          <a:noFill/>
          <a:ln/>
        </p:spPr>
        <p:txBody>
          <a:bodyPr wrap="square" rtlCol="0"/>
          <a:lstStyle>
            <a:lvl1pPr algn="l" indent="0" marL="0">
              <a:buNone/>
              <a:defRPr lang="en-US" sz="1200" dirty="0">
                <a:solidFill>
                  <a:srgbClr val="111827"/>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6" name="Text 8"/>
          <p:cNvSpPr/>
          <p:nvPr/>
        </p:nvSpPr>
        <p:spPr>
          <a:xfrm>
            <a:off x="8010144" y="1600200"/>
            <a:ext cx="1828800" cy="868680"/>
          </a:xfrm>
          <a:prstGeom prst="rect">
            <a:avLst/>
          </a:prstGeom>
          <a:noFill/>
          <a:ln/>
        </p:spPr>
        <p:txBody>
          <a:bodyPr wrap="square" lIns="0" tIns="0" rIns="0" bIns="0" rtlCol="0" anchor="b"/>
          <a:lstStyle/>
          <a:p>
            <a:pPr indent="0" marL="0">
              <a:buNone/>
            </a:pPr>
            <a:r>
              <a:rPr lang="en-US" sz="4800" b="1" dirty="0">
                <a:solidFill>
                  <a:srgbClr val="B3202A"/>
                </a:solidFill>
                <a:latin typeface="Calibri" pitchFamily="34" charset="0"/>
                <a:ea typeface="Calibri" pitchFamily="34" charset="-122"/>
                <a:cs typeface="Calibri" pitchFamily="34" charset="-120"/>
              </a:rPr>
              <a:t>03</a:t>
            </a:r>
            <a:endParaRPr lang="en-US" sz="4800" dirty="0"/>
          </a:p>
        </p:txBody>
      </p:sp>
      <p:sp>
        <p:nvSpPr>
          <p:cNvPr id="17" name="Shape 9"/>
          <p:cNvSpPr/>
          <p:nvPr/>
        </p:nvSpPr>
        <p:spPr>
          <a:xfrm>
            <a:off x="8010144" y="2560320"/>
            <a:ext cx="3520440" cy="0"/>
          </a:xfrm>
          <a:prstGeom prst="line">
            <a:avLst/>
          </a:prstGeom>
          <a:noFill/>
          <a:ln w="12700">
            <a:solidFill>
              <a:srgbClr val="E5E7EB"/>
            </a:solidFill>
            <a:prstDash val="solid"/>
          </a:ln>
        </p:spPr>
      </p:sp>
      <p:sp>
        <p:nvSpPr>
          <p:cNvPr id="18" name="pillar3_head"/>
          <p:cNvSpPr/>
          <p:nvPr>
            <p:ph idx="116" type="body" hasCustomPrompt="1"/>
          </p:nvPr>
        </p:nvSpPr>
        <p:spPr>
          <a:xfrm>
            <a:off x="8010144" y="2697480"/>
            <a:ext cx="3520440" cy="731520"/>
          </a:xfrm>
          <a:prstGeom prst="rect">
            <a:avLst/>
          </a:prstGeom>
          <a:noFill/>
          <a:ln/>
        </p:spPr>
        <p:txBody>
          <a:bodyPr wrap="square" rtlCol="0"/>
          <a:lstStyle>
            <a:lvl1pPr algn="l" indent="0" marL="0">
              <a:buNone/>
              <a:defRPr lang="en-US" sz="17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700" dirty="0"/>
          </a:p>
        </p:txBody>
      </p:sp>
      <p:sp>
        <p:nvSpPr>
          <p:cNvPr id="19" name="pillar3_body"/>
          <p:cNvSpPr/>
          <p:nvPr>
            <p:ph idx="117" type="body" hasCustomPrompt="1"/>
          </p:nvPr>
        </p:nvSpPr>
        <p:spPr>
          <a:xfrm>
            <a:off x="8010144" y="3474720"/>
            <a:ext cx="3520440" cy="2011680"/>
          </a:xfrm>
          <a:prstGeom prst="rect">
            <a:avLst/>
          </a:prstGeom>
          <a:noFill/>
          <a:ln/>
        </p:spPr>
        <p:txBody>
          <a:bodyPr wrap="square" rtlCol="0"/>
          <a:lstStyle>
            <a:lvl1pPr algn="l" indent="0" marL="0">
              <a:buNone/>
              <a:defRPr lang="en-US" sz="1200" dirty="0">
                <a:solidFill>
                  <a:srgbClr val="111827"/>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step1_when"/>
          <p:cNvSpPr/>
          <p:nvPr>
            <p:ph idx="106" type="body" hasCustomPrompt="1"/>
          </p:nvPr>
        </p:nvSpPr>
        <p:spPr>
          <a:xfrm>
            <a:off x="548640" y="2194560"/>
            <a:ext cx="2103120" cy="320040"/>
          </a:xfrm>
          <a:prstGeom prst="rect">
            <a:avLst/>
          </a:prstGeom>
          <a:noFill/>
          <a:ln/>
        </p:spPr>
        <p:txBody>
          <a:bodyPr wrap="square" rtlCol="0"/>
          <a:lstStyle>
            <a:lvl1pPr algn="l" indent="0" marL="0">
              <a:buNone/>
              <a:defRPr lang="en-US" sz="1100" b="1" spc="2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9" name="step1_head"/>
          <p:cNvSpPr/>
          <p:nvPr>
            <p:ph idx="107" type="body" hasCustomPrompt="1"/>
          </p:nvPr>
        </p:nvSpPr>
        <p:spPr>
          <a:xfrm>
            <a:off x="548640" y="3017520"/>
            <a:ext cx="2103120" cy="548640"/>
          </a:xfrm>
          <a:prstGeom prst="rect">
            <a:avLst/>
          </a:prstGeom>
          <a:noFill/>
          <a:ln/>
        </p:spPr>
        <p:txBody>
          <a:bodyPr wrap="square" rtlCol="0"/>
          <a:lstStyle>
            <a:lvl1pPr algn="l" indent="0" marL="0">
              <a:buNone/>
              <a:defRPr lang="en-US" sz="15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10" name="step1_body"/>
          <p:cNvSpPr/>
          <p:nvPr>
            <p:ph idx="108" type="body" hasCustomPrompt="1"/>
          </p:nvPr>
        </p:nvSpPr>
        <p:spPr>
          <a:xfrm>
            <a:off x="548640" y="3657600"/>
            <a:ext cx="2103120" cy="1828800"/>
          </a:xfrm>
          <a:prstGeom prst="rect">
            <a:avLst/>
          </a:prstGeom>
          <a:noFill/>
          <a:ln/>
        </p:spPr>
        <p:txBody>
          <a:bodyPr wrap="square" rtlCol="0"/>
          <a:lstStyle>
            <a:lvl1pPr algn="l" indent="0" marL="0">
              <a:buNone/>
              <a:defRPr lang="en-US" sz="1100" dirty="0">
                <a:solidFill>
                  <a:srgbClr val="111827"/>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1" name="step2_when"/>
          <p:cNvSpPr/>
          <p:nvPr>
            <p:ph idx="109" type="body" hasCustomPrompt="1"/>
          </p:nvPr>
        </p:nvSpPr>
        <p:spPr>
          <a:xfrm>
            <a:off x="2788920" y="2194560"/>
            <a:ext cx="2103120" cy="320040"/>
          </a:xfrm>
          <a:prstGeom prst="rect">
            <a:avLst/>
          </a:prstGeom>
          <a:noFill/>
          <a:ln/>
        </p:spPr>
        <p:txBody>
          <a:bodyPr wrap="square" rtlCol="0"/>
          <a:lstStyle>
            <a:lvl1pPr algn="l" indent="0" marL="0">
              <a:buNone/>
              <a:defRPr lang="en-US" sz="1100" b="1" spc="2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2" name="step2_head"/>
          <p:cNvSpPr/>
          <p:nvPr>
            <p:ph idx="110" type="body" hasCustomPrompt="1"/>
          </p:nvPr>
        </p:nvSpPr>
        <p:spPr>
          <a:xfrm>
            <a:off x="2788920" y="3017520"/>
            <a:ext cx="2103120" cy="548640"/>
          </a:xfrm>
          <a:prstGeom prst="rect">
            <a:avLst/>
          </a:prstGeom>
          <a:noFill/>
          <a:ln/>
        </p:spPr>
        <p:txBody>
          <a:bodyPr wrap="square" rtlCol="0"/>
          <a:lstStyle>
            <a:lvl1pPr algn="l" indent="0" marL="0">
              <a:buNone/>
              <a:defRPr lang="en-US" sz="15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13" name="step2_body"/>
          <p:cNvSpPr/>
          <p:nvPr>
            <p:ph idx="111" type="body" hasCustomPrompt="1"/>
          </p:nvPr>
        </p:nvSpPr>
        <p:spPr>
          <a:xfrm>
            <a:off x="2788920" y="3657600"/>
            <a:ext cx="2103120" cy="1828800"/>
          </a:xfrm>
          <a:prstGeom prst="rect">
            <a:avLst/>
          </a:prstGeom>
          <a:noFill/>
          <a:ln/>
        </p:spPr>
        <p:txBody>
          <a:bodyPr wrap="square" rtlCol="0"/>
          <a:lstStyle>
            <a:lvl1pPr algn="l" indent="0" marL="0">
              <a:buNone/>
              <a:defRPr lang="en-US" sz="1100" dirty="0">
                <a:solidFill>
                  <a:srgbClr val="111827"/>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4" name="step3_when"/>
          <p:cNvSpPr/>
          <p:nvPr>
            <p:ph idx="112" type="body" hasCustomPrompt="1"/>
          </p:nvPr>
        </p:nvSpPr>
        <p:spPr>
          <a:xfrm>
            <a:off x="5029200" y="2194560"/>
            <a:ext cx="2103120" cy="320040"/>
          </a:xfrm>
          <a:prstGeom prst="rect">
            <a:avLst/>
          </a:prstGeom>
          <a:noFill/>
          <a:ln/>
        </p:spPr>
        <p:txBody>
          <a:bodyPr wrap="square" rtlCol="0"/>
          <a:lstStyle>
            <a:lvl1pPr algn="l" indent="0" marL="0">
              <a:buNone/>
              <a:defRPr lang="en-US" sz="1100" b="1" spc="2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5" name="step3_head"/>
          <p:cNvSpPr/>
          <p:nvPr>
            <p:ph idx="113" type="body" hasCustomPrompt="1"/>
          </p:nvPr>
        </p:nvSpPr>
        <p:spPr>
          <a:xfrm>
            <a:off x="5029200" y="3017520"/>
            <a:ext cx="2103120" cy="548640"/>
          </a:xfrm>
          <a:prstGeom prst="rect">
            <a:avLst/>
          </a:prstGeom>
          <a:noFill/>
          <a:ln/>
        </p:spPr>
        <p:txBody>
          <a:bodyPr wrap="square" rtlCol="0"/>
          <a:lstStyle>
            <a:lvl1pPr algn="l" indent="0" marL="0">
              <a:buNone/>
              <a:defRPr lang="en-US" sz="15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16" name="step3_body"/>
          <p:cNvSpPr/>
          <p:nvPr>
            <p:ph idx="114" type="body" hasCustomPrompt="1"/>
          </p:nvPr>
        </p:nvSpPr>
        <p:spPr>
          <a:xfrm>
            <a:off x="5029200" y="3657600"/>
            <a:ext cx="2103120" cy="1828800"/>
          </a:xfrm>
          <a:prstGeom prst="rect">
            <a:avLst/>
          </a:prstGeom>
          <a:noFill/>
          <a:ln/>
        </p:spPr>
        <p:txBody>
          <a:bodyPr wrap="square" rtlCol="0"/>
          <a:lstStyle>
            <a:lvl1pPr algn="l" indent="0" marL="0">
              <a:buNone/>
              <a:defRPr lang="en-US" sz="1100" dirty="0">
                <a:solidFill>
                  <a:srgbClr val="111827"/>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7" name="step4_when"/>
          <p:cNvSpPr/>
          <p:nvPr>
            <p:ph idx="115" type="body" hasCustomPrompt="1"/>
          </p:nvPr>
        </p:nvSpPr>
        <p:spPr>
          <a:xfrm>
            <a:off x="7269480" y="2194560"/>
            <a:ext cx="2103120" cy="320040"/>
          </a:xfrm>
          <a:prstGeom prst="rect">
            <a:avLst/>
          </a:prstGeom>
          <a:noFill/>
          <a:ln/>
        </p:spPr>
        <p:txBody>
          <a:bodyPr wrap="square" rtlCol="0"/>
          <a:lstStyle>
            <a:lvl1pPr algn="l" indent="0" marL="0">
              <a:buNone/>
              <a:defRPr lang="en-US" sz="1100" b="1" spc="2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8" name="step4_head"/>
          <p:cNvSpPr/>
          <p:nvPr>
            <p:ph idx="116" type="body" hasCustomPrompt="1"/>
          </p:nvPr>
        </p:nvSpPr>
        <p:spPr>
          <a:xfrm>
            <a:off x="7269480" y="3017520"/>
            <a:ext cx="2103120" cy="548640"/>
          </a:xfrm>
          <a:prstGeom prst="rect">
            <a:avLst/>
          </a:prstGeom>
          <a:noFill/>
          <a:ln/>
        </p:spPr>
        <p:txBody>
          <a:bodyPr wrap="square" rtlCol="0"/>
          <a:lstStyle>
            <a:lvl1pPr algn="l" indent="0" marL="0">
              <a:buNone/>
              <a:defRPr lang="en-US" sz="15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19" name="step4_body"/>
          <p:cNvSpPr/>
          <p:nvPr>
            <p:ph idx="117" type="body" hasCustomPrompt="1"/>
          </p:nvPr>
        </p:nvSpPr>
        <p:spPr>
          <a:xfrm>
            <a:off x="7269480" y="3657600"/>
            <a:ext cx="2103120" cy="1828800"/>
          </a:xfrm>
          <a:prstGeom prst="rect">
            <a:avLst/>
          </a:prstGeom>
          <a:noFill/>
          <a:ln/>
        </p:spPr>
        <p:txBody>
          <a:bodyPr wrap="square" rtlCol="0"/>
          <a:lstStyle>
            <a:lvl1pPr algn="l" indent="0" marL="0">
              <a:buNone/>
              <a:defRPr lang="en-US" sz="1100" dirty="0">
                <a:solidFill>
                  <a:srgbClr val="111827"/>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20" name="step5_when"/>
          <p:cNvSpPr/>
          <p:nvPr>
            <p:ph idx="118" type="body" hasCustomPrompt="1"/>
          </p:nvPr>
        </p:nvSpPr>
        <p:spPr>
          <a:xfrm>
            <a:off x="9509760" y="2194560"/>
            <a:ext cx="2103120" cy="320040"/>
          </a:xfrm>
          <a:prstGeom prst="rect">
            <a:avLst/>
          </a:prstGeom>
          <a:noFill/>
          <a:ln/>
        </p:spPr>
        <p:txBody>
          <a:bodyPr wrap="square" rtlCol="0"/>
          <a:lstStyle>
            <a:lvl1pPr algn="l" indent="0" marL="0">
              <a:buNone/>
              <a:defRPr lang="en-US" sz="1100" b="1" spc="2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21" name="step5_head"/>
          <p:cNvSpPr/>
          <p:nvPr>
            <p:ph idx="119" type="body" hasCustomPrompt="1"/>
          </p:nvPr>
        </p:nvSpPr>
        <p:spPr>
          <a:xfrm>
            <a:off x="9509760" y="3017520"/>
            <a:ext cx="2103120" cy="548640"/>
          </a:xfrm>
          <a:prstGeom prst="rect">
            <a:avLst/>
          </a:prstGeom>
          <a:noFill/>
          <a:ln/>
        </p:spPr>
        <p:txBody>
          <a:bodyPr wrap="square" rtlCol="0"/>
          <a:lstStyle>
            <a:lvl1pPr algn="l" indent="0" marL="0">
              <a:buNone/>
              <a:defRPr lang="en-US" sz="15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22" name="step5_body"/>
          <p:cNvSpPr/>
          <p:nvPr>
            <p:ph idx="120" type="body" hasCustomPrompt="1"/>
          </p:nvPr>
        </p:nvSpPr>
        <p:spPr>
          <a:xfrm>
            <a:off x="9509760" y="3657600"/>
            <a:ext cx="2103120" cy="1828800"/>
          </a:xfrm>
          <a:prstGeom prst="rect">
            <a:avLst/>
          </a:prstGeom>
          <a:noFill/>
          <a:ln/>
        </p:spPr>
        <p:txBody>
          <a:bodyPr wrap="square" rtlCol="0"/>
          <a:lstStyle>
            <a:lvl1pPr algn="l" indent="0" marL="0">
              <a:buNone/>
              <a:defRPr lang="en-US" sz="1100" dirty="0">
                <a:solidFill>
                  <a:srgbClr val="111827"/>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ignal card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Shape 4"/>
          <p:cNvSpPr/>
          <p:nvPr/>
        </p:nvSpPr>
        <p:spPr>
          <a:xfrm>
            <a:off x="548640" y="1645920"/>
            <a:ext cx="3611880" cy="1783080"/>
          </a:xfrm>
          <a:prstGeom prst="rect">
            <a:avLst/>
          </a:prstGeom>
          <a:solidFill>
            <a:srgbClr val="FFFFFF"/>
          </a:solidFill>
          <a:ln w="9525">
            <a:solidFill>
              <a:srgbClr val="E5E7EB"/>
            </a:solidFill>
            <a:prstDash val="solid"/>
          </a:ln>
        </p:spPr>
      </p:sp>
      <p:sp>
        <p:nvSpPr>
          <p:cNvPr id="9" name="card1"/>
          <p:cNvSpPr/>
          <p:nvPr>
            <p:ph idx="107" type="body" hasCustomPrompt="1"/>
          </p:nvPr>
        </p:nvSpPr>
        <p:spPr>
          <a:xfrm>
            <a:off x="676656" y="1737360"/>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0" name="Shape 5"/>
          <p:cNvSpPr/>
          <p:nvPr/>
        </p:nvSpPr>
        <p:spPr>
          <a:xfrm>
            <a:off x="4279392" y="1645920"/>
            <a:ext cx="3611880" cy="1783080"/>
          </a:xfrm>
          <a:prstGeom prst="rect">
            <a:avLst/>
          </a:prstGeom>
          <a:solidFill>
            <a:srgbClr val="FFFFFF"/>
          </a:solidFill>
          <a:ln w="9525">
            <a:solidFill>
              <a:srgbClr val="E5E7EB"/>
            </a:solidFill>
            <a:prstDash val="solid"/>
          </a:ln>
        </p:spPr>
      </p:sp>
      <p:sp>
        <p:nvSpPr>
          <p:cNvPr id="11" name="card2"/>
          <p:cNvSpPr/>
          <p:nvPr>
            <p:ph idx="109" type="body" hasCustomPrompt="1"/>
          </p:nvPr>
        </p:nvSpPr>
        <p:spPr>
          <a:xfrm>
            <a:off x="4407408" y="1737360"/>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2" name="Shape 6"/>
          <p:cNvSpPr/>
          <p:nvPr/>
        </p:nvSpPr>
        <p:spPr>
          <a:xfrm>
            <a:off x="8010144" y="1645920"/>
            <a:ext cx="3611880" cy="1783080"/>
          </a:xfrm>
          <a:prstGeom prst="rect">
            <a:avLst/>
          </a:prstGeom>
          <a:solidFill>
            <a:srgbClr val="FFFFFF"/>
          </a:solidFill>
          <a:ln w="9525">
            <a:solidFill>
              <a:srgbClr val="E5E7EB"/>
            </a:solidFill>
            <a:prstDash val="solid"/>
          </a:ln>
        </p:spPr>
      </p:sp>
      <p:sp>
        <p:nvSpPr>
          <p:cNvPr id="13" name="card3"/>
          <p:cNvSpPr/>
          <p:nvPr>
            <p:ph idx="111" type="body" hasCustomPrompt="1"/>
          </p:nvPr>
        </p:nvSpPr>
        <p:spPr>
          <a:xfrm>
            <a:off x="8138160" y="1737360"/>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4" name="Shape 7"/>
          <p:cNvSpPr/>
          <p:nvPr/>
        </p:nvSpPr>
        <p:spPr>
          <a:xfrm>
            <a:off x="548640" y="3547872"/>
            <a:ext cx="3611880" cy="1783080"/>
          </a:xfrm>
          <a:prstGeom prst="rect">
            <a:avLst/>
          </a:prstGeom>
          <a:solidFill>
            <a:srgbClr val="FFFFFF"/>
          </a:solidFill>
          <a:ln w="9525">
            <a:solidFill>
              <a:srgbClr val="E5E7EB"/>
            </a:solidFill>
            <a:prstDash val="solid"/>
          </a:ln>
        </p:spPr>
      </p:sp>
      <p:sp>
        <p:nvSpPr>
          <p:cNvPr id="15" name="card4"/>
          <p:cNvSpPr/>
          <p:nvPr>
            <p:ph idx="113" type="body" hasCustomPrompt="1"/>
          </p:nvPr>
        </p:nvSpPr>
        <p:spPr>
          <a:xfrm>
            <a:off x="676656" y="3639312"/>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6" name="Shape 8"/>
          <p:cNvSpPr/>
          <p:nvPr/>
        </p:nvSpPr>
        <p:spPr>
          <a:xfrm>
            <a:off x="4279392" y="3547872"/>
            <a:ext cx="3611880" cy="1783080"/>
          </a:xfrm>
          <a:prstGeom prst="rect">
            <a:avLst/>
          </a:prstGeom>
          <a:solidFill>
            <a:srgbClr val="FFFFFF"/>
          </a:solidFill>
          <a:ln w="9525">
            <a:solidFill>
              <a:srgbClr val="E5E7EB"/>
            </a:solidFill>
            <a:prstDash val="solid"/>
          </a:ln>
        </p:spPr>
      </p:sp>
      <p:sp>
        <p:nvSpPr>
          <p:cNvPr id="17" name="card5"/>
          <p:cNvSpPr/>
          <p:nvPr>
            <p:ph idx="115" type="body" hasCustomPrompt="1"/>
          </p:nvPr>
        </p:nvSpPr>
        <p:spPr>
          <a:xfrm>
            <a:off x="4407408" y="3639312"/>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8" name="Shape 9"/>
          <p:cNvSpPr/>
          <p:nvPr/>
        </p:nvSpPr>
        <p:spPr>
          <a:xfrm>
            <a:off x="8010144" y="3547872"/>
            <a:ext cx="3611880" cy="1783080"/>
          </a:xfrm>
          <a:prstGeom prst="rect">
            <a:avLst/>
          </a:prstGeom>
          <a:solidFill>
            <a:srgbClr val="FFFFFF"/>
          </a:solidFill>
          <a:ln w="9525">
            <a:solidFill>
              <a:srgbClr val="E5E7EB"/>
            </a:solidFill>
            <a:prstDash val="solid"/>
          </a:ln>
        </p:spPr>
      </p:sp>
      <p:sp>
        <p:nvSpPr>
          <p:cNvPr id="19" name="card6"/>
          <p:cNvSpPr/>
          <p:nvPr>
            <p:ph idx="117" type="body" hasCustomPrompt="1"/>
          </p:nvPr>
        </p:nvSpPr>
        <p:spPr>
          <a:xfrm>
            <a:off x="8138160" y="3639312"/>
            <a:ext cx="3383280" cy="164592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0" name="talk"/>
          <p:cNvSpPr/>
          <p:nvPr>
            <p:ph idx="118" type="body" hasCustomPrompt="1"/>
          </p:nvPr>
        </p:nvSpPr>
        <p:spPr>
          <a:xfrm>
            <a:off x="548640" y="5513832"/>
            <a:ext cx="11064240" cy="64008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ource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8" name="body"/>
          <p:cNvSpPr/>
          <p:nvPr>
            <p:ph idx="106" type="body" hasCustomPrompt="1"/>
          </p:nvPr>
        </p:nvSpPr>
        <p:spPr>
          <a:xfrm>
            <a:off x="548640" y="1645920"/>
            <a:ext cx="11064240" cy="4526280"/>
          </a:xfrm>
          <a:prstGeom prst="rect">
            <a:avLst/>
          </a:prstGeom>
          <a:noFill/>
          <a:ln/>
        </p:spPr>
        <p:txBody>
          <a:bodyPr wrap="square" rtlCol="0"/>
          <a:lstStyle>
            <a:lvl1pPr algn="l" indent="0" marL="0">
              <a:buNone/>
              <a:defRPr lang="en-US" sz="1000" dirty="0">
                <a:solidFill>
                  <a:srgbClr val="11182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3202A"/>
          </a:solidFill>
          <a:ln/>
        </p:spPr>
      </p:sp>
      <p:sp>
        <p:nvSpPr>
          <p:cNvPr id="3" name="Shape 1"/>
          <p:cNvSpPr/>
          <p:nvPr/>
        </p:nvSpPr>
        <p:spPr>
          <a:xfrm>
            <a:off x="548640" y="640080"/>
            <a:ext cx="548640" cy="0"/>
          </a:xfrm>
          <a:prstGeom prst="line">
            <a:avLst/>
          </a:prstGeom>
          <a:noFill/>
          <a:ln w="25400">
            <a:solidFill>
              <a:srgbClr val="B3202A"/>
            </a:solidFill>
            <a:prstDash val="solid"/>
          </a:ln>
        </p:spPr>
      </p:sp>
      <p:sp>
        <p:nvSpPr>
          <p:cNvPr id="4" name="eyebrow"/>
          <p:cNvSpPr/>
          <p:nvPr>
            <p:ph idx="102"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3202A"/>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itle"/>
          <p:cNvSpPr/>
          <p:nvPr>
            <p:ph idx="103" type="title" hasCustomPrompt="1"/>
          </p:nvPr>
        </p:nvSpPr>
        <p:spPr>
          <a:xfrm>
            <a:off x="548640" y="676656"/>
            <a:ext cx="11064240" cy="868680"/>
          </a:xfrm>
          <a:prstGeom prst="rect">
            <a:avLst/>
          </a:prstGeom>
          <a:noFill/>
          <a:ln/>
        </p:spPr>
        <p:txBody>
          <a:bodyPr wrap="square" rtlCol="0"/>
          <a:lstStyle>
            <a:lvl1pPr algn="l" indent="0" marL="0">
              <a:buNone/>
              <a:defRPr lang="en-US" sz="2400" b="1" dirty="0">
                <a:solidFill>
                  <a:srgbClr val="111827"/>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6" name="Shape 2"/>
          <p:cNvSpPr/>
          <p:nvPr/>
        </p:nvSpPr>
        <p:spPr>
          <a:xfrm>
            <a:off x="548640" y="6437376"/>
            <a:ext cx="11091672" cy="0"/>
          </a:xfrm>
          <a:prstGeom prst="line">
            <a:avLst/>
          </a:prstGeom>
          <a:noFill/>
          <a:ln w="6350">
            <a:solidFill>
              <a:srgbClr val="E5E7EB"/>
            </a:solidFill>
            <a:prstDash val="solid"/>
          </a:ln>
        </p:spPr>
      </p:sp>
      <p:sp>
        <p:nvSpPr>
          <p:cNvPr id="7" name="Text 3"/>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280"/>
                </a:solidFill>
                <a:latin typeface="Calibri" pitchFamily="34" charset="0"/>
                <a:ea typeface="Calibri" pitchFamily="34" charset="-122"/>
                <a:cs typeface="Calibri" pitchFamily="34" charset="-120"/>
              </a:rPr>
              <a:t>LONDON OFFICE AGENT  ·  TEAM BRIEF</a:t>
            </a: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1014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wrap="square"/>
          <a:lstStyle/>
          <a:p>
            <a:r>
              <a:rPr/>
              <a:t>LONDON OFFICE MARKET · 10 OCT 2026</a:t>
            </a:r>
          </a:p>
        </p:txBody>
      </p:sp>
      <p:sp>
        <p:nvSpPr>
          <p:cNvPr id="3" name="Title 2"/>
          <p:cNvSpPr>
            <a:spLocks noGrp="1"/>
          </p:cNvSpPr>
          <p:nvPr>
            <p:ph type="title" idx="101"/>
          </p:nvPr>
        </p:nvSpPr>
        <p:spPr/>
        <p:txBody>
          <a:bodyPr wrap="square"/>
          <a:lstStyle/>
          <a:p>
            <a:r>
              <a:rPr/>
              <a:t>IC section: vacancy fell to 8.0% while investment stays below trend</a:t>
            </a:r>
          </a:p>
        </p:txBody>
      </p:sp>
      <p:sp>
        <p:nvSpPr>
          <p:cNvPr id="4" name="Text Placeholder 3"/>
          <p:cNvSpPr>
            <a:spLocks noGrp="1"/>
          </p:cNvSpPr>
          <p:nvPr>
            <p:ph type="body" idx="102"/>
          </p:nvPr>
        </p:nvSpPr>
        <p:spPr/>
        <p:txBody>
          <a:bodyPr wrap="square"/>
          <a:lstStyle/>
          <a:p>
            <a:r>
              <a:rPr/>
              <a:t>Occupiers firm, capital markets quiet</a:t>
            </a:r>
          </a:p>
        </p:txBody>
      </p:sp>
      <p:sp>
        <p:nvSpPr>
          <p:cNvPr id="5" name="Text Placeholder 4"/>
          <p:cNvSpPr>
            <a:spLocks noGrp="1"/>
          </p:cNvSpPr>
          <p:nvPr>
            <p:ph type="body" idx="103"/>
          </p:nvPr>
        </p:nvSpPr>
        <p:spPr/>
        <p:txBody>
          <a:bodyPr wrap="square"/>
          <a:lstStyle/>
          <a:p>
            <a:r>
              <a:rPr/>
              <a:t>London office market · IC market section</a:t>
            </a:r>
          </a:p>
        </p:txBody>
      </p:sp>
      <p:sp>
        <p:nvSpPr>
          <p:cNvPr id="6" name="Text Placeholder 5"/>
          <p:cNvSpPr>
            <a:spLocks noGrp="1"/>
          </p:cNvSpPr>
          <p:nvPr>
            <p:ph type="body" idx="105"/>
          </p:nvPr>
        </p:nvSpPr>
        <p:spPr/>
        <p:txBody>
          <a:bodyPr wrap="square"/>
          <a:lstStyle/>
          <a:p>
            <a:r>
              <a:rPr sz="900" b="1">
                <a:solidFill>
                  <a:srgbClr val="C7CBD3"/>
                </a:solidFill>
              </a:rPr>
              <a:t>VACANCY RATE · Q2 2026</a:t>
            </a:r>
          </a:p>
          <a:p>
            <a:r>
              <a:rPr sz="3000" b="1">
                <a:solidFill>
                  <a:srgbClr val="FFFFFF"/>
                </a:solidFill>
                <a:latin typeface="Calibri"/>
              </a:rPr>
              <a:t>8.0%</a:t>
            </a:r>
            <a:r>
              <a:rPr sz="1000">
                <a:solidFill>
                  <a:srgbClr val="C7CBD3"/>
                </a:solidFill>
              </a:rPr>
              <a:t> [1]</a:t>
            </a:r>
          </a:p>
          <a:p>
            <a:r>
              <a:rPr sz="1000">
                <a:solidFill>
                  <a:srgbClr val="C7CBD3"/>
                </a:solidFill>
              </a:rPr>
              <a:t>−0.50pp vs Q1 2026</a:t>
            </a:r>
          </a:p>
        </p:txBody>
      </p:sp>
      <p:sp>
        <p:nvSpPr>
          <p:cNvPr id="7" name="Text Placeholder 6"/>
          <p:cNvSpPr>
            <a:spLocks noGrp="1"/>
          </p:cNvSpPr>
          <p:nvPr>
            <p:ph type="body" idx="107"/>
          </p:nvPr>
        </p:nvSpPr>
        <p:spPr/>
        <p:txBody>
          <a:bodyPr wrap="square"/>
          <a:lstStyle/>
          <a:p>
            <a:r>
              <a:rPr sz="900" b="1">
                <a:solidFill>
                  <a:srgbClr val="C7CBD3"/>
                </a:solidFill>
              </a:rPr>
              <a:t>TAKE-UP · Q2 2026</a:t>
            </a:r>
          </a:p>
          <a:p>
            <a:r>
              <a:rPr sz="3000" b="1">
                <a:solidFill>
                  <a:srgbClr val="FFFFFF"/>
                </a:solidFill>
                <a:latin typeface="Calibri"/>
              </a:rPr>
              <a:t>3.10m sq ft</a:t>
            </a:r>
            <a:r>
              <a:rPr sz="1000">
                <a:solidFill>
                  <a:srgbClr val="C7CBD3"/>
                </a:solidFill>
              </a:rPr>
              <a:t> [1]</a:t>
            </a:r>
          </a:p>
          <a:p>
            <a:r>
              <a:rPr sz="1000">
                <a:solidFill>
                  <a:srgbClr val="C7CBD3"/>
                </a:solidFill>
              </a:rPr>
              <a:t>+0.60 vs Q1 2026 · +11% vs LTA</a:t>
            </a:r>
          </a:p>
        </p:txBody>
      </p:sp>
      <p:sp>
        <p:nvSpPr>
          <p:cNvPr id="8" name="Text Placeholder 7"/>
          <p:cNvSpPr>
            <a:spLocks noGrp="1"/>
          </p:cNvSpPr>
          <p:nvPr>
            <p:ph type="body" idx="109"/>
          </p:nvPr>
        </p:nvSpPr>
        <p:spPr/>
        <p:txBody>
          <a:bodyPr wrap="square"/>
          <a:lstStyle/>
          <a:p>
            <a:r>
              <a:rPr sz="900" b="1">
                <a:solidFill>
                  <a:srgbClr val="C7CBD3"/>
                </a:solidFill>
              </a:rPr>
              <a:t>INVESTMENT VOLUME · Q2 2026</a:t>
            </a:r>
          </a:p>
          <a:p>
            <a:r>
              <a:rPr sz="3000" b="1">
                <a:solidFill>
                  <a:srgbClr val="FFFFFF"/>
                </a:solidFill>
                <a:latin typeface="Calibri"/>
              </a:rPr>
              <a:t>£2.00bn</a:t>
            </a:r>
            <a:r>
              <a:rPr sz="1000">
                <a:solidFill>
                  <a:srgbClr val="C7CBD3"/>
                </a:solidFill>
              </a:rPr>
              <a:t> [1]</a:t>
            </a:r>
          </a:p>
          <a:p>
            <a:r>
              <a:rPr sz="1000">
                <a:solidFill>
                  <a:srgbClr val="C7CBD3"/>
                </a:solidFill>
              </a:rPr>
              <a:t>+0.10 vs Q1 2026 · -36% vs LTA</a:t>
            </a:r>
          </a:p>
        </p:txBody>
      </p:sp>
      <p:sp>
        <p:nvSpPr>
          <p:cNvPr id="9" name="Text Placeholder 8"/>
          <p:cNvSpPr>
            <a:spLocks noGrp="1"/>
          </p:cNvSpPr>
          <p:nvPr>
            <p:ph type="body" idx="111"/>
          </p:nvPr>
        </p:nvSpPr>
        <p:spPr/>
        <p:txBody>
          <a:bodyPr wrap="square"/>
          <a:lstStyle/>
          <a:p>
            <a:r>
              <a:rPr sz="900" b="1">
                <a:solidFill>
                  <a:srgbClr val="C7CBD3"/>
                </a:solidFill>
              </a:rPr>
              <a:t>BANK RATE</a:t>
            </a:r>
          </a:p>
          <a:p>
            <a:r>
              <a:rPr sz="3000" b="1">
                <a:solidFill>
                  <a:srgbClr val="FFFFFF"/>
                </a:solidFill>
                <a:latin typeface="Calibri"/>
              </a:rPr>
              <a:t>3.75%</a:t>
            </a:r>
            <a:r>
              <a:rPr sz="1000">
                <a:solidFill>
                  <a:srgbClr val="C7CBD3"/>
                </a:solidFill>
              </a:rPr>
              <a:t> [2]</a:t>
            </a:r>
          </a:p>
          <a:p>
            <a:r>
              <a:rPr sz="1000">
                <a:solidFill>
                  <a:srgbClr val="C7CBD3"/>
                </a:solidFill>
              </a:rPr>
              <a:t>as of 2026-10-08</a:t>
            </a:r>
          </a:p>
        </p:txBody>
      </p:sp>
      <p:sp>
        <p:nvSpPr>
          <p:cNvPr id="10" name="Text Placeholder 9"/>
          <p:cNvSpPr>
            <a:spLocks noGrp="1"/>
          </p:cNvSpPr>
          <p:nvPr>
            <p:ph type="body" idx="112"/>
          </p:nvPr>
        </p:nvSpPr>
        <p:spPr/>
        <p:txBody>
          <a:bodyPr wrap="square"/>
          <a:lstStyle/>
          <a:p>
            <a:r>
              <a:rPr/>
              <a:t>Figures restated from public research for this proof of concept (Knight Frank terms bar AI use of their data); verify against the original before external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wrap="square"/>
          <a:lstStyle/>
          <a:p>
            <a:r>
              <a:rPr/>
              <a:t>02 · OCCUPIERS</a:t>
            </a:r>
          </a:p>
        </p:txBody>
      </p:sp>
      <p:sp>
        <p:nvSpPr>
          <p:cNvPr id="3" name="Title 2"/>
          <p:cNvSpPr>
            <a:spLocks noGrp="1"/>
          </p:cNvSpPr>
          <p:nvPr>
            <p:ph type="title" idx="103"/>
          </p:nvPr>
        </p:nvSpPr>
        <p:spPr/>
        <p:txBody>
          <a:bodyPr wrap="square"/>
          <a:lstStyle/>
          <a:p>
            <a:r>
              <a:rPr/>
              <a:t>Vacancy fell to 8.0%, the lowest since Q1 2024</a:t>
            </a:r>
          </a:p>
        </p:txBody>
      </p:sp>
      <p:sp>
        <p:nvSpPr>
          <p:cNvPr id="4" name="Text Placeholder 3"/>
          <p:cNvSpPr>
            <a:spLocks noGrp="1"/>
          </p:cNvSpPr>
          <p:nvPr>
            <p:ph type="body" idx="106"/>
          </p:nvPr>
        </p:nvSpPr>
        <p:spPr/>
        <p:txBody>
          <a:bodyPr wrap="square"/>
          <a:lstStyle/>
          <a:p>
            <a:r>
              <a:rPr/>
              <a:t>CENTRAL LONDON VACANCY RATE</a:t>
            </a:r>
          </a:p>
        </p:txBody>
      </p:sp>
      <p:graphicFrame>
        <p:nvGraphicFramePr>
          <p:cNvPr id="5" name="Chart Placeholder 4"/>
          <p:cNvGraphicFramePr>
            <a:graphicFrameLocks noGrp="1"/>
          </p:cNvGraphicFramePr>
          <p:nvPr>
            <p:ph type="chart" idx="107"/>
          </p:nvPr>
        </p:nvGraphicFramePr>
        <p:xfrm>
          <a:off x="457200" y="1938528"/>
          <a:ext cx="5623560" cy="3611880"/>
        </p:xfrm>
        <a:graphic>
          <a:graphicData uri="http://schemas.openxmlformats.org/drawingml/2006/chart">
            <c:chart xmlns:c="http://schemas.openxmlformats.org/drawingml/2006/chart" r:id="rId2"/>
          </a:graphicData>
        </a:graphic>
      </p:graphicFrame>
      <p:sp>
        <p:nvSpPr>
          <p:cNvPr id="6" name="Text Placeholder 5"/>
          <p:cNvSpPr>
            <a:spLocks noGrp="1"/>
          </p:cNvSpPr>
          <p:nvPr>
            <p:ph type="body" idx="108"/>
          </p:nvPr>
        </p:nvSpPr>
        <p:spPr/>
        <p:txBody>
          <a:bodyPr wrap="square"/>
          <a:lstStyle/>
          <a:p>
            <a:r>
              <a:rPr/>
              <a:t>TAKE-UP, M SQ FT · LONG-TERM AVERAGE 2.80</a:t>
            </a:r>
          </a:p>
        </p:txBody>
      </p:sp>
      <p:graphicFrame>
        <p:nvGraphicFramePr>
          <p:cNvPr id="7" name="Chart Placeholder 6"/>
          <p:cNvGraphicFramePr>
            <a:graphicFrameLocks noGrp="1"/>
          </p:cNvGraphicFramePr>
          <p:nvPr>
            <p:ph type="chart" idx="109"/>
          </p:nvPr>
        </p:nvGraphicFramePr>
        <p:xfrm>
          <a:off x="6263640" y="1938528"/>
          <a:ext cx="5376672" cy="3611880"/>
        </p:xfrm>
        <a:graphic>
          <a:graphicData uri="http://schemas.openxmlformats.org/drawingml/2006/chart">
            <c:chart xmlns:c="http://schemas.openxmlformats.org/drawingml/2006/chart" r:id="rId3"/>
          </a:graphicData>
        </a:graphic>
      </p:graphicFrame>
      <p:sp>
        <p:nvSpPr>
          <p:cNvPr id="8" name="Text Placeholder 7"/>
          <p:cNvSpPr>
            <a:spLocks noGrp="1"/>
          </p:cNvSpPr>
          <p:nvPr>
            <p:ph type="body" idx="110"/>
          </p:nvPr>
        </p:nvSpPr>
        <p:spPr/>
        <p:txBody>
          <a:bodyPr wrap="square"/>
          <a:lstStyle/>
          <a:p>
            <a:r>
              <a:rPr/>
              <a:t>Source [1]. Quarters with no figures in the library are not shown.</a:t>
            </a:r>
          </a:p>
        </p:txBody>
      </p:sp>
      <p:sp>
        <p:nvSpPr>
          <p:cNvPr id="9" name="Rectangle 8"/>
          <p:cNvSpPr/>
          <p:nvPr/>
        </p:nvSpPr>
        <p:spPr>
          <a:xfrm>
            <a:off x="548640" y="5641848"/>
            <a:ext cx="11091672"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3202A"/>
                </a:solidFill>
              </a:rPr>
              <a:t>SO WHAT    </a:t>
            </a:r>
            <a:r>
              <a:rPr sz="1200" i="1">
                <a:solidFill>
                  <a:srgbClr val="FFFFFF"/>
                </a:solidFill>
              </a:rPr>
              <a:t>Occupiers are absorbing space faster than it is released: vacancy fell 0.50pp on the quarter and take-up ran 11% above its long-term average, easing leasing risk for core assets.</a:t>
            </a:r>
          </a:p>
        </p:txBody>
      </p:sp>
      <p:sp>
        <p:nvSpPr>
          <p:cNvPr id="10" name="TextBox 9"/>
          <p:cNvSpPr txBox="1"/>
          <p:nvPr/>
        </p:nvSpPr>
        <p:spPr>
          <a:xfrm>
            <a:off x="10698480" y="6492240"/>
            <a:ext cx="941832" cy="228600"/>
          </a:xfrm>
          <a:prstGeom prst="rect">
            <a:avLst/>
          </a:prstGeom>
          <a:noFill/>
        </p:spPr>
        <p:txBody>
          <a:bodyPr wrap="square">
            <a:spAutoFit/>
          </a:bodyPr>
          <a:lstStyle/>
          <a:p>
            <a:pPr algn="r"/>
            <a:r>
              <a:rPr sz="800">
                <a:solidFill>
                  <a:srgbClr val="6B7280"/>
                </a:solidFill>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wrap="square"/>
          <a:lstStyle/>
          <a:p>
            <a:r>
              <a:rPr/>
              <a:t>03 · EVIDENCE</a:t>
            </a:r>
          </a:p>
        </p:txBody>
      </p:sp>
      <p:sp>
        <p:nvSpPr>
          <p:cNvPr id="3" name="Title 2"/>
          <p:cNvSpPr>
            <a:spLocks noGrp="1"/>
          </p:cNvSpPr>
          <p:nvPr>
            <p:ph type="title" idx="103"/>
          </p:nvPr>
        </p:nvSpPr>
        <p:spPr/>
        <p:txBody>
          <a:bodyPr wrap="square"/>
          <a:lstStyle/>
          <a:p>
            <a:r>
              <a:rPr/>
              <a:t>Submarket evidence: West End vacancy at 7.0%, Docklands at 10.7%</a:t>
            </a:r>
          </a:p>
        </p:txBody>
      </p:sp>
      <p:sp>
        <p:nvSpPr>
          <p:cNvPr id="4" name="Rectangle 3"/>
          <p:cNvSpPr/>
          <p:nvPr/>
        </p:nvSpPr>
        <p:spPr>
          <a:xfrm>
            <a:off x="548640" y="5641848"/>
            <a:ext cx="11091672"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3202A"/>
                </a:solidFill>
              </a:rPr>
              <a:t>SO WHAT    </a:t>
            </a:r>
            <a:r>
              <a:rPr sz="1200" i="1">
                <a:solidFill>
                  <a:srgbClr val="FFFFFF"/>
                </a:solidFill>
              </a:rPr>
              <a:t>Vacancy is not uniform: Docklands &amp; Stratford at 10.7% and City &amp; Southbank at 8.1% carry more leasing risk than the West End at 7.0%.</a:t>
            </a:r>
          </a:p>
        </p:txBody>
      </p:sp>
      <p:sp>
        <p:nvSpPr>
          <p:cNvPr id="5" name="TextBox 4"/>
          <p:cNvSpPr txBox="1"/>
          <p:nvPr/>
        </p:nvSpPr>
        <p:spPr>
          <a:xfrm>
            <a:off x="10698480" y="6492240"/>
            <a:ext cx="941832" cy="228600"/>
          </a:xfrm>
          <a:prstGeom prst="rect">
            <a:avLst/>
          </a:prstGeom>
          <a:noFill/>
        </p:spPr>
        <p:txBody>
          <a:bodyPr wrap="square">
            <a:spAutoFit/>
          </a:bodyPr>
          <a:lstStyle/>
          <a:p>
            <a:pPr algn="r"/>
            <a:r>
              <a:rPr sz="800">
                <a:solidFill>
                  <a:srgbClr val="6B7280"/>
                </a:solidFill>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wrap="square"/>
          <a:lstStyle/>
          <a:p>
            <a:r>
              <a:rPr/>
              <a:t>04 · CAPITAL MARKETS</a:t>
            </a:r>
          </a:p>
        </p:txBody>
      </p:sp>
      <p:sp>
        <p:nvSpPr>
          <p:cNvPr id="3" name="Title 2"/>
          <p:cNvSpPr>
            <a:spLocks noGrp="1"/>
          </p:cNvSpPr>
          <p:nvPr>
            <p:ph type="title" idx="103"/>
          </p:nvPr>
        </p:nvSpPr>
        <p:spPr/>
        <p:txBody>
          <a:bodyPr wrap="square"/>
          <a:lstStyle/>
          <a:p>
            <a:r>
              <a:rPr/>
              <a:t>Investment £2.00bn in Q2 2026, 36% below the long-term average</a:t>
            </a:r>
          </a:p>
        </p:txBody>
      </p:sp>
      <p:sp>
        <p:nvSpPr>
          <p:cNvPr id="4" name="Text Placeholder 3"/>
          <p:cNvSpPr>
            <a:spLocks noGrp="1"/>
          </p:cNvSpPr>
          <p:nvPr>
            <p:ph type="body" idx="106"/>
          </p:nvPr>
        </p:nvSpPr>
        <p:spPr/>
        <p:txBody>
          <a:bodyPr wrap="square"/>
          <a:lstStyle/>
          <a:p>
            <a:r>
              <a:rPr/>
              <a:t>INVESTMENT, £BN, Q2 2026 VS LONG-TERM AVERAGE</a:t>
            </a:r>
          </a:p>
        </p:txBody>
      </p:sp>
      <p:graphicFrame>
        <p:nvGraphicFramePr>
          <p:cNvPr id="5" name="Chart Placeholder 4"/>
          <p:cNvGraphicFramePr>
            <a:graphicFrameLocks noGrp="1"/>
          </p:cNvGraphicFramePr>
          <p:nvPr>
            <p:ph type="chart" idx="107"/>
          </p:nvPr>
        </p:nvGraphicFramePr>
        <p:xfrm>
          <a:off x="457200" y="1938528"/>
          <a:ext cx="6766560" cy="3611880"/>
        </p:xfrm>
        <a:graphic>
          <a:graphicData uri="http://schemas.openxmlformats.org/drawingml/2006/chart">
            <c:chart xmlns:c="http://schemas.openxmlformats.org/drawingml/2006/chart" r:id="rId2"/>
          </a:graphicData>
        </a:graphic>
      </p:graphicFrame>
      <p:sp>
        <p:nvSpPr>
          <p:cNvPr id="6" name="Text Placeholder 5"/>
          <p:cNvSpPr>
            <a:spLocks noGrp="1"/>
          </p:cNvSpPr>
          <p:nvPr>
            <p:ph type="body" idx="108"/>
          </p:nvPr>
        </p:nvSpPr>
        <p:spPr/>
        <p:txBody>
          <a:bodyPr wrap="square"/>
          <a:lstStyle/>
          <a:p>
            <a:r>
              <a:rPr/>
              <a:t>PRIME YIELDS VS LONG-TERM AVERAGE</a:t>
            </a:r>
          </a:p>
        </p:txBody>
      </p:sp>
      <p:sp>
        <p:nvSpPr>
          <p:cNvPr id="8" name="Text Placeholder 7"/>
          <p:cNvSpPr>
            <a:spLocks noGrp="1"/>
          </p:cNvSpPr>
          <p:nvPr>
            <p:ph type="body" idx="110"/>
          </p:nvPr>
        </p:nvSpPr>
        <p:spPr/>
        <p:txBody>
          <a:bodyPr wrap="square"/>
          <a:lstStyle/>
          <a:p>
            <a:r>
              <a:rPr/>
              <a:t>London total £2.00bn [1]. Yields are the publisher's prime yields.</a:t>
            </a:r>
          </a:p>
        </p:txBody>
      </p:sp>
      <p:graphicFrame>
        <p:nvGraphicFramePr>
          <p:cNvPr id="9" name="Table 8"/>
          <p:cNvGraphicFramePr>
            <a:graphicFrameLocks noGrp="1"/>
          </p:cNvGraphicFramePr>
          <p:nvPr/>
        </p:nvGraphicFramePr>
        <p:xfrm>
          <a:off x="7498080" y="1938528"/>
          <a:ext cx="4142232" cy="1920240"/>
        </p:xfrm>
        <a:graphic>
          <a:graphicData uri="http://schemas.openxmlformats.org/drawingml/2006/table">
            <a:tbl>
              <a:tblPr firstRow="1" bandRow="1">
                <a:tableStyleId>{5C22544A-7EE6-4342-B048-85BDC9FD1C3A}</a:tableStyleId>
              </a:tblPr>
              <a:tblGrid>
                <a:gridCol w="1737360"/>
                <a:gridCol w="1188720"/>
                <a:gridCol w="1216152"/>
              </a:tblGrid>
              <a:tr h="384048">
                <a:tc>
                  <a:txBody>
                    <a:bodyPr/>
                    <a:lstStyle/>
                    <a:p>
                      <a:r>
                        <a:rPr sz="900" b="1">
                          <a:solidFill>
                            <a:srgbClr val="FFFFFF"/>
                          </a:solidFill>
                        </a:rPr>
                        <a:t>PRIME YIELD</a:t>
                      </a:r>
                    </a:p>
                  </a:txBody>
                  <a:tcPr>
                    <a:solidFill>
                      <a:srgbClr val="111827"/>
                    </a:solidFill>
                  </a:tcPr>
                </a:tc>
                <a:tc>
                  <a:txBody>
                    <a:bodyPr/>
                    <a:lstStyle/>
                    <a:p>
                      <a:r>
                        <a:rPr sz="900" b="1">
                          <a:solidFill>
                            <a:srgbClr val="FFFFFF"/>
                          </a:solidFill>
                        </a:rPr>
                        <a:t>LATEST</a:t>
                      </a:r>
                    </a:p>
                  </a:txBody>
                  <a:tcPr>
                    <a:solidFill>
                      <a:srgbClr val="111827"/>
                    </a:solidFill>
                  </a:tcPr>
                </a:tc>
                <a:tc>
                  <a:txBody>
                    <a:bodyPr/>
                    <a:lstStyle/>
                    <a:p>
                      <a:r>
                        <a:rPr sz="900" b="1">
                          <a:solidFill>
                            <a:srgbClr val="FFFFFF"/>
                          </a:solidFill>
                        </a:rPr>
                        <a:t>CHANGE</a:t>
                      </a:r>
                    </a:p>
                  </a:txBody>
                  <a:tcPr>
                    <a:solidFill>
                      <a:srgbClr val="111827"/>
                    </a:solidFill>
                  </a:tcPr>
                </a:tc>
              </a:tr>
              <a:tr h="384048">
                <a:tc>
                  <a:txBody>
                    <a:bodyPr/>
                    <a:lstStyle/>
                    <a:p>
                      <a:r>
                        <a:rPr sz="1000" b="0">
                          <a:solidFill>
                            <a:srgbClr val="111827"/>
                          </a:solidFill>
                        </a:rPr>
                        <a:t>West End</a:t>
                      </a:r>
                    </a:p>
                  </a:txBody>
                  <a:tcPr>
                    <a:solidFill>
                      <a:srgbClr val="FFFFFF"/>
                    </a:solidFill>
                  </a:tcPr>
                </a:tc>
                <a:tc>
                  <a:txBody>
                    <a:bodyPr/>
                    <a:lstStyle/>
                    <a:p>
                      <a:r>
                        <a:rPr sz="1000" b="0">
                          <a:solidFill>
                            <a:srgbClr val="111827"/>
                          </a:solidFill>
                        </a:rPr>
                        <a:t>3.8% [1]</a:t>
                      </a:r>
                    </a:p>
                  </a:txBody>
                  <a:tcPr>
                    <a:solidFill>
                      <a:srgbClr val="FFFFFF"/>
                    </a:solidFill>
                  </a:tcPr>
                </a:tc>
                <a:tc>
                  <a:txBody>
                    <a:bodyPr/>
                    <a:lstStyle/>
                    <a:p>
                      <a:r>
                        <a:rPr sz="1000" b="0">
                          <a:solidFill>
                            <a:srgbClr val="111827"/>
                          </a:solidFill>
                        </a:rPr>
                        <a:t>±0.00pp vs Q1 2026</a:t>
                      </a:r>
                    </a:p>
                  </a:txBody>
                  <a:tcPr>
                    <a:solidFill>
                      <a:srgbClr val="FFFFFF"/>
                    </a:solidFill>
                  </a:tcPr>
                </a:tc>
              </a:tr>
              <a:tr h="384048">
                <a:tc>
                  <a:txBody>
                    <a:bodyPr/>
                    <a:lstStyle/>
                    <a:p>
                      <a:r>
                        <a:rPr sz="1000" b="0">
                          <a:solidFill>
                            <a:srgbClr val="111827"/>
                          </a:solidFill>
                        </a:rPr>
                        <a:t>City &amp; Southbank</a:t>
                      </a:r>
                    </a:p>
                  </a:txBody>
                  <a:tcPr>
                    <a:solidFill>
                      <a:srgbClr val="F3F4F6"/>
                    </a:solidFill>
                  </a:tcPr>
                </a:tc>
                <a:tc>
                  <a:txBody>
                    <a:bodyPr/>
                    <a:lstStyle/>
                    <a:p>
                      <a:r>
                        <a:rPr sz="1000" b="0">
                          <a:solidFill>
                            <a:srgbClr val="111827"/>
                          </a:solidFill>
                        </a:rPr>
                        <a:t>5.2% [1]</a:t>
                      </a:r>
                    </a:p>
                  </a:txBody>
                  <a:tcPr>
                    <a:solidFill>
                      <a:srgbClr val="F3F4F6"/>
                    </a:solidFill>
                  </a:tcPr>
                </a:tc>
                <a:tc>
                  <a:txBody>
                    <a:bodyPr/>
                    <a:lstStyle/>
                    <a:p>
                      <a:r>
                        <a:rPr sz="1000" b="0">
                          <a:solidFill>
                            <a:srgbClr val="111827"/>
                          </a:solidFill>
                        </a:rPr>
                        <a:t>±0.00pp vs Q1 2026</a:t>
                      </a:r>
                    </a:p>
                  </a:txBody>
                  <a:tcPr>
                    <a:solidFill>
                      <a:srgbClr val="F3F4F6"/>
                    </a:solidFill>
                  </a:tcPr>
                </a:tc>
              </a:tr>
              <a:tr h="384048">
                <a:tc>
                  <a:txBody>
                    <a:bodyPr/>
                    <a:lstStyle/>
                    <a:p>
                      <a:r>
                        <a:rPr sz="1000" b="0">
                          <a:solidFill>
                            <a:srgbClr val="111827"/>
                          </a:solidFill>
                        </a:rPr>
                        <a:t>Docklands &amp; Stratford</a:t>
                      </a:r>
                    </a:p>
                  </a:txBody>
                  <a:tcPr>
                    <a:solidFill>
                      <a:srgbClr val="FFFFFF"/>
                    </a:solidFill>
                  </a:tcPr>
                </a:tc>
                <a:tc>
                  <a:txBody>
                    <a:bodyPr/>
                    <a:lstStyle/>
                    <a:p>
                      <a:r>
                        <a:rPr sz="1000" b="0">
                          <a:solidFill>
                            <a:srgbClr val="111827"/>
                          </a:solidFill>
                        </a:rPr>
                        <a:t>7.5% [1]</a:t>
                      </a:r>
                    </a:p>
                  </a:txBody>
                  <a:tcPr>
                    <a:solidFill>
                      <a:srgbClr val="FFFFFF"/>
                    </a:solidFill>
                  </a:tcPr>
                </a:tc>
                <a:tc>
                  <a:txBody>
                    <a:bodyPr/>
                    <a:lstStyle/>
                    <a:p>
                      <a:r>
                        <a:rPr sz="1000" b="0">
                          <a:solidFill>
                            <a:srgbClr val="111827"/>
                          </a:solidFill>
                        </a:rPr>
                        <a:t>±0.00pp vs Q1 2026</a:t>
                      </a:r>
                    </a:p>
                  </a:txBody>
                  <a:tcPr>
                    <a:solidFill>
                      <a:srgbClr val="FFFFFF"/>
                    </a:solidFill>
                  </a:tcPr>
                </a:tc>
              </a:tr>
              <a:tr h="384048">
                <a:tc>
                  <a:txBody>
                    <a:bodyPr/>
                    <a:lstStyle/>
                    <a:p>
                      <a:r>
                        <a:rPr sz="1000" b="0">
                          <a:solidFill>
                            <a:srgbClr val="111827"/>
                          </a:solidFill>
                        </a:rPr>
                        <a:t>Bank Rate</a:t>
                      </a:r>
                    </a:p>
                  </a:txBody>
                  <a:tcPr>
                    <a:solidFill>
                      <a:srgbClr val="F3F4F6"/>
                    </a:solidFill>
                  </a:tcPr>
                </a:tc>
                <a:tc>
                  <a:txBody>
                    <a:bodyPr/>
                    <a:lstStyle/>
                    <a:p>
                      <a:r>
                        <a:rPr sz="1000" b="0">
                          <a:solidFill>
                            <a:srgbClr val="111827"/>
                          </a:solidFill>
                        </a:rPr>
                        <a:t>3.75% [2]</a:t>
                      </a:r>
                    </a:p>
                  </a:txBody>
                  <a:tcPr>
                    <a:solidFill>
                      <a:srgbClr val="F3F4F6"/>
                    </a:solidFill>
                  </a:tcPr>
                </a:tc>
                <a:tc>
                  <a:txBody>
                    <a:bodyPr/>
                    <a:lstStyle/>
                    <a:p>
                      <a:r>
                        <a:rPr sz="1000" b="0">
                          <a:solidFill>
                            <a:srgbClr val="111827"/>
                          </a:solidFill>
                        </a:rPr>
                        <a:t>as of 2026-10-08</a:t>
                      </a:r>
                    </a:p>
                  </a:txBody>
                  <a:tcPr>
                    <a:solidFill>
                      <a:srgbClr val="F3F4F6"/>
                    </a:solidFill>
                  </a:tcPr>
                </a:tc>
              </a:tr>
            </a:tbl>
          </a:graphicData>
        </a:graphic>
      </p:graphicFrame>
      <p:sp>
        <p:nvSpPr>
          <p:cNvPr id="10" name="Rectangle 9"/>
          <p:cNvSpPr/>
          <p:nvPr/>
        </p:nvSpPr>
        <p:spPr>
          <a:xfrm>
            <a:off x="548640" y="5641848"/>
            <a:ext cx="11091672"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3202A"/>
                </a:solidFill>
              </a:rPr>
              <a:t>SO WHAT    </a:t>
            </a:r>
            <a:r>
              <a:rPr sz="1200" i="1">
                <a:solidFill>
                  <a:srgbClr val="FFFFFF"/>
                </a:solidFill>
              </a:rPr>
              <a:t>With City &amp; Southbank investment 77% below its long-term average and prime yields flat on the quarter but above trend, fresh pricing evidence is thin — a constraint on valuations and exit assumptions.</a:t>
            </a:r>
          </a:p>
        </p:txBody>
      </p:sp>
      <p:sp>
        <p:nvSpPr>
          <p:cNvPr id="11" name="TextBox 10"/>
          <p:cNvSpPr txBox="1"/>
          <p:nvPr/>
        </p:nvSpPr>
        <p:spPr>
          <a:xfrm>
            <a:off x="10698480" y="6492240"/>
            <a:ext cx="941832" cy="228600"/>
          </a:xfrm>
          <a:prstGeom prst="rect">
            <a:avLst/>
          </a:prstGeom>
          <a:noFill/>
        </p:spPr>
        <p:txBody>
          <a:bodyPr wrap="square">
            <a:spAutoFit/>
          </a:bodyPr>
          <a:lstStyle/>
          <a:p>
            <a:pPr algn="r"/>
            <a:r>
              <a:rPr sz="800">
                <a:solidFill>
                  <a:srgbClr val="6B7280"/>
                </a:solidFill>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wrap="square"/>
          <a:lstStyle/>
          <a:p>
            <a:r>
              <a:rPr/>
              <a:t>05 · SIGNALS</a:t>
            </a:r>
          </a:p>
        </p:txBody>
      </p:sp>
      <p:sp>
        <p:nvSpPr>
          <p:cNvPr id="3" name="Title 2"/>
          <p:cNvSpPr>
            <a:spLocks noGrp="1"/>
          </p:cNvSpPr>
          <p:nvPr>
            <p:ph type="title" idx="103"/>
          </p:nvPr>
        </p:nvSpPr>
        <p:spPr/>
        <p:txBody>
          <a:bodyPr wrap="square"/>
          <a:lstStyle/>
          <a:p>
            <a:r>
              <a:rPr/>
              <a:t>The case for and against: demand builds, thin pricing evidence</a:t>
            </a:r>
          </a:p>
        </p:txBody>
      </p:sp>
      <p:sp>
        <p:nvSpPr>
          <p:cNvPr id="4" name="Text Placeholder 3"/>
          <p:cNvSpPr>
            <a:spLocks noGrp="1"/>
          </p:cNvSpPr>
          <p:nvPr>
            <p:ph type="body" idx="107"/>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Barclays buys 1 Churchill Place, Canary Wharf, for £750m</a:t>
            </a:r>
          </a:p>
          <a:p>
            <a:r>
              <a:rPr sz="900"/>
              <a:t>Barclays has acquired its Canary Wharf headquarters at 1 Churchill Place for £750m, reflecting a 5.62% yield. The deal lifted Docklands &amp; Stratford investment turnover to… [10]</a:t>
            </a:r>
          </a:p>
          <a:p>
            <a:r>
              <a:rPr sz="900" i="1">
                <a:solidFill>
                  <a:srgbClr val="6B7280"/>
                </a:solidFill>
              </a:rPr>
              <a:t>Sets fresh pricing (yield) evidence for valuations and acquisitions.</a:t>
            </a:r>
          </a:p>
        </p:txBody>
      </p:sp>
      <p:sp>
        <p:nvSpPr>
          <p:cNvPr id="5" name="Text Placeholder 4"/>
          <p:cNvSpPr>
            <a:spLocks noGrp="1"/>
          </p:cNvSpPr>
          <p:nvPr>
            <p:ph type="body" idx="109"/>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J.P. Morgan Asset Management Agree to Major City Pre-Let - CBRE</a:t>
            </a:r>
          </a:p>
          <a:p>
            <a:r>
              <a:rPr sz="900"/>
              <a:t>J.P. Morgan Asset Management Agree to Major City Pre-Let CBRE [11]</a:t>
            </a:r>
          </a:p>
          <a:p>
            <a:r>
              <a:rPr sz="900" i="1">
                <a:solidFill>
                  <a:srgbClr val="6B7280"/>
                </a:solidFill>
              </a:rPr>
              <a:t>Large lettings set rental evidence and show which occupiers are taking space.</a:t>
            </a:r>
          </a:p>
        </p:txBody>
      </p:sp>
      <p:sp>
        <p:nvSpPr>
          <p:cNvPr id="6" name="Text Placeholder 5"/>
          <p:cNvSpPr>
            <a:spLocks noGrp="1"/>
          </p:cNvSpPr>
          <p:nvPr>
            <p:ph type="body" idx="111"/>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Citi reopens Canary Wharf HQ after hefty $1.5bn refit - The Banker</a:t>
            </a:r>
          </a:p>
          <a:p>
            <a:r>
              <a:rPr sz="900"/>
              <a:t>Citi reopens Canary Wharf HQ after hefty $1.5bn refit The Banker [12]</a:t>
            </a:r>
          </a:p>
          <a:p>
            <a:r>
              <a:rPr sz="900" i="1">
                <a:solidFill>
                  <a:srgbClr val="6B7280"/>
                </a:solidFill>
              </a:rPr>
              <a:t>Large lettings set rental evidence and show which occupiers are taking space.</a:t>
            </a:r>
          </a:p>
        </p:txBody>
      </p:sp>
      <p:sp>
        <p:nvSpPr>
          <p:cNvPr id="7" name="Text Placeholder 6"/>
          <p:cNvSpPr>
            <a:spLocks noGrp="1"/>
          </p:cNvSpPr>
          <p:nvPr>
            <p:ph type="body" idx="113"/>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Central London vacancy falls to 8.0% as active requirements reach 14.3m sq ft</a:t>
            </a:r>
          </a:p>
          <a:p>
            <a:r>
              <a:rPr sz="900"/>
              <a:t>London office vacancy fell to 8.0% in Q2 2026 while active requirements rose to 14.3m sq ft. Take-up rebounded to 3.1m sq ft after a subdued first quarter. Also reported by… [10]</a:t>
            </a:r>
          </a:p>
          <a:p>
            <a:r>
              <a:rPr sz="900" i="1">
                <a:solidFill>
                  <a:srgbClr val="6B7280"/>
                </a:solidFill>
              </a:rPr>
              <a:t>Headline market data shifts the narrative for the quarter.</a:t>
            </a:r>
          </a:p>
        </p:txBody>
      </p:sp>
      <p:sp>
        <p:nvSpPr>
          <p:cNvPr id="8" name="Text Placeholder 7"/>
          <p:cNvSpPr>
            <a:spLocks noGrp="1"/>
          </p:cNvSpPr>
          <p:nvPr>
            <p:ph type="body" idx="115"/>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ING and DBS back £1.016bn City of London office refurbishment - East London Advertiser</a:t>
            </a:r>
          </a:p>
          <a:p>
            <a:r>
              <a:rPr sz="900"/>
              <a:t>ING and DBS back £1.016bn City of London office refurbishment East London Advertiser Also reported by FF News. [13]</a:t>
            </a:r>
          </a:p>
          <a:p>
            <a:r>
              <a:rPr sz="900" i="1">
                <a:solidFill>
                  <a:srgbClr val="6B7280"/>
                </a:solidFill>
              </a:rPr>
              <a:t>New supply competes with existing buildings for the same tenants.</a:t>
            </a:r>
          </a:p>
        </p:txBody>
      </p:sp>
      <p:sp>
        <p:nvSpPr>
          <p:cNvPr id="9" name="Text Placeholder 8"/>
          <p:cNvSpPr>
            <a:spLocks noGrp="1"/>
          </p:cNvSpPr>
          <p:nvPr>
            <p:ph type="body" idx="117"/>
          </p:nvPr>
        </p:nvSpPr>
        <p:spPr/>
        <p:txBody>
          <a:bodyPr wrap="square"/>
          <a:lstStyle/>
          <a:p>
            <a:r>
              <a:rPr sz="900" b="1">
                <a:solidFill>
                  <a:srgbClr val="2E7D4F"/>
                </a:solidFill>
              </a:rPr>
              <a:t>▲ SUPPORTS THE CASE</a:t>
            </a:r>
            <a:r>
              <a:rPr sz="900">
                <a:solidFill>
                  <a:srgbClr val="A8322A"/>
                </a:solidFill>
              </a:rPr>
              <a:t/>
            </a:r>
          </a:p>
          <a:p>
            <a:r>
              <a:rPr sz="1200" b="1">
                <a:solidFill>
                  <a:srgbClr val="111827"/>
                </a:solidFill>
                <a:latin typeface="Calibri"/>
              </a:rPr>
              <a:t>City office secures £47.2m refurbishment finance - PropertyWire</a:t>
            </a:r>
          </a:p>
          <a:p>
            <a:r>
              <a:rPr sz="900"/>
              <a:t>City office secures £47.2m refurbishment finance PropertyWire [14]</a:t>
            </a:r>
          </a:p>
          <a:p>
            <a:r>
              <a:rPr sz="900" i="1">
                <a:solidFill>
                  <a:srgbClr val="6B7280"/>
                </a:solidFill>
              </a:rPr>
              <a:t>New supply competes with existing buildings for the same tenants.</a:t>
            </a:r>
          </a:p>
        </p:txBody>
      </p:sp>
      <p:sp>
        <p:nvSpPr>
          <p:cNvPr id="11" name="Rectangle 10"/>
          <p:cNvSpPr/>
          <p:nvPr/>
        </p:nvSpPr>
        <p:spPr>
          <a:xfrm>
            <a:off x="548640"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0" y="6492240"/>
            <a:ext cx="941832" cy="228600"/>
          </a:xfrm>
          <a:prstGeom prst="rect">
            <a:avLst/>
          </a:prstGeom>
          <a:noFill/>
        </p:spPr>
        <p:txBody>
          <a:bodyPr wrap="square">
            <a:spAutoFit/>
          </a:bodyPr>
          <a:lstStyle/>
          <a:p>
            <a:pPr algn="r"/>
            <a:r>
              <a:rPr sz="800">
                <a:solidFill>
                  <a:srgbClr val="6B7280"/>
                </a:solidFill>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wrap="square"/>
          <a:lstStyle/>
          <a:p>
            <a:r>
              <a:rPr/>
              <a:t>06 · SOURCES</a:t>
            </a:r>
          </a:p>
        </p:txBody>
      </p:sp>
      <p:sp>
        <p:nvSpPr>
          <p:cNvPr id="3" name="Title 2"/>
          <p:cNvSpPr>
            <a:spLocks noGrp="1"/>
          </p:cNvSpPr>
          <p:nvPr>
            <p:ph type="title" idx="103"/>
          </p:nvPr>
        </p:nvSpPr>
        <p:spPr/>
        <p:txBody>
          <a:bodyPr wrap="square"/>
          <a:lstStyle/>
          <a:p>
            <a:r>
              <a:rPr/>
              <a:t>Sources and provenance</a:t>
            </a:r>
          </a:p>
        </p:txBody>
      </p:sp>
      <p:sp>
        <p:nvSpPr>
          <p:cNvPr id="4" name="Text Placeholder 3"/>
          <p:cNvSpPr>
            <a:spLocks noGrp="1"/>
          </p:cNvSpPr>
          <p:nvPr>
            <p:ph type="body" idx="106"/>
          </p:nvPr>
        </p:nvSpPr>
        <p:spPr/>
        <p:txBody>
          <a:bodyPr wrap="square"/>
          <a:lstStyle/>
          <a:p>
            <a:r>
              <a:rPr/>
              <a:t>[1] London Offices Spotlight Q2 2026 (Uploaded by PoC seed · 2026-10-10) - https://www.knightfrank.co.uk/site-assets/research/report-pdfs/london-office-spotlight/spotlight-q2-2026.pdf</a:t>
            </a:r>
          </a:p>
          <a:p>
            <a:r>
              <a:rPr/>
              <a:t>[2] Bank of England Bank Rate - https://www.bankofengland.co.uk/boeapps/database/Bank-Rate.asp</a:t>
            </a:r>
          </a:p>
          <a:p>
            <a:r>
              <a:rPr/>
              <a:t>[3] The London Office Market Report Q1 2024 (Uploaded by PoC seed · 2026-10-10) - https://content.knightfrank.com/research/104/documents/en/the-london-office-market-report-q1-2024-11170.pdf</a:t>
            </a:r>
          </a:p>
          <a:p>
            <a:r>
              <a:rPr/>
              <a:t>[4] London Offices Spotlight Q2 2024 (Uploaded by PoC seed · 2026-10-10) - https://content.knightfrank.com/research/1903/documents/en/london-offices-spotlight-q2-2024-11338.pdf</a:t>
            </a:r>
          </a:p>
          <a:p>
            <a:r>
              <a:rPr/>
              <a:t>[5] The London Office Market Report Q3 2024 (Uploaded by PoC seed · 2026-10-10) - https://www.knightfrank.co.uk/research/reports/the-london-office-market-report-104/contentassets/the-london-office-market-report-q3-2024-11701.pdf</a:t>
            </a:r>
          </a:p>
          <a:p>
            <a:r>
              <a:rPr/>
              <a:t>[6] The London Office Market Report Q2 2025 (Uploaded by PoC seed · 2026-10-10) - https://content.knightfrank.com/research/104/documents/en/the-london-office-market-report-q2-2025-12541.pdf</a:t>
            </a:r>
          </a:p>
          <a:p>
            <a:r>
              <a:rPr/>
              <a:t>[7] London Offices Spotlight Q3 2025 (Uploaded by PoC seed · 2026-10-10) - https://content.knightfrank.com/research/1903/documents/en/london-offices-spotlight-q3-2025-12540.pdf</a:t>
            </a:r>
          </a:p>
          <a:p>
            <a:r>
              <a:rPr/>
              <a:t>[8] London Offices Spotlight Q4 2025 (Uploaded by PoC seed · 2026-10-10) - https://www.knightfrank.co.uk/site-assets/research/report-pdfs/spotlight/spotlight-q4-2025-2.pdf</a:t>
            </a:r>
          </a:p>
          <a:p>
            <a:r>
              <a:rPr/>
              <a:t>[9] London Offices Spotlight Q1 2026 (Uploaded by PoC seed · 2026-10-10) - https://www.knightfrank.co.uk/site-assets/research/report-pdfs/london-office-spotlight/spotlight-q1-2026v3.pdf</a:t>
            </a:r>
          </a:p>
          <a:p>
            <a:r>
              <a:rPr/>
              <a:t>[10] Knight Frank research (seed) (2026-06-30) - https://www.knightfrank.co.uk/site-assets/research/report-pdfs/london-office-spotlight/spotlight-q2-2026.pdf</a:t>
            </a:r>
          </a:p>
          <a:p>
            <a:r>
              <a:rPr/>
              <a:t>[11] CBRE (2026-09-24) - https://news.google.com/rss/articles/CBMimgFBVV95cUxOYTBBeWdSVXpaRmEwYjdQZTJRTDNuSkdxTXRvZlhaVy1aQTljU0lJdTRHV3Q1a0VNaVk1ODBiQ0M4VXVPMzRyUVc5blFRWFdmUlRwRWJNUmNCb3ZMekVmMGxTV2FGYkg2NzRzU1JaUm9vNmFkeFlEY3plUElvbWFMbld1S0FNV1A3NURiYlNSWmg3b25sV1gza0xB?oc=5</a:t>
            </a:r>
          </a:p>
          <a:p>
            <a:r>
              <a:rPr/>
              <a:t>[12] The Banker (2026-09-22) - https://news.google.com/rss/articles/CBMiekFVX3lxTE9SQzVSOFJucnQzamgzMXRJSENoMUpwTUY0bFhQRmxDUm9PdGh3bmp6T3ZfX2pjekc1Y0p3ZnQxbWRsUHFfWFllQVg1a1lkYWpIdTlNR3dpM1ZuNHdNaFhpNVVFRWRzWDVDaE9lTUZfaGRTUHJCZWFwcENB?oc=5</a:t>
            </a:r>
          </a:p>
          <a:p>
            <a:r>
              <a:rPr/>
              <a:t>[13] East London Advertiser (2026-10-01) - https://news.google.com/rss/articles/CBMiqAFBVV95cUxQUTJpMEdTMFBfVnEyeEhnNU5yZm1FdUhFVWg4MHpfSFhTVmNlUEZsemNTM190elkzc3V6VHk1VnM0THh5ZEFfa3AxUEJrQXVCakpBbXhLTlNTTXNRbXZ6eWYzeFBDbFRpcFBxSmJvWHRnV0VadkY5Y2d0WEV2YmpXX0pQbk1OT2NXbml6emR6b25UMTJuNHctV0hGWEdXVUFmSzc3dmhaWF8?oc=5</a:t>
            </a:r>
          </a:p>
          <a:p>
            <a:r>
              <a:rPr/>
              <a:t>[14] PropertyWire (2026-10-02) - https://news.google.com/rss/articles/CBMijgFBVV95cUxOTTV4dXpJVXc1NnUyeUlvR3Nkb3NTX1pMN2dESWR2N0h6RU1uNmZ6a19kbDNkWmh1X0hfaVFfZmJ1ajJFa1hMeDVObmktakdIQjF0aWMxQmd3eks3Zll1a09iN216NUo2MFlQLWEyUHJ6UkxudmxKc1lmRmJacFZoZzd1TTVoOHh4X3VQTnpn?oc=5</a:t>
            </a:r>
          </a:p>
          <a:p>
            <a:r>
              <a:rPr/>
              <a:t/>
            </a:r>
          </a:p>
          <a:p>
            <a:r>
              <a:rPr i="1">
                <a:solidFill>
                  <a:srgbClr val="6B7280"/>
                </a:solidFill>
              </a:rPr>
              <a:t>Figures restated from public research for this proof of concept (Knight Frank terms bar AI use of their data); verify against the original before external use.</a:t>
            </a:r>
          </a:p>
          <a:p>
            <a:r>
              <a:rPr>
                <a:solidFill>
                  <a:srgbClr val="6B7280"/>
                </a:solidFill>
              </a:rPr>
              <a:t>🟢 collected automatically from open data · 🟠 uploaded by a colleague under the team's own access</a:t>
            </a:r>
          </a:p>
        </p:txBody>
      </p:sp>
      <p:sp>
        <p:nvSpPr>
          <p:cNvPr id="5" name="TextBox 4"/>
          <p:cNvSpPr txBox="1"/>
          <p:nvPr/>
        </p:nvSpPr>
        <p:spPr>
          <a:xfrm>
            <a:off x="10698480" y="6492240"/>
            <a:ext cx="941832" cy="228600"/>
          </a:xfrm>
          <a:prstGeom prst="rect">
            <a:avLst/>
          </a:prstGeom>
          <a:noFill/>
        </p:spPr>
        <p:txBody>
          <a:bodyPr wrap="square">
            <a:spAutoFit/>
          </a:bodyPr>
          <a:lstStyle/>
          <a:p>
            <a:pPr algn="r"/>
            <a:r>
              <a:rPr sz="800">
                <a:solidFill>
                  <a:srgbClr val="6B7280"/>
                </a:solidFill>
              </a:rPr>
              <a:t>06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 paper: London office market</dc:title>
  <dc:subject>PptxGenJS Presentation</dc:subject>
  <dc:creator>London Office Market Agent</dc:creator>
  <cp:lastModifiedBy>PptxGenJS</cp:lastModifiedBy>
  <cp:revision>1</cp:revision>
  <dcterms:created xsi:type="dcterms:W3CDTF">2026-10-10T13:15:17Z</dcterms:created>
  <dcterms:modified xsi:type="dcterms:W3CDTF">2026-10-10T13:15:17Z</dcterms:modified>
</cp:coreProperties>
</file>