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Vacancy</c:v>
                </c:pt>
              </c:strCache>
            </c:strRef>
          </c:tx>
          <c:spPr>
            <a:ln w="28575">
              <a:solidFill>
                <a:srgbClr val="2F6FA3"/>
              </a:solidFill>
            </a:ln>
          </c:spPr>
          <c:marker>
            <c:size val="8"/>
            <c:spPr>
              <a:solidFill>
                <a:srgbClr val="2F6FA3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0"/>
                      <a:t>9.9%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/>
                      <a:t>8.0%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  <c:pt idx="6">
                  <c:v>Q1 2026</c:v>
                </c:pt>
                <c:pt idx="7">
                  <c:v>Q2 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9.9</c:v>
                </c:pt>
                <c:pt idx="1">
                  <c:v>9.4</c:v>
                </c:pt>
                <c:pt idx="2">
                  <c:v>9.1</c:v>
                </c:pt>
                <c:pt idx="3">
                  <c:v>8.8</c:v>
                </c:pt>
                <c:pt idx="4">
                  <c:v>9.0</c:v>
                </c:pt>
                <c:pt idx="5">
                  <c:v>8.6</c:v>
                </c:pt>
                <c:pt idx="6">
                  <c:v>8.5</c:v>
                </c:pt>
                <c:pt idx="7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CFBE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.0"/>
          <c:min val="7.0"/>
        </c:scaling>
        <c:delete val="0"/>
        <c:axPos val="l"/>
        <c:majorGridlines>
          <c:spPr>
            <a:ln>
              <a:solidFill>
                <a:srgbClr val="D6CFBE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C72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 is improving faster than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for the room: leasing has turned, pricing has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Vacancy 8.0%, take-up 3.10m sq ft, investment £2.00bn, Bank Rate 3.75%.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pillar maps to one data slide in the board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Vacancy and take-up by quarter from the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figure carries [n].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8D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headline"/>
          <p:cNvSpPr/>
          <p:nvPr>
            <p:ph idx="103" type="body" hasCustomPrompt="1"/>
          </p:nvPr>
        </p:nvSpPr>
        <p:spPr>
          <a:xfrm>
            <a:off x="640080" y="2286000"/>
            <a:ext cx="10881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Shape 0"/>
          <p:cNvSpPr/>
          <p:nvPr/>
        </p:nvSpPr>
        <p:spPr>
          <a:xfrm>
            <a:off x="640080" y="4069080"/>
            <a:ext cx="260604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7" name="kpi1"/>
          <p:cNvSpPr/>
          <p:nvPr>
            <p:ph idx="105" type="body" hasCustomPrompt="1"/>
          </p:nvPr>
        </p:nvSpPr>
        <p:spPr>
          <a:xfrm>
            <a:off x="640080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3410712" y="4069080"/>
            <a:ext cx="260604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9" name="kpi2"/>
          <p:cNvSpPr/>
          <p:nvPr>
            <p:ph idx="107" type="body" hasCustomPrompt="1"/>
          </p:nvPr>
        </p:nvSpPr>
        <p:spPr>
          <a:xfrm>
            <a:off x="3410712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6181344" y="4069080"/>
            <a:ext cx="260604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11" name="kpi3"/>
          <p:cNvSpPr/>
          <p:nvPr>
            <p:ph idx="109" type="body" hasCustomPrompt="1"/>
          </p:nvPr>
        </p:nvSpPr>
        <p:spPr>
          <a:xfrm>
            <a:off x="6181344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8951976" y="4069080"/>
            <a:ext cx="260604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13" name="kpi4"/>
          <p:cNvSpPr/>
          <p:nvPr>
            <p:ph idx="111" type="body" hasCustomPrompt="1"/>
          </p:nvPr>
        </p:nvSpPr>
        <p:spPr>
          <a:xfrm>
            <a:off x="8951976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caveat"/>
          <p:cNvSpPr/>
          <p:nvPr>
            <p:ph idx="112" type="body" hasCustomPrompt="1"/>
          </p:nvPr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C8D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97480"/>
            <a:ext cx="91440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64008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body"/>
          <p:cNvSpPr/>
          <p:nvPr>
            <p:ph idx="103" type="body" hasCustomPrompt="1"/>
          </p:nvPr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8D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Shape 0"/>
          <p:cNvSpPr/>
          <p:nvPr/>
        </p:nvSpPr>
        <p:spPr>
          <a:xfrm>
            <a:off x="822960" y="1645920"/>
            <a:ext cx="731520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4" name="statement"/>
          <p:cNvSpPr/>
          <p:nvPr>
            <p:ph idx="102" type="body" hasCustomPrompt="1"/>
          </p:nvPr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attribution"/>
          <p:cNvSpPr/>
          <p:nvPr>
            <p:ph idx="103" type="body" hasCustomPrompt="1"/>
          </p:nvPr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8D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2296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8D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number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hero"/>
          <p:cNvSpPr/>
          <p:nvPr>
            <p:ph idx="105" type="body" hasCustomPrompt="1"/>
          </p:nvPr>
        </p:nvSpPr>
        <p:spPr>
          <a:xfrm>
            <a:off x="54864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8" name="hero_caption"/>
          <p:cNvSpPr/>
          <p:nvPr>
            <p:ph idx="106" type="body" hasCustomPrompt="1"/>
          </p:nvPr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hero_context"/>
          <p:cNvSpPr/>
          <p:nvPr>
            <p:ph idx="107" type="body" hasCustomPrompt="1"/>
          </p:nvPr>
        </p:nvSpPr>
        <p:spPr>
          <a:xfrm>
            <a:off x="548640" y="3337560"/>
            <a:ext cx="3931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chart_label"/>
          <p:cNvSpPr/>
          <p:nvPr>
            <p:ph idx="108" type="body" hasCustomPrompt="1"/>
          </p:nvPr>
        </p:nvSpPr>
        <p:spPr>
          <a:xfrm>
            <a:off x="4846320" y="1645920"/>
            <a:ext cx="67665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chart"/>
          <p:cNvSpPr/>
          <p:nvPr>
            <p:ph idx="109" type="chart" hasCustomPrompt="1"/>
          </p:nvPr>
        </p:nvSpPr>
        <p:spPr>
          <a:xfrm>
            <a:off x="4754880" y="1938528"/>
            <a:ext cx="688543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row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91640"/>
            <a:ext cx="2651760" cy="0"/>
          </a:xfrm>
          <a:prstGeom prst="line">
            <a:avLst/>
          </a:prstGeom>
          <a:noFill/>
          <a:ln w="19050">
            <a:solidFill>
              <a:srgbClr val="93703A"/>
            </a:solidFill>
            <a:prstDash val="solid"/>
          </a:ln>
        </p:spPr>
      </p:sp>
      <p:sp>
        <p:nvSpPr>
          <p:cNvPr id="8" name="stat1"/>
          <p:cNvSpPr/>
          <p:nvPr>
            <p:ph idx="106" type="body" hasCustomPrompt="1"/>
          </p:nvPr>
        </p:nvSpPr>
        <p:spPr>
          <a:xfrm>
            <a:off x="54864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9" name="stat1_caption"/>
          <p:cNvSpPr/>
          <p:nvPr>
            <p:ph idx="107" type="body" hasCustomPrompt="1"/>
          </p:nvPr>
        </p:nvSpPr>
        <p:spPr>
          <a:xfrm>
            <a:off x="548640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stat1_context"/>
          <p:cNvSpPr/>
          <p:nvPr>
            <p:ph idx="108" type="body" hasCustomPrompt="1"/>
          </p:nvPr>
        </p:nvSpPr>
        <p:spPr>
          <a:xfrm>
            <a:off x="548640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4"/>
          <p:cNvSpPr/>
          <p:nvPr/>
        </p:nvSpPr>
        <p:spPr>
          <a:xfrm>
            <a:off x="3346704" y="1691640"/>
            <a:ext cx="2651760" cy="0"/>
          </a:xfrm>
          <a:prstGeom prst="line">
            <a:avLst/>
          </a:prstGeom>
          <a:noFill/>
          <a:ln w="19050">
            <a:solidFill>
              <a:srgbClr val="93703A"/>
            </a:solidFill>
            <a:prstDash val="solid"/>
          </a:ln>
        </p:spPr>
      </p:sp>
      <p:sp>
        <p:nvSpPr>
          <p:cNvPr id="12" name="stat2"/>
          <p:cNvSpPr/>
          <p:nvPr>
            <p:ph idx="110" type="body" hasCustomPrompt="1"/>
          </p:nvPr>
        </p:nvSpPr>
        <p:spPr>
          <a:xfrm>
            <a:off x="3346704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3" name="stat2_caption"/>
          <p:cNvSpPr/>
          <p:nvPr>
            <p:ph idx="111" type="body" hasCustomPrompt="1"/>
          </p:nvPr>
        </p:nvSpPr>
        <p:spPr>
          <a:xfrm>
            <a:off x="3346704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4" name="stat2_context"/>
          <p:cNvSpPr/>
          <p:nvPr>
            <p:ph idx="112" type="body" hasCustomPrompt="1"/>
          </p:nvPr>
        </p:nvSpPr>
        <p:spPr>
          <a:xfrm>
            <a:off x="3346704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5"/>
          <p:cNvSpPr/>
          <p:nvPr/>
        </p:nvSpPr>
        <p:spPr>
          <a:xfrm>
            <a:off x="6144768" y="1691640"/>
            <a:ext cx="2651760" cy="0"/>
          </a:xfrm>
          <a:prstGeom prst="line">
            <a:avLst/>
          </a:prstGeom>
          <a:noFill/>
          <a:ln w="19050">
            <a:solidFill>
              <a:srgbClr val="93703A"/>
            </a:solidFill>
            <a:prstDash val="solid"/>
          </a:ln>
        </p:spPr>
      </p:sp>
      <p:sp>
        <p:nvSpPr>
          <p:cNvPr id="16" name="stat3"/>
          <p:cNvSpPr/>
          <p:nvPr>
            <p:ph idx="114" type="body" hasCustomPrompt="1"/>
          </p:nvPr>
        </p:nvSpPr>
        <p:spPr>
          <a:xfrm>
            <a:off x="6144768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7" name="stat3_caption"/>
          <p:cNvSpPr/>
          <p:nvPr>
            <p:ph idx="115" type="body" hasCustomPrompt="1"/>
          </p:nvPr>
        </p:nvSpPr>
        <p:spPr>
          <a:xfrm>
            <a:off x="6144768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8" name="stat3_context"/>
          <p:cNvSpPr/>
          <p:nvPr>
            <p:ph idx="116" type="body" hasCustomPrompt="1"/>
          </p:nvPr>
        </p:nvSpPr>
        <p:spPr>
          <a:xfrm>
            <a:off x="6144768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Shape 6"/>
          <p:cNvSpPr/>
          <p:nvPr/>
        </p:nvSpPr>
        <p:spPr>
          <a:xfrm>
            <a:off x="8942832" y="1691640"/>
            <a:ext cx="2651760" cy="0"/>
          </a:xfrm>
          <a:prstGeom prst="line">
            <a:avLst/>
          </a:prstGeom>
          <a:noFill/>
          <a:ln w="19050">
            <a:solidFill>
              <a:srgbClr val="93703A"/>
            </a:solidFill>
            <a:prstDash val="solid"/>
          </a:ln>
        </p:spPr>
      </p:sp>
      <p:sp>
        <p:nvSpPr>
          <p:cNvPr id="20" name="stat4"/>
          <p:cNvSpPr/>
          <p:nvPr>
            <p:ph idx="118" type="body" hasCustomPrompt="1"/>
          </p:nvPr>
        </p:nvSpPr>
        <p:spPr>
          <a:xfrm>
            <a:off x="8942832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1" name="stat4_caption"/>
          <p:cNvSpPr/>
          <p:nvPr>
            <p:ph idx="119" type="body" hasCustomPrompt="1"/>
          </p:nvPr>
        </p:nvSpPr>
        <p:spPr>
          <a:xfrm>
            <a:off x="8942832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2" name="stat4_context"/>
          <p:cNvSpPr/>
          <p:nvPr>
            <p:ph idx="120" type="body" hasCustomPrompt="1"/>
          </p:nvPr>
        </p:nvSpPr>
        <p:spPr>
          <a:xfrm>
            <a:off x="8942832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3" name="chart_label"/>
          <p:cNvSpPr/>
          <p:nvPr>
            <p:ph idx="121" type="body" hasCustomPrompt="1"/>
          </p:nvPr>
        </p:nvSpPr>
        <p:spPr>
          <a:xfrm>
            <a:off x="548640" y="34930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chart"/>
          <p:cNvSpPr/>
          <p:nvPr>
            <p:ph idx="122" type="chart" hasCustomPrompt="1"/>
          </p:nvPr>
        </p:nvSpPr>
        <p:spPr>
          <a:xfrm>
            <a:off x="457200" y="3767328"/>
            <a:ext cx="11183112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ource"/>
          <p:cNvSpPr/>
          <p:nvPr>
            <p:ph idx="123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keaway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749808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75895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8275320" y="1645920"/>
            <a:ext cx="3364992" cy="3904488"/>
          </a:xfrm>
          <a:prstGeom prst="rect">
            <a:avLst/>
          </a:prstGeom>
          <a:solidFill>
            <a:srgbClr val="E8E2D2"/>
          </a:solidFill>
          <a:ln/>
        </p:spPr>
      </p:sp>
      <p:sp>
        <p:nvSpPr>
          <p:cNvPr id="10" name="Shape 4"/>
          <p:cNvSpPr/>
          <p:nvPr/>
        </p:nvSpPr>
        <p:spPr>
          <a:xfrm>
            <a:off x="8275320" y="1645920"/>
            <a:ext cx="3364992" cy="0"/>
          </a:xfrm>
          <a:prstGeom prst="line">
            <a:avLst/>
          </a:prstGeom>
          <a:noFill/>
          <a:ln w="38100">
            <a:solidFill>
              <a:srgbClr val="93703A"/>
            </a:solidFill>
            <a:prstDash val="solid"/>
          </a:ln>
        </p:spPr>
      </p:sp>
      <p:sp>
        <p:nvSpPr>
          <p:cNvPr id="11" name="takeaway"/>
          <p:cNvSpPr/>
          <p:nvPr>
            <p:ph idx="109" type="body" hasCustomPrompt="1"/>
          </p:nvPr>
        </p:nvSpPr>
        <p:spPr>
          <a:xfrm>
            <a:off x="8412480" y="1783080"/>
            <a:ext cx="310896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left_label"/>
          <p:cNvSpPr/>
          <p:nvPr>
            <p:ph idx="105" type="body" hasCustomPrompt="1"/>
          </p:nvPr>
        </p:nvSpPr>
        <p:spPr>
          <a:xfrm>
            <a:off x="54864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left_chart"/>
          <p:cNvSpPr/>
          <p:nvPr>
            <p:ph idx="106" type="chart" hasCustomPrompt="1"/>
          </p:nvPr>
        </p:nvSpPr>
        <p:spPr>
          <a:xfrm>
            <a:off x="457200" y="1938528"/>
            <a:ext cx="5623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right_label"/>
          <p:cNvSpPr/>
          <p:nvPr>
            <p:ph idx="107" type="body" hasCustomPrompt="1"/>
          </p:nvPr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right_chart"/>
          <p:cNvSpPr/>
          <p:nvPr>
            <p:ph idx="108" type="chart" hasCustomPrompt="1"/>
          </p:nvPr>
        </p:nvSpPr>
        <p:spPr>
          <a:xfrm>
            <a:off x="6263640" y="1938528"/>
            <a:ext cx="537667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66751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6766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table_label"/>
          <p:cNvSpPr/>
          <p:nvPr>
            <p:ph idx="107" type="body" hasCustomPrompt="1"/>
          </p:nvPr>
        </p:nvSpPr>
        <p:spPr>
          <a:xfrm>
            <a:off x="749808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table"/>
          <p:cNvSpPr/>
          <p:nvPr>
            <p:ph idx="108" type="body" hasCustomPrompt="1"/>
          </p:nvPr>
        </p:nvSpPr>
        <p:spPr>
          <a:xfrm>
            <a:off x="7498080" y="1938528"/>
            <a:ext cx="4142232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pillars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548640" y="2560320"/>
            <a:ext cx="3520440" cy="0"/>
          </a:xfrm>
          <a:prstGeom prst="line">
            <a:avLst/>
          </a:prstGeom>
          <a:noFill/>
          <a:ln w="12700">
            <a:solidFill>
              <a:srgbClr val="D6CFBE"/>
            </a:solidFill>
            <a:prstDash val="solid"/>
          </a:ln>
        </p:spPr>
      </p:sp>
      <p:sp>
        <p:nvSpPr>
          <p:cNvPr id="9" name="pillar1_head"/>
          <p:cNvSpPr/>
          <p:nvPr>
            <p:ph idx="107" type="body" hasCustomPrompt="1"/>
          </p:nvPr>
        </p:nvSpPr>
        <p:spPr>
          <a:xfrm>
            <a:off x="548640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0" name="pillar1_body"/>
          <p:cNvSpPr/>
          <p:nvPr>
            <p:ph idx="108" type="body" hasCustomPrompt="1"/>
          </p:nvPr>
        </p:nvSpPr>
        <p:spPr>
          <a:xfrm>
            <a:off x="548640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27939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Shape 6"/>
          <p:cNvSpPr/>
          <p:nvPr/>
        </p:nvSpPr>
        <p:spPr>
          <a:xfrm>
            <a:off x="4279392" y="2560320"/>
            <a:ext cx="3520440" cy="0"/>
          </a:xfrm>
          <a:prstGeom prst="line">
            <a:avLst/>
          </a:prstGeom>
          <a:noFill/>
          <a:ln w="12700">
            <a:solidFill>
              <a:srgbClr val="D6CFBE"/>
            </a:solidFill>
            <a:prstDash val="solid"/>
          </a:ln>
        </p:spPr>
      </p:sp>
      <p:sp>
        <p:nvSpPr>
          <p:cNvPr id="13" name="pillar2_head"/>
          <p:cNvSpPr/>
          <p:nvPr>
            <p:ph idx="111" type="body" hasCustomPrompt="1"/>
          </p:nvPr>
        </p:nvSpPr>
        <p:spPr>
          <a:xfrm>
            <a:off x="4279392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4" name="pillar2_body"/>
          <p:cNvSpPr/>
          <p:nvPr>
            <p:ph idx="112" type="body" hasCustomPrompt="1"/>
          </p:nvPr>
        </p:nvSpPr>
        <p:spPr>
          <a:xfrm>
            <a:off x="4279392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8010144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937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Shape 8"/>
          <p:cNvSpPr/>
          <p:nvPr/>
        </p:nvSpPr>
        <p:spPr>
          <a:xfrm>
            <a:off x="8010144" y="2560320"/>
            <a:ext cx="3520440" cy="0"/>
          </a:xfrm>
          <a:prstGeom prst="line">
            <a:avLst/>
          </a:prstGeom>
          <a:noFill/>
          <a:ln w="12700">
            <a:solidFill>
              <a:srgbClr val="D6CFBE"/>
            </a:solidFill>
            <a:prstDash val="solid"/>
          </a:ln>
        </p:spPr>
      </p:sp>
      <p:sp>
        <p:nvSpPr>
          <p:cNvPr id="17" name="pillar3_head"/>
          <p:cNvSpPr/>
          <p:nvPr>
            <p:ph idx="115" type="body" hasCustomPrompt="1"/>
          </p:nvPr>
        </p:nvSpPr>
        <p:spPr>
          <a:xfrm>
            <a:off x="8010144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8" name="pillar3_body"/>
          <p:cNvSpPr/>
          <p:nvPr>
            <p:ph idx="116" type="body" hasCustomPrompt="1"/>
          </p:nvPr>
        </p:nvSpPr>
        <p:spPr>
          <a:xfrm>
            <a:off x="8010144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tep1_when"/>
          <p:cNvSpPr/>
          <p:nvPr>
            <p:ph idx="105" type="body" hasCustomPrompt="1"/>
          </p:nvPr>
        </p:nvSpPr>
        <p:spPr>
          <a:xfrm>
            <a:off x="5486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" name="step1_head"/>
          <p:cNvSpPr/>
          <p:nvPr>
            <p:ph idx="106" type="body" hasCustomPrompt="1"/>
          </p:nvPr>
        </p:nvSpPr>
        <p:spPr>
          <a:xfrm>
            <a:off x="54864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9" name="step1_body"/>
          <p:cNvSpPr/>
          <p:nvPr>
            <p:ph idx="107" type="body" hasCustomPrompt="1"/>
          </p:nvPr>
        </p:nvSpPr>
        <p:spPr>
          <a:xfrm>
            <a:off x="54864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0" name="step2_when"/>
          <p:cNvSpPr/>
          <p:nvPr>
            <p:ph idx="108" type="body" hasCustomPrompt="1"/>
          </p:nvPr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step2_head"/>
          <p:cNvSpPr/>
          <p:nvPr>
            <p:ph idx="109" type="body" hasCustomPrompt="1"/>
          </p:nvPr>
        </p:nvSpPr>
        <p:spPr>
          <a:xfrm>
            <a:off x="27889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2" name="step2_body"/>
          <p:cNvSpPr/>
          <p:nvPr>
            <p:ph idx="110" type="body" hasCustomPrompt="1"/>
          </p:nvPr>
        </p:nvSpPr>
        <p:spPr>
          <a:xfrm>
            <a:off x="278892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3" name="step3_when"/>
          <p:cNvSpPr/>
          <p:nvPr>
            <p:ph idx="111" type="body" hasCustomPrompt="1"/>
          </p:nvPr>
        </p:nvSpPr>
        <p:spPr>
          <a:xfrm>
            <a:off x="5029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step3_head"/>
          <p:cNvSpPr/>
          <p:nvPr>
            <p:ph idx="112" type="body" hasCustomPrompt="1"/>
          </p:nvPr>
        </p:nvSpPr>
        <p:spPr>
          <a:xfrm>
            <a:off x="502920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5" name="step3_body"/>
          <p:cNvSpPr/>
          <p:nvPr>
            <p:ph idx="113" type="body" hasCustomPrompt="1"/>
          </p:nvPr>
        </p:nvSpPr>
        <p:spPr>
          <a:xfrm>
            <a:off x="502920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6" name="step4_when"/>
          <p:cNvSpPr/>
          <p:nvPr>
            <p:ph idx="114" type="body" hasCustomPrompt="1"/>
          </p:nvPr>
        </p:nvSpPr>
        <p:spPr>
          <a:xfrm>
            <a:off x="72694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7" name="step4_head"/>
          <p:cNvSpPr/>
          <p:nvPr>
            <p:ph idx="115" type="body" hasCustomPrompt="1"/>
          </p:nvPr>
        </p:nvSpPr>
        <p:spPr>
          <a:xfrm>
            <a:off x="726948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8" name="step4_body"/>
          <p:cNvSpPr/>
          <p:nvPr>
            <p:ph idx="116" type="body" hasCustomPrompt="1"/>
          </p:nvPr>
        </p:nvSpPr>
        <p:spPr>
          <a:xfrm>
            <a:off x="726948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9" name="step5_when"/>
          <p:cNvSpPr/>
          <p:nvPr>
            <p:ph idx="117" type="body" hasCustomPrompt="1"/>
          </p:nvPr>
        </p:nvSpPr>
        <p:spPr>
          <a:xfrm>
            <a:off x="950976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step5_head"/>
          <p:cNvSpPr/>
          <p:nvPr>
            <p:ph idx="118" type="body" hasCustomPrompt="1"/>
          </p:nvPr>
        </p:nvSpPr>
        <p:spPr>
          <a:xfrm>
            <a:off x="950976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1" name="step5_body"/>
          <p:cNvSpPr/>
          <p:nvPr>
            <p:ph idx="119" type="body" hasCustomPrompt="1"/>
          </p:nvPr>
        </p:nvSpPr>
        <p:spPr>
          <a:xfrm>
            <a:off x="950976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al cards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8" name="card1"/>
          <p:cNvSpPr/>
          <p:nvPr>
            <p:ph idx="106" type="body" hasCustomPrompt="1"/>
          </p:nvPr>
        </p:nvSpPr>
        <p:spPr>
          <a:xfrm>
            <a:off x="676656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279392" y="1645920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10" name="card2"/>
          <p:cNvSpPr/>
          <p:nvPr>
            <p:ph idx="108" type="body" hasCustomPrompt="1"/>
          </p:nvPr>
        </p:nvSpPr>
        <p:spPr>
          <a:xfrm>
            <a:off x="4407408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5"/>
          <p:cNvSpPr/>
          <p:nvPr/>
        </p:nvSpPr>
        <p:spPr>
          <a:xfrm>
            <a:off x="8010144" y="1645920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12" name="card3"/>
          <p:cNvSpPr/>
          <p:nvPr>
            <p:ph idx="110" type="body" hasCustomPrompt="1"/>
          </p:nvPr>
        </p:nvSpPr>
        <p:spPr>
          <a:xfrm>
            <a:off x="8138160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3" name="Shape 6"/>
          <p:cNvSpPr/>
          <p:nvPr/>
        </p:nvSpPr>
        <p:spPr>
          <a:xfrm>
            <a:off x="548640" y="3547872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14" name="card4"/>
          <p:cNvSpPr/>
          <p:nvPr>
            <p:ph idx="112" type="body" hasCustomPrompt="1"/>
          </p:nvPr>
        </p:nvSpPr>
        <p:spPr>
          <a:xfrm>
            <a:off x="676656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4279392" y="3547872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16" name="card5"/>
          <p:cNvSpPr/>
          <p:nvPr>
            <p:ph idx="114" type="body" hasCustomPrompt="1"/>
          </p:nvPr>
        </p:nvSpPr>
        <p:spPr>
          <a:xfrm>
            <a:off x="4407408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7" name="Shape 8"/>
          <p:cNvSpPr/>
          <p:nvPr/>
        </p:nvSpPr>
        <p:spPr>
          <a:xfrm>
            <a:off x="8010144" y="3547872"/>
            <a:ext cx="3611880" cy="1783080"/>
          </a:xfrm>
          <a:prstGeom prst="rect">
            <a:avLst/>
          </a:prstGeom>
          <a:solidFill>
            <a:srgbClr val="FBF9F3"/>
          </a:solidFill>
          <a:ln w="9525">
            <a:solidFill>
              <a:srgbClr val="D6CFBE"/>
            </a:solidFill>
            <a:prstDash val="solid"/>
          </a:ln>
        </p:spPr>
      </p:sp>
      <p:sp>
        <p:nvSpPr>
          <p:cNvPr id="18" name="card6"/>
          <p:cNvSpPr/>
          <p:nvPr>
            <p:ph idx="116" type="body" hasCustomPrompt="1"/>
          </p:nvPr>
        </p:nvSpPr>
        <p:spPr>
          <a:xfrm>
            <a:off x="8138160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talk"/>
          <p:cNvSpPr/>
          <p:nvPr>
            <p:ph idx="117" type="body" hasCustomPrompt="1"/>
          </p:nvPr>
        </p:nvSpPr>
        <p:spPr>
          <a:xfrm>
            <a:off x="548640" y="55138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48640" y="1645920"/>
            <a:ext cx="110642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3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9370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9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6CFB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26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 wrap="square"/>
          <a:lstStyle/>
          <a:p>
            <a:r>
              <a:rPr/>
              <a:t>LONDON OFFICE MARKET  ·  OWNER UPDATE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rPr/>
              <a:t>Occupiers are back; capital is still cautious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 wrap="square"/>
          <a:lstStyle/>
          <a:p>
            <a:r>
              <a:rPr/>
              <a:t>Board brief  ·  figures to Q2 2026  ·  10 Oct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 wrap="square"/>
          <a:lstStyle/>
          <a:p>
            <a:r>
              <a:rPr/>
              <a:t>Central London vacancy fell to 8.0% in Q2 2026 from 8.5% in Q1 2026, with take-up of 3.10m sq ft, 11% above the long-term average, and active requirements up to 14.30m sq ft.</a:t>
            </a:r>
          </a:p>
          <a:p>
            <a:r>
              <a:rPr/>
              <a:t>Investment was £2.00bn in Q2 2026 against £1.90bn in Q1 2026, 36% below the long-term average.</a:t>
            </a:r>
          </a:p>
          <a:p>
            <a:r>
              <a:rPr/>
              <a:t>To watch: investment sentiment hit by renewed interest rate volatility (London).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 wrap="square"/>
          <a:lstStyle/>
          <a:p>
            <a:r>
              <a:rPr sz="900" b="1">
                <a:solidFill>
                  <a:srgbClr val="C8D2CA"/>
                </a:solidFill>
              </a:rPr>
              <a:t>VACANCY RATE · Q2 2026</a:t>
            </a:r>
          </a:p>
          <a:p>
            <a:r>
              <a:rPr sz="3000" b="1">
                <a:solidFill>
                  <a:srgbClr val="FFFFFF"/>
                </a:solidFill>
                <a:latin typeface="Georgia"/>
              </a:rPr>
              <a:t>8.0%</a:t>
            </a:r>
            <a:r>
              <a:rPr sz="1000">
                <a:solidFill>
                  <a:srgbClr val="C8D2CA"/>
                </a:solidFill>
              </a:rPr>
              <a:t/>
            </a:r>
            <a:r>
              <a:rPr sz="1000">
                <a:solidFill>
                  <a:srgbClr val="C8D2CA"/>
                </a:solidFill>
              </a:rPr>
              <a:t> [1]</a:t>
            </a:r>
          </a:p>
          <a:p>
            <a:r>
              <a:rPr sz="1000">
                <a:solidFill>
                  <a:srgbClr val="C8D2CA"/>
                </a:solidFill>
              </a:rPr>
              <a:t>−0.50pp vs Q1 2026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 sz="900" b="1">
                <a:solidFill>
                  <a:srgbClr val="C8D2CA"/>
                </a:solidFill>
              </a:rPr>
              <a:t>TAKE-UP · Q2 2026</a:t>
            </a:r>
          </a:p>
          <a:p>
            <a:r>
              <a:rPr sz="3000" b="1">
                <a:solidFill>
                  <a:srgbClr val="FFFFFF"/>
                </a:solidFill>
                <a:latin typeface="Georgia"/>
              </a:rPr>
              <a:t>3.10m sq ft</a:t>
            </a:r>
            <a:r>
              <a:rPr sz="1000">
                <a:solidFill>
                  <a:srgbClr val="C8D2CA"/>
                </a:solidFill>
              </a:rPr>
              <a:t/>
            </a:r>
            <a:r>
              <a:rPr sz="1000">
                <a:solidFill>
                  <a:srgbClr val="C8D2CA"/>
                </a:solidFill>
              </a:rPr>
              <a:t> [1]</a:t>
            </a:r>
          </a:p>
          <a:p>
            <a:r>
              <a:rPr sz="1000">
                <a:solidFill>
                  <a:srgbClr val="C8D2CA"/>
                </a:solidFill>
              </a:rPr>
              <a:t>+0.60 vs Q1 2026 · +11% vs LTA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9"/>
          </p:nvPr>
        </p:nvSpPr>
        <p:spPr/>
        <p:txBody>
          <a:bodyPr wrap="square"/>
          <a:lstStyle/>
          <a:p>
            <a:r>
              <a:rPr sz="900" b="1">
                <a:solidFill>
                  <a:srgbClr val="C8D2CA"/>
                </a:solidFill>
              </a:rPr>
              <a:t>INVESTMENT VOLUME · Q2 2026</a:t>
            </a:r>
          </a:p>
          <a:p>
            <a:r>
              <a:rPr sz="3000" b="1">
                <a:solidFill>
                  <a:srgbClr val="FFFFFF"/>
                </a:solidFill>
                <a:latin typeface="Georgia"/>
              </a:rPr>
              <a:t>£2.00bn</a:t>
            </a:r>
            <a:r>
              <a:rPr sz="1000">
                <a:solidFill>
                  <a:srgbClr val="C8D2CA"/>
                </a:solidFill>
              </a:rPr>
              <a:t/>
            </a:r>
            <a:r>
              <a:rPr sz="1000">
                <a:solidFill>
                  <a:srgbClr val="C8D2CA"/>
                </a:solidFill>
              </a:rPr>
              <a:t> [1]</a:t>
            </a:r>
          </a:p>
          <a:p>
            <a:r>
              <a:rPr sz="1000">
                <a:solidFill>
                  <a:srgbClr val="C8D2CA"/>
                </a:solidFill>
              </a:rPr>
              <a:t>+0.10 vs Q1 2026 · -36% vs LTA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1"/>
          </p:nvPr>
        </p:nvSpPr>
        <p:spPr/>
        <p:txBody>
          <a:bodyPr wrap="square"/>
          <a:lstStyle/>
          <a:p>
            <a:r>
              <a:rPr sz="900" b="1">
                <a:solidFill>
                  <a:srgbClr val="C8D2CA"/>
                </a:solidFill>
              </a:rPr>
              <a:t>BANK RATE</a:t>
            </a:r>
          </a:p>
          <a:p>
            <a:r>
              <a:rPr sz="3000" b="1">
                <a:solidFill>
                  <a:srgbClr val="FFFFFF"/>
                </a:solidFill>
                <a:latin typeface="Georgia"/>
              </a:rPr>
              <a:t>3.75%</a:t>
            </a:r>
            <a:r>
              <a:rPr sz="1000">
                <a:solidFill>
                  <a:srgbClr val="C8D2CA"/>
                </a:solidFill>
              </a:rPr>
              <a:t/>
            </a:r>
            <a:r>
              <a:rPr sz="1000">
                <a:solidFill>
                  <a:srgbClr val="C8D2CA"/>
                </a:solidFill>
              </a:rPr>
              <a:t> [2]</a:t>
            </a:r>
          </a:p>
          <a:p>
            <a:r>
              <a:rPr sz="1000">
                <a:solidFill>
                  <a:srgbClr val="C8D2CA"/>
                </a:solidFill>
              </a:rPr>
              <a:t>as of 2026-06-18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2"/>
          </p:nvPr>
        </p:nvSpPr>
        <p:spPr/>
        <p:txBody>
          <a:bodyPr wrap="square"/>
          <a:lstStyle/>
          <a:p>
            <a:r>
              <a:rPr/>
              <a:t>Figures restated from public research for this proof of concept (Knight Frank terms bar AI use of their data); verify against the original before external 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 wrap="square"/>
          <a:lstStyle/>
          <a:p>
            <a:r>
              <a:rPr/>
              <a:t>THE CALL THIS WEEK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2"/>
          </p:nvPr>
        </p:nvSpPr>
        <p:spPr/>
        <p:txBody>
          <a:bodyPr wrap="square"/>
          <a:lstStyle/>
          <a:p>
            <a:r>
              <a:rPr/>
              <a:t>Leasing has turned. </a:t>
            </a:r>
            <a:r>
              <a:rPr i="1">
                <a:solidFill>
                  <a:srgbClr val="93703A"/>
                </a:solidFill>
              </a:rPr>
              <a:t>Pricing has not.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 wrap="square"/>
          <a:lstStyle/>
          <a:p>
            <a:r>
              <a:rPr/>
              <a:t>Take-up is 11% above its long-term average; investment is 36% below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02  ·  THE QUARTER IN FOUR 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Vacancy fell to </a:t>
            </a:r>
            <a:r>
              <a:rPr i="1">
                <a:solidFill>
                  <a:srgbClr val="93703A"/>
                </a:solidFill>
              </a:rPr>
              <a:t>8.0%</a:t>
            </a:r>
            <a:r>
              <a:rPr/>
              <a:t> as take-up ran ahead of average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 wrap="square"/>
          <a:lstStyle/>
          <a:p>
            <a:r>
              <a:rPr/>
              <a:t>8.0%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/>
              <a:t>VACANCY RATE · Q2 2026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8"/>
          </p:nvPr>
        </p:nvSpPr>
        <p:spPr/>
        <p:txBody>
          <a:bodyPr wrap="square"/>
          <a:lstStyle/>
          <a:p>
            <a:r>
              <a:rPr/>
              <a:t>−0.50pp vs Q1 2026 [1]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0"/>
          </p:nvPr>
        </p:nvSpPr>
        <p:spPr/>
        <p:txBody>
          <a:bodyPr wrap="square"/>
          <a:lstStyle/>
          <a:p>
            <a:r>
              <a:rPr/>
              <a:t>3.10m sq ft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1"/>
          </p:nvPr>
        </p:nvSpPr>
        <p:spPr/>
        <p:txBody>
          <a:bodyPr wrap="square"/>
          <a:lstStyle/>
          <a:p>
            <a:r>
              <a:rPr/>
              <a:t>TAKE-UP · Q2 2026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2"/>
          </p:nvPr>
        </p:nvSpPr>
        <p:spPr/>
        <p:txBody>
          <a:bodyPr wrap="square"/>
          <a:lstStyle/>
          <a:p>
            <a:r>
              <a:rPr/>
              <a:t>+0.60 vs Q1 2026 [1] +11% against the long-term average.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4"/>
          </p:nvPr>
        </p:nvSpPr>
        <p:spPr/>
        <p:txBody>
          <a:bodyPr wrap="square"/>
          <a:lstStyle/>
          <a:p>
            <a:r>
              <a:rPr/>
              <a:t>£2.00bn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15"/>
          </p:nvPr>
        </p:nvSpPr>
        <p:spPr/>
        <p:txBody>
          <a:bodyPr wrap="square"/>
          <a:lstStyle/>
          <a:p>
            <a:r>
              <a:rPr/>
              <a:t>INVESTMENT VOLUME · Q2 2026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16"/>
          </p:nvPr>
        </p:nvSpPr>
        <p:spPr/>
        <p:txBody>
          <a:bodyPr wrap="square"/>
          <a:lstStyle/>
          <a:p>
            <a:r>
              <a:rPr/>
              <a:t>+0.10 vs Q1 2026 [1] -36% against the long-term average.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18"/>
          </p:nvPr>
        </p:nvSpPr>
        <p:spPr/>
        <p:txBody>
          <a:bodyPr wrap="square"/>
          <a:lstStyle/>
          <a:p>
            <a:r>
              <a:rPr/>
              <a:t>3.75%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19"/>
          </p:nvPr>
        </p:nvSpPr>
        <p:spPr/>
        <p:txBody>
          <a:bodyPr wrap="square"/>
          <a:lstStyle/>
          <a:p>
            <a:r>
              <a:rPr/>
              <a:t>BANK RATE · AS OF 2026-06-18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20"/>
          </p:nvPr>
        </p:nvSpPr>
        <p:spPr/>
        <p:txBody>
          <a:bodyPr wrap="square"/>
          <a:lstStyle/>
          <a:p>
            <a:r>
              <a:rPr/>
              <a:t>Bank of England Bank Rate [2].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21"/>
          </p:nvPr>
        </p:nvSpPr>
        <p:spPr/>
        <p:txBody>
          <a:bodyPr wrap="square"/>
          <a:lstStyle/>
          <a:p>
            <a:r>
              <a:rPr/>
              <a:t>CENTRAL LONDON VACANCY RATE</a:t>
            </a:r>
          </a:p>
        </p:txBody>
      </p:sp>
      <p:graphicFrame>
        <p:nvGraphicFramePr>
          <p:cNvPr id="17" name="Chart Placeholder 16"/>
          <p:cNvGraphicFramePr>
            <a:graphicFrameLocks noGrp="1"/>
          </p:cNvGraphicFramePr>
          <p:nvPr>
            <p:ph type="chart" idx="122"/>
          </p:nvPr>
        </p:nvGraphicFramePr>
        <p:xfrm>
          <a:off x="457200" y="3767328"/>
          <a:ext cx="1118311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Placeholder 17"/>
          <p:cNvSpPr>
            <a:spLocks noGrp="1"/>
          </p:cNvSpPr>
          <p:nvPr>
            <p:ph type="body" idx="123"/>
          </p:nvPr>
        </p:nvSpPr>
        <p:spPr/>
        <p:txBody>
          <a:bodyPr wrap="square"/>
          <a:lstStyle/>
          <a:p>
            <a:r>
              <a:rPr/>
              <a:t>Source [3]. Quarters with no figures in the library are not shown.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41848"/>
            <a:ext cx="11091672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900" b="1">
                <a:solidFill>
                  <a:srgbClr val="93703A"/>
                </a:solidFill>
              </a:rPr>
              <a:t>SO WHAT    </a:t>
            </a:r>
            <a:r>
              <a:rPr sz="1200" i="1">
                <a:solidFill>
                  <a:srgbClr val="FFFFFF"/>
                </a:solidFill>
              </a:rPr>
              <a:t>Less space on the market supports rents in the core submarkets.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C7268"/>
                </a:solidFill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03  ·  WHAT IT MEANS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Three things to tell owners this week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/>
              <a:t>Demand is building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8"/>
          </p:nvPr>
        </p:nvSpPr>
        <p:spPr/>
        <p:txBody>
          <a:bodyPr wrap="square"/>
          <a:lstStyle/>
          <a:p>
            <a:r>
              <a:rPr/>
              <a:t>Active requirements are up to 14.30m sq ft and take-up of 3.10m sq ft is 11% above the long-term average.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1"/>
          </p:nvPr>
        </p:nvSpPr>
        <p:spPr/>
        <p:txBody>
          <a:bodyPr wrap="square"/>
          <a:lstStyle/>
          <a:p>
            <a:r>
              <a:rPr/>
              <a:t>Core rents are holding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2"/>
          </p:nvPr>
        </p:nvSpPr>
        <p:spPr/>
        <p:txBody>
          <a:bodyPr wrap="square"/>
          <a:lstStyle/>
          <a:p>
            <a:r>
              <a:rPr/>
              <a:t>West End Core leads at £185/sq ft and few submarkets moved on the quarter.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5"/>
          </p:nvPr>
        </p:nvSpPr>
        <p:spPr/>
        <p:txBody>
          <a:bodyPr wrap="square"/>
          <a:lstStyle/>
          <a:p>
            <a:r>
              <a:rPr/>
              <a:t>Capital is selective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6"/>
          </p:nvPr>
        </p:nvSpPr>
        <p:spPr/>
        <p:txBody>
          <a:bodyPr wrap="square"/>
          <a:lstStyle/>
          <a:p>
            <a:r>
              <a:rPr/>
              <a:t>Investment of £2.00bn is 36% below the long-term average; City &amp; Southbank is 77% below its 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41848"/>
            <a:ext cx="11091672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900" b="1">
                <a:solidFill>
                  <a:srgbClr val="93703A"/>
                </a:solidFill>
              </a:rPr>
              <a:t>SO WHAT    </a:t>
            </a:r>
            <a:r>
              <a:rPr sz="1200" i="1">
                <a:solidFill>
                  <a:srgbClr val="FFFFFF"/>
                </a:solidFill>
              </a:rPr>
              <a:t>Hold asking rents in the core; price City assets off the Churchill Place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C7268"/>
                </a:solidFill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04  ·  HOW WE GOT HERE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Five quarters of falling vacancy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 wrap="square"/>
          <a:lstStyle/>
          <a:p>
            <a:r>
              <a:rPr/>
              <a:t>Q2 2025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6"/>
          </p:nvPr>
        </p:nvSpPr>
        <p:spPr/>
        <p:txBody>
          <a:bodyPr wrap="square"/>
          <a:lstStyle/>
          <a:p>
            <a:r>
              <a:rPr/>
              <a:t>Vacancy 8.8%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/>
              <a:t>Take-up 3.53m sq ft [6]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8"/>
          </p:nvPr>
        </p:nvSpPr>
        <p:spPr/>
        <p:txBody>
          <a:bodyPr wrap="square"/>
          <a:lstStyle/>
          <a:p>
            <a:r>
              <a:rPr/>
              <a:t>Q3 2025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9"/>
          </p:nvPr>
        </p:nvSpPr>
        <p:spPr/>
        <p:txBody>
          <a:bodyPr wrap="square"/>
          <a:lstStyle/>
          <a:p>
            <a:r>
              <a:rPr/>
              <a:t>Vacancy 9.0%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0"/>
          </p:nvPr>
        </p:nvSpPr>
        <p:spPr/>
        <p:txBody>
          <a:bodyPr wrap="square"/>
          <a:lstStyle/>
          <a:p>
            <a:r>
              <a:rPr/>
              <a:t>Take-up 2.70m sq ft [7]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1"/>
          </p:nvPr>
        </p:nvSpPr>
        <p:spPr/>
        <p:txBody>
          <a:bodyPr wrap="square"/>
          <a:lstStyle/>
          <a:p>
            <a:r>
              <a:rPr/>
              <a:t>Q4 2025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12"/>
          </p:nvPr>
        </p:nvSpPr>
        <p:spPr/>
        <p:txBody>
          <a:bodyPr wrap="square"/>
          <a:lstStyle/>
          <a:p>
            <a:r>
              <a:rPr/>
              <a:t>Vacancy 8.6%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13"/>
          </p:nvPr>
        </p:nvSpPr>
        <p:spPr/>
        <p:txBody>
          <a:bodyPr wrap="square"/>
          <a:lstStyle/>
          <a:p>
            <a:r>
              <a:rPr/>
              <a:t>Take-up 3.30m sq ft [8]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14"/>
          </p:nvPr>
        </p:nvSpPr>
        <p:spPr/>
        <p:txBody>
          <a:bodyPr wrap="square"/>
          <a:lstStyle/>
          <a:p>
            <a:r>
              <a:rPr/>
              <a:t>Q1 2026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15"/>
          </p:nvPr>
        </p:nvSpPr>
        <p:spPr/>
        <p:txBody>
          <a:bodyPr wrap="square"/>
          <a:lstStyle/>
          <a:p>
            <a:r>
              <a:rPr/>
              <a:t>Vacancy 8.5%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16"/>
          </p:nvPr>
        </p:nvSpPr>
        <p:spPr/>
        <p:txBody>
          <a:bodyPr wrap="square"/>
          <a:lstStyle/>
          <a:p>
            <a:r>
              <a:rPr/>
              <a:t>Take-up 2.50m sq ft [9]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17"/>
          </p:nvPr>
        </p:nvSpPr>
        <p:spPr/>
        <p:txBody>
          <a:bodyPr wrap="square"/>
          <a:lstStyle/>
          <a:p>
            <a:r>
              <a:rPr/>
              <a:t>Q2 2026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118"/>
          </p:nvPr>
        </p:nvSpPr>
        <p:spPr/>
        <p:txBody>
          <a:bodyPr wrap="square"/>
          <a:lstStyle/>
          <a:p>
            <a:r>
              <a:rPr/>
              <a:t>Vacancy 8.0%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119"/>
          </p:nvPr>
        </p:nvSpPr>
        <p:spPr/>
        <p:txBody>
          <a:bodyPr wrap="square"/>
          <a:lstStyle/>
          <a:p>
            <a:r>
              <a:rPr/>
              <a:t>Take-up 3.10m sq ft [1]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936" y="2761488"/>
            <a:ext cx="8961120" cy="0"/>
          </a:xfrm>
          <a:prstGeom prst="line">
            <a:avLst/>
          </a:prstGeom>
          <a:ln w="19050">
            <a:solidFill>
              <a:srgbClr val="D6C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F3EFE4"/>
          </a:solidFill>
          <a:ln w="19050">
            <a:solidFill>
              <a:srgbClr val="93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88920" y="2679192"/>
            <a:ext cx="164592" cy="164592"/>
          </a:xfrm>
          <a:prstGeom prst="ellipse">
            <a:avLst/>
          </a:prstGeom>
          <a:solidFill>
            <a:srgbClr val="F3EFE4"/>
          </a:solidFill>
          <a:ln w="19050">
            <a:solidFill>
              <a:srgbClr val="93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2679192"/>
            <a:ext cx="164592" cy="164592"/>
          </a:xfrm>
          <a:prstGeom prst="ellipse">
            <a:avLst/>
          </a:prstGeom>
          <a:solidFill>
            <a:srgbClr val="F3EFE4"/>
          </a:solidFill>
          <a:ln w="19050">
            <a:solidFill>
              <a:srgbClr val="93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69480" y="2679192"/>
            <a:ext cx="164592" cy="164592"/>
          </a:xfrm>
          <a:prstGeom prst="ellipse">
            <a:avLst/>
          </a:prstGeom>
          <a:solidFill>
            <a:srgbClr val="F3EFE4"/>
          </a:solidFill>
          <a:ln w="19050">
            <a:solidFill>
              <a:srgbClr val="93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09760" y="2679192"/>
            <a:ext cx="164592" cy="164592"/>
          </a:xfrm>
          <a:prstGeom prst="ellipse">
            <a:avLst/>
          </a:prstGeom>
          <a:solidFill>
            <a:srgbClr val="93703A"/>
          </a:solidFill>
          <a:ln w="19050">
            <a:solidFill>
              <a:srgbClr val="93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C7268"/>
                </a:solidFill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Sources and caveats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>
          <a:xfrm>
            <a:off x="548640" y="1645920"/>
            <a:ext cx="11064240" cy="4389120"/>
          </a:xfrm>
        </p:spPr>
        <p:txBody>
          <a:bodyPr wrap="square"/>
          <a:lstStyle/>
          <a:p>
            <a:r>
              <a:rPr/>
              <a:t>[1] London Offices Spotlight Q2 2026 (Uploaded by PoC seed · 2026-10-10) - https://www.knightfrank.co.uk/site-assets/research/report-pdfs/london-office-spotlight/spotlight-q2-2026.pdf</a:t>
            </a:r>
          </a:p>
          <a:p>
            <a:r>
              <a:rPr/>
              <a:t>[2] Bank of England Bank Rate - https://www.bankofengland.co.uk/boeapps/database/Bank-Rate.asp</a:t>
            </a:r>
          </a:p>
          <a:p>
            <a:r>
              <a:rPr/>
              <a:t>[3] The London Office Market Report Q1 2024 (Uploaded by PoC seed · 2026-10-10) - https://content.knightfrank.com/research/104/documents/en/the-london-office-market-report-q1-2024-11170.pdf</a:t>
            </a:r>
          </a:p>
          <a:p>
            <a:r>
              <a:rPr/>
              <a:t>[4] London Offices Spotlight Q2 2024 (Uploaded by PoC seed · 2026-10-10) - https://content.knightfrank.com/research/1903/documents/en/london-offices-spotlight-q2-2024-11338.pdf</a:t>
            </a:r>
          </a:p>
          <a:p>
            <a:r>
              <a:rPr/>
              <a:t>[5] The London Office Market Report Q3 2024 (Uploaded by PoC seed · 2026-10-10) - https://www.knightfrank.co.uk/research/reports/the-london-office-market-report-104/contentassets/the-london-office-market-report-q3-2024-11701.pdf</a:t>
            </a:r>
          </a:p>
          <a:p>
            <a:r>
              <a:rPr/>
              <a:t>[6] The London Office Market Report Q2 2025 (Uploaded by PoC seed · 2026-10-10) - https://content.knightfrank.com/research/104/documents/en/the-london-office-market-report-q2-2025-12541.pdf</a:t>
            </a:r>
          </a:p>
          <a:p>
            <a:r>
              <a:rPr/>
              <a:t>[7] London Offices Spotlight Q3 2025 (Uploaded by PoC seed · 2026-10-10) - https://content.knightfrank.com/research/1903/documents/en/london-offices-spotlight-q3-2025-12540.pdf</a:t>
            </a:r>
          </a:p>
          <a:p>
            <a:r>
              <a:rPr/>
              <a:t>[8] London Offices Spotlight Q4 2025 (Uploaded by PoC seed · 2026-10-10) - https://www.knightfrank.co.uk/site-assets/research/report-pdfs/spotlight/spotlight-q4-2025-2.pdf</a:t>
            </a:r>
          </a:p>
          <a:p>
            <a:r>
              <a:rPr/>
              <a:t>[9] London Offices Spotlight Q1 2026 (Uploaded by PoC seed · 2026-10-10) - https://www.knightfrank.co.uk/site-assets/research/report-pdfs/london-office-spotlight/spotlight-q1-2026v3.pdf</a:t>
            </a:r>
          </a:p>
          <a:p>
            <a:r>
              <a:rPr/>
              <a:t>[10] Knight Frank research (seed) (2026-06-30) - https://www.knightfrank.co.uk/site-assets/research/report-pdfs/london-office-spotlight/spotlight-q2-2026.pdf</a:t>
            </a:r>
          </a:p>
          <a:p>
            <a:r>
              <a:rPr/>
              <a:t/>
            </a:r>
          </a:p>
          <a:p>
            <a:r>
              <a:rPr i="1">
                <a:solidFill>
                  <a:srgbClr val="6C7268"/>
                </a:solidFill>
              </a:rPr>
              <a:t>Figures restated from public research for this proof of concept (Knight Frank terms bar AI use of their data); verify against the original before external use.</a:t>
            </a:r>
          </a:p>
        </p:txBody>
      </p:sp>
      <p:sp>
        <p:nvSpPr>
          <p:cNvPr id="5" name="tier dot open"/>
          <p:cNvSpPr/>
          <p:nvPr/>
        </p:nvSpPr>
        <p:spPr>
          <a:xfrm>
            <a:off x="548640" y="6227064"/>
            <a:ext cx="88900" cy="88900"/>
          </a:xfrm>
          <a:prstGeom prst="ellipse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5640" y="6144768"/>
            <a:ext cx="2138679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C7268"/>
                </a:solidFill>
              </a:rPr>
              <a:t>Open data, collected automatically</a:t>
            </a:r>
          </a:p>
        </p:txBody>
      </p:sp>
      <p:sp>
        <p:nvSpPr>
          <p:cNvPr id="7" name="tier dot uploaded"/>
          <p:cNvSpPr/>
          <p:nvPr/>
        </p:nvSpPr>
        <p:spPr>
          <a:xfrm>
            <a:off x="2997199" y="6227064"/>
            <a:ext cx="88900" cy="88900"/>
          </a:xfrm>
          <a:prstGeom prst="ellipse">
            <a:avLst/>
          </a:prstGeom>
          <a:solidFill>
            <a:srgbClr val="B97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24199" y="6144768"/>
            <a:ext cx="31318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C7268"/>
                </a:solidFill>
              </a:rPr>
              <a:t>Uploaded by a colleague under the team's own access</a:t>
            </a:r>
          </a:p>
        </p:txBody>
      </p:sp>
      <p:sp>
        <p:nvSpPr>
          <p:cNvPr id="9" name="tier dot internal"/>
          <p:cNvSpPr/>
          <p:nvPr/>
        </p:nvSpPr>
        <p:spPr>
          <a:xfrm>
            <a:off x="6438899" y="6227064"/>
            <a:ext cx="88900" cy="88900"/>
          </a:xfrm>
          <a:prstGeom prst="ellipse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899" y="6144768"/>
            <a:ext cx="1612899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C7268"/>
                </a:solidFill>
              </a:rPr>
              <a:t>Internal, our own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C7268"/>
                </a:solidFill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office team: weekly brief</dc:title>
  <dc:subject>PptxGenJS Presentation</dc:subject>
  <dc:creator>London Office Market Agent</dc:creator>
  <cp:lastModifiedBy>PptxGenJS</cp:lastModifiedBy>
  <cp:revision>1</cp:revision>
  <dcterms:created xsi:type="dcterms:W3CDTF">2026-10-10T13:15:17Z</dcterms:created>
  <dcterms:modified xsi:type="dcterms:W3CDTF">2026-10-10T13:15:17Z</dcterms:modified>
</cp:coreProperties>
</file>