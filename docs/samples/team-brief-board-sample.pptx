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Vacancy</c:v>
                </c:pt>
              </c:strCache>
            </c:strRef>
          </c:tx>
          <c:spPr>
            <a:ln w="28575">
              <a:solidFill>
                <a:srgbClr val="3A62A8"/>
              </a:solidFill>
            </a:ln>
          </c:spPr>
          <c:marker>
            <c:size val="8"/>
            <c:spPr>
              <a:solidFill>
                <a:srgbClr val="3A62A8"/>
              </a:solidFill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0"/>
                      <a:t>9.9%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/>
                      <a:t>8.0%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</c:v>
                </c:pt>
                <c:pt idx="1">
                  <c:v>9.4</c:v>
                </c:pt>
                <c:pt idx="2">
                  <c:v>9.1</c:v>
                </c:pt>
                <c:pt idx="3">
                  <c:v>8.8</c:v>
                </c:pt>
                <c:pt idx="4">
                  <c:v>9.0</c:v>
                </c:pt>
                <c:pt idx="5">
                  <c:v>8.6</c:v>
                </c:pt>
                <c:pt idx="6">
                  <c:v>8.5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7.0"/>
        </c:scaling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Take-up</c:v>
                </c:pt>
              </c:strCache>
            </c:strRef>
          </c:tx>
          <c:spPr>
            <a:solidFill>
              <a:srgbClr val="3A62A8"/>
            </a:solidFill>
          </c:spPr>
          <c:dPt>
            <c:idx val="7"/>
            <c:spPr>
              <a:solidFill>
                <a:srgbClr val="B9781A"/>
              </a:solidFill>
            </c:spPr>
          </c:dPt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1.88</c:v>
                </c:pt>
                <c:pt idx="1">
                  <c:v>2.45</c:v>
                </c:pt>
                <c:pt idx="2">
                  <c:v>3.01</c:v>
                </c:pt>
                <c:pt idx="3">
                  <c:v>3.53</c:v>
                </c:pt>
                <c:pt idx="4">
                  <c:v>2.7</c:v>
                </c:pt>
                <c:pt idx="5">
                  <c:v>3.3</c:v>
                </c:pt>
                <c:pt idx="6">
                  <c:v>2.5</c:v>
                </c:pt>
                <c:pt idx="7">
                  <c:v>3.1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F2A4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Q2 2026</c:v>
                </c:pt>
              </c:strCache>
            </c:strRef>
          </c:tx>
          <c:spPr>
            <a:solidFill>
              <a:srgbClr val="3A62A8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0.91</c:v>
                </c:pt>
                <c:pt idx="1">
                  <c:v>0.37</c:v>
                </c:pt>
                <c:pt idx="2">
                  <c:v>0.75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Long-term average</c:v>
                </c:pt>
              </c:strCache>
            </c:strRef>
          </c:tx>
          <c:spPr>
            <a:solidFill>
              <a:srgbClr val="B9781A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1.19</c:v>
                </c:pt>
                <c:pt idx="1">
                  <c:v>1.6</c:v>
                </c:pt>
                <c:pt idx="2">
                  <c:v>0.12</c:v>
                </c:pt>
              </c:numCache>
            </c:numRef>
          </c:val>
        </c:ser>
        <c:dLbls>
          <c:numFmt formatCode="&quot;£&quot;0.0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&quot;£&quot;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Take-up</c:v>
                </c:pt>
              </c:strCache>
            </c:strRef>
          </c:tx>
          <c:spPr>
            <a:solidFill>
              <a:srgbClr val="3A62A8"/>
            </a:solidFill>
          </c:spPr>
          <c:dPt>
            <c:idx val="7"/>
            <c:spPr>
              <a:solidFill>
                <a:srgbClr val="B9781A"/>
              </a:solidFill>
            </c:spPr>
          </c:dPt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1.88</c:v>
                </c:pt>
                <c:pt idx="1">
                  <c:v>2.45</c:v>
                </c:pt>
                <c:pt idx="2">
                  <c:v>3.01</c:v>
                </c:pt>
                <c:pt idx="3">
                  <c:v>3.53</c:v>
                </c:pt>
                <c:pt idx="4">
                  <c:v>2.7</c:v>
                </c:pt>
                <c:pt idx="5">
                  <c:v>3.3</c:v>
                </c:pt>
                <c:pt idx="6">
                  <c:v>2.5</c:v>
                </c:pt>
                <c:pt idx="7">
                  <c:v>3.1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F2A4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6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6CC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B738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The headline and the four KPIs open every brief.</a:t>
            </a:r>
          </a:p>
          <a:p>
            <a:r>
              <a:t>Headline: Central London vacancy fell to 8.0% in Q2 2026 from 8.5% in Q1 2026, with take-up of 3.10m sq ft, 11% above the long-term average, and active requirements up to 14.30m sq ft. Investment was £2.00bn in Q2 2026 against £1.90bn in Q1 2026, 36% below the long-term average. To watch: investment sentiment hit by renewed interest rate volatility (London).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Vacancy the lowest since Q1 2024; moved -0.50pp on the quarter; take-up +11% vs its long-term average</a:t>
            </a:r>
          </a:p>
          <a:p>
            <a:r>
              <a:t>Vacancy the lowest since Q1 2024; moved -0.50pp on the quarter; take-up +11% vs its long-term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Capital markets: investment 36% below the long-term average, +0.10bn on the quarter</a:t>
            </a:r>
          </a:p>
          <a:p>
            <a:r>
              <a:t>Capital markets: investment 36% below the long-term average, +0.10bn on the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Active requirements up +2.20m sq ft to 14.30m sq ft</a:t>
            </a:r>
          </a:p>
          <a:p>
            <a:r>
              <a:t>Active requirements up +2.20m sq ft to 14.30m sq 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6 signal cards the team ranked this week.</a:t>
            </a:r>
          </a:p>
          <a:p>
            <a:r>
              <a:t>- White City: Grade A vacancy 11.5% against 17.9% overall, gap widening: New and refurbished space in White City is 11.5% vacant against 17.9% for all space in Q2 2026, a gap of 6.4pp (from 5.0pp the quarter before). [1]</a:t>
            </a:r>
          </a:p>
          <a:p>
            <a:r>
              <a:t>- Barclays buys 1 Churchill Place, Canary Wharf, for £750m: Barclays has acquired its Canary Wharf headquarters at 1 Churchill Place for £750m, reflecting a 5.62% yield. The deal lifted Docklands &amp; Stratford investment turnover to £0.75bn in Q2 2026. [10]</a:t>
            </a:r>
          </a:p>
          <a:p>
            <a:r>
              <a:t>- Investment sentiment hit by renewed interest rate volatility: London office investment edged up to £2.0bn in Q2 2026, but sentiment was affected by renewed interest rate volatility. [10]</a:t>
            </a:r>
          </a:p>
          <a:p>
            <a:r>
              <a:t>- City &amp; Southbank investment volume -77% vs long-term average: Investment volume in City &amp; Southbank was £0.37bn in Q2 2026 against a long-term average of £1.60bn. [1]</a:t>
            </a:r>
          </a:p>
          <a:p>
            <a:r>
              <a:t>- Docklands &amp; Stratford investment volume +525% vs long-term average: Investment volume in Docklands &amp; Stratford was £0.75bn in Q2 2026 against a long-term average of £0.12bn. [1]</a:t>
            </a:r>
          </a:p>
          <a:p>
            <a:r>
              <a:t>- 540,000 sq ft speculative scheme due Q4 2027 in Rest of Docklands: One North Quay, E14 (540,000 sq ft) is under construction without a pre-let and is expected to complete in Q4 2027. [6]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Every figure carries [n]; this list maps each to its source.</a:t>
            </a:r>
          </a:p>
          <a:p>
            <a:r>
              <a:t>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D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hero"/>
          <p:cNvSpPr/>
          <p:nvPr>
            <p:ph idx="105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8" name="hero_caption"/>
          <p:cNvSpPr/>
          <p:nvPr>
            <p:ph idx="106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hero_context"/>
          <p:cNvSpPr/>
          <p:nvPr>
            <p:ph idx="107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chart_label"/>
          <p:cNvSpPr/>
          <p:nvPr>
            <p:ph idx="108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chart"/>
          <p:cNvSpPr/>
          <p:nvPr>
            <p:ph idx="109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B9781A"/>
            </a:solidFill>
            <a:prstDash val="solid"/>
          </a:ln>
        </p:spPr>
      </p:sp>
      <p:sp>
        <p:nvSpPr>
          <p:cNvPr id="8" name="stat1"/>
          <p:cNvSpPr/>
          <p:nvPr>
            <p:ph idx="106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9" name="stat1_caption"/>
          <p:cNvSpPr/>
          <p:nvPr>
            <p:ph idx="107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" name="stat1_context"/>
          <p:cNvSpPr/>
          <p:nvPr>
            <p:ph idx="108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4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B9781A"/>
            </a:solidFill>
            <a:prstDash val="solid"/>
          </a:ln>
        </p:spPr>
      </p:sp>
      <p:sp>
        <p:nvSpPr>
          <p:cNvPr id="12" name="stat2"/>
          <p:cNvSpPr/>
          <p:nvPr>
            <p:ph idx="110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3" name="stat2_caption"/>
          <p:cNvSpPr/>
          <p:nvPr>
            <p:ph idx="111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4" name="stat2_context"/>
          <p:cNvSpPr/>
          <p:nvPr>
            <p:ph idx="112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B9781A"/>
            </a:solidFill>
            <a:prstDash val="solid"/>
          </a:ln>
        </p:spPr>
      </p:sp>
      <p:sp>
        <p:nvSpPr>
          <p:cNvPr id="16" name="stat3"/>
          <p:cNvSpPr/>
          <p:nvPr>
            <p:ph idx="114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7" name="stat3_caption"/>
          <p:cNvSpPr/>
          <p:nvPr>
            <p:ph idx="115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8" name="stat3_context"/>
          <p:cNvSpPr/>
          <p:nvPr>
            <p:ph idx="116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6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B9781A"/>
            </a:solidFill>
            <a:prstDash val="solid"/>
          </a:ln>
        </p:spPr>
      </p:sp>
      <p:sp>
        <p:nvSpPr>
          <p:cNvPr id="20" name="stat4"/>
          <p:cNvSpPr/>
          <p:nvPr>
            <p:ph idx="118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1" name="stat4_caption"/>
          <p:cNvSpPr/>
          <p:nvPr>
            <p:ph idx="119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2" name="stat4_context"/>
          <p:cNvSpPr/>
          <p:nvPr>
            <p:ph idx="120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3" name="chart_label"/>
          <p:cNvSpPr/>
          <p:nvPr>
            <p:ph idx="121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"/>
          <p:cNvSpPr/>
          <p:nvPr>
            <p:ph idx="122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ource"/>
          <p:cNvSpPr/>
          <p:nvPr>
            <p:ph idx="123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Shape 3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EDEBE4"/>
          </a:solidFill>
          <a:ln/>
        </p:spPr>
      </p:sp>
      <p:sp>
        <p:nvSpPr>
          <p:cNvPr id="10" name="Shape 4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B9781A"/>
            </a:solidFill>
            <a:prstDash val="solid"/>
          </a:ln>
        </p:spPr>
      </p:sp>
      <p:sp>
        <p:nvSpPr>
          <p:cNvPr id="11" name="takeaway"/>
          <p:cNvSpPr/>
          <p:nvPr>
            <p:ph idx="109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left_label"/>
          <p:cNvSpPr/>
          <p:nvPr>
            <p:ph idx="105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left_chart"/>
          <p:cNvSpPr/>
          <p:nvPr>
            <p:ph idx="106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right_label"/>
          <p:cNvSpPr/>
          <p:nvPr>
            <p:ph idx="107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right_chart"/>
          <p:cNvSpPr/>
          <p:nvPr>
            <p:ph idx="108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able_label"/>
          <p:cNvSpPr/>
          <p:nvPr>
            <p:ph idx="107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table"/>
          <p:cNvSpPr/>
          <p:nvPr>
            <p:ph idx="108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9" name="pillar1_head"/>
          <p:cNvSpPr/>
          <p:nvPr>
            <p:ph idx="107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0" name="pillar1_body"/>
          <p:cNvSpPr/>
          <p:nvPr>
            <p:ph idx="108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Shape 6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13" name="pillar2_head"/>
          <p:cNvSpPr/>
          <p:nvPr>
            <p:ph idx="111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4" name="pillar2_body"/>
          <p:cNvSpPr/>
          <p:nvPr>
            <p:ph idx="112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5" name="Text 7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B97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Shape 8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D9D6CC"/>
            </a:solidFill>
            <a:prstDash val="solid"/>
          </a:ln>
        </p:spPr>
      </p:sp>
      <p:sp>
        <p:nvSpPr>
          <p:cNvPr id="17" name="pillar3_head"/>
          <p:cNvSpPr/>
          <p:nvPr>
            <p:ph idx="115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8" name="pillar3_body"/>
          <p:cNvSpPr/>
          <p:nvPr>
            <p:ph idx="116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tep1_when"/>
          <p:cNvSpPr/>
          <p:nvPr>
            <p:ph idx="105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8" name="step1_head"/>
          <p:cNvSpPr/>
          <p:nvPr>
            <p:ph idx="106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9" name="step1_body"/>
          <p:cNvSpPr/>
          <p:nvPr>
            <p:ph idx="107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0" name="step2_when"/>
          <p:cNvSpPr/>
          <p:nvPr>
            <p:ph idx="108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head"/>
          <p:cNvSpPr/>
          <p:nvPr>
            <p:ph idx="109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3" name="step3_when"/>
          <p:cNvSpPr/>
          <p:nvPr>
            <p:ph idx="111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head"/>
          <p:cNvSpPr/>
          <p:nvPr>
            <p:ph idx="112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5" name="step3_body"/>
          <p:cNvSpPr/>
          <p:nvPr>
            <p:ph idx="113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6" name="step4_when"/>
          <p:cNvSpPr/>
          <p:nvPr>
            <p:ph idx="114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head"/>
          <p:cNvSpPr/>
          <p:nvPr>
            <p:ph idx="115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8" name="step4_body"/>
          <p:cNvSpPr/>
          <p:nvPr>
            <p:ph idx="116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9" name="step5_when"/>
          <p:cNvSpPr/>
          <p:nvPr>
            <p:ph idx="117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head"/>
          <p:cNvSpPr/>
          <p:nvPr>
            <p:ph idx="118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1" name="step5_body"/>
          <p:cNvSpPr/>
          <p:nvPr>
            <p:ph idx="119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8" name="card1"/>
          <p:cNvSpPr/>
          <p:nvPr>
            <p:ph idx="106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0" name="card2"/>
          <p:cNvSpPr/>
          <p:nvPr>
            <p:ph idx="108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5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2" name="card3"/>
          <p:cNvSpPr/>
          <p:nvPr>
            <p:ph idx="110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3" name="Shape 6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4" name="card4"/>
          <p:cNvSpPr/>
          <p:nvPr>
            <p:ph idx="112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6" name="card5"/>
          <p:cNvSpPr/>
          <p:nvPr>
            <p:ph idx="114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7" name="Shape 8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6CC"/>
            </a:solidFill>
            <a:prstDash val="solid"/>
          </a:ln>
        </p:spPr>
      </p:sp>
      <p:sp>
        <p:nvSpPr>
          <p:cNvPr id="18" name="card6"/>
          <p:cNvSpPr/>
          <p:nvPr>
            <p:ph idx="116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talk"/>
          <p:cNvSpPr/>
          <p:nvPr>
            <p:ph idx="117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body"/>
          <p:cNvSpPr/>
          <p:nvPr>
            <p:ph idx="105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9781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9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9D6C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3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LONDON OFFICE MARKET  ·  10 OCT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 wrap="square"/>
          <a:lstStyle/>
          <a:p>
            <a:r>
              <a:rPr/>
              <a:t>London office team: weekly brief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Board brief  ·  figures to Q2 2026  ·  10 Oct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Central London vacancy fell to 8.0% in Q2 2026 from 8.5% in Q1 2026, with take-up of 3.10m sq ft, 11% above the long-term average, and active requirements up to 14.30m sq ft.</a:t>
            </a:r>
          </a:p>
          <a:p>
            <a:r>
              <a:rPr/>
              <a:t>Investment was £2.00bn in Q2 2026 against £1.90bn in Q1 2026, 36% below the long-term average.</a:t>
            </a:r>
          </a:p>
          <a:p>
            <a:r>
              <a:rPr/>
              <a:t>To watch: investment sentiment hit by renewed interest rate volatility (London).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VACANCY RATE · Q2 2026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8.0%</a:t>
            </a:r>
            <a:r>
              <a:rPr sz="1000">
                <a:solidFill>
                  <a:srgbClr val="C9D1DE"/>
                </a:solidFill>
              </a:rPr>
              <a:t/>
            </a:r>
            <a:r>
              <a:rPr sz="1000">
                <a:solidFill>
                  <a:srgbClr val="C9D1DE"/>
                </a:solidFill>
              </a:rPr>
              <a:t> [1]</a:t>
            </a:r>
          </a:p>
          <a:p>
            <a:r>
              <a:rPr sz="1000">
                <a:solidFill>
                  <a:srgbClr val="C9D1DE"/>
                </a:solidFill>
              </a:rPr>
              <a:t>−0.50pp vs Q1 2026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TAKE-UP · Q2 2026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3.10m sq ft</a:t>
            </a:r>
            <a:r>
              <a:rPr sz="1000">
                <a:solidFill>
                  <a:srgbClr val="C9D1DE"/>
                </a:solidFill>
              </a:rPr>
              <a:t/>
            </a:r>
            <a:r>
              <a:rPr sz="1000">
                <a:solidFill>
                  <a:srgbClr val="C9D1DE"/>
                </a:solidFill>
              </a:rPr>
              <a:t> [1]</a:t>
            </a:r>
          </a:p>
          <a:p>
            <a:r>
              <a:rPr sz="1000">
                <a:solidFill>
                  <a:srgbClr val="C9D1DE"/>
                </a:solidFill>
              </a:rPr>
              <a:t>+0.60 vs Q1 2026 · +11% vs LTA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INVESTMENT VOLUME · Q2 2026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£2.00bn</a:t>
            </a:r>
            <a:r>
              <a:rPr sz="1000">
                <a:solidFill>
                  <a:srgbClr val="C9D1DE"/>
                </a:solidFill>
              </a:rPr>
              <a:t/>
            </a:r>
            <a:r>
              <a:rPr sz="1000">
                <a:solidFill>
                  <a:srgbClr val="C9D1DE"/>
                </a:solidFill>
              </a:rPr>
              <a:t> [1]</a:t>
            </a:r>
          </a:p>
          <a:p>
            <a:r>
              <a:rPr sz="1000">
                <a:solidFill>
                  <a:srgbClr val="C9D1DE"/>
                </a:solidFill>
              </a:rPr>
              <a:t>+0.10 vs Q1 2026 · -36% vs LTA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C9D1DE"/>
                </a:solidFill>
              </a:rPr>
              <a:t>BANK RATE</a:t>
            </a:r>
          </a:p>
          <a:p>
            <a:r>
              <a:rPr sz="3000" b="1">
                <a:solidFill>
                  <a:srgbClr val="FFFFFF"/>
                </a:solidFill>
                <a:latin typeface="Cambria"/>
              </a:rPr>
              <a:t>3.75%</a:t>
            </a:r>
            <a:r>
              <a:rPr sz="1000">
                <a:solidFill>
                  <a:srgbClr val="C9D1DE"/>
                </a:solidFill>
              </a:rPr>
              <a:t/>
            </a:r>
            <a:r>
              <a:rPr sz="1000">
                <a:solidFill>
                  <a:srgbClr val="C9D1DE"/>
                </a:solidFill>
              </a:rPr>
              <a:t> [2]</a:t>
            </a:r>
          </a:p>
          <a:p>
            <a:r>
              <a:rPr sz="1000">
                <a:solidFill>
                  <a:srgbClr val="C9D1DE"/>
                </a:solidFill>
              </a:rPr>
              <a:t>as of 2026-06-18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Figures restated from public research for this proof of concept (Knight Frank terms bar AI use of their data); verify against the original before external use.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02  ·  OCCUPIERS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Vacancy fell to 8.0%; take-up 11% above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CENTRAL LONDON VACANCY RATE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6"/>
          </p:nvPr>
        </p:nvGraphicFramePr>
        <p:xfrm>
          <a:off x="457200" y="1938528"/>
          <a:ext cx="5623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TAKE-UP, M SQ FT · LONG-TERM AVERAGE 2.80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108"/>
          </p:nvPr>
        </p:nvGraphicFramePr>
        <p:xfrm>
          <a:off x="6263640" y="1938528"/>
          <a:ext cx="5376672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/>
              <a:t>Source [1]. Quarters with no figures in the library are not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9781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Active requirements are up to 14.30m sq ft: demand is still building.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03  ·  CAPITAL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Investment £2.00bn in Q2 2026, 36% below the long-term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INVESTMENT, £BN, Q2 2026 VS LONG-TERM AVERAGE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6"/>
          </p:nvPr>
        </p:nvGraphicFramePr>
        <p:xfrm>
          <a:off x="457200" y="1938528"/>
          <a:ext cx="6766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PRICING AND RATES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/>
              <a:t>London total £2.00bn [1]. Yields are the publisher's prime yields.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0" y="1938528"/>
          <a:ext cx="414223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216152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YIELD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LATEST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West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3.8%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City &amp; Southbank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5.2% [1]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Docklands &amp; Stratford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Bank Rate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3.75% [2]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</a:rPr>
                        <a:t>as of 2026-06-18</a:t>
                      </a:r>
                    </a:p>
                  </a:txBody>
                  <a:tcPr>
                    <a:solidFill>
                      <a:srgbClr val="EDEBE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9781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City &amp; Southbank is 77% below its long-term average: little fresh pricing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04  ·  DEMAND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Demand is building: requirements at 14.30m sq 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3500"/>
              <a:t>14.30m sq ft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ACTIVE REQUIREMENTS · Q2 2026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+2.20 vs Q1 2026 [1]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TAKE-UP, M SQ FT</a:t>
            </a:r>
          </a:p>
        </p:txBody>
      </p:sp>
      <p:graphicFrame>
        <p:nvGraphicFramePr>
          <p:cNvPr id="8" name="Chart Placeholder 7"/>
          <p:cNvGraphicFramePr>
            <a:graphicFrameLocks noGrp="1"/>
          </p:cNvGraphicFramePr>
          <p:nvPr>
            <p:ph type="chart" idx="109"/>
          </p:nvPr>
        </p:nvGraphicFramePr>
        <p:xfrm>
          <a:off x="4754880" y="1938528"/>
          <a:ext cx="6885432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Placeholder 8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Source [1].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9781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Requirements, not just take-up, are rising: the pipeline of demand is building.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05  ·  WHAT CHANGED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What changed this week and why it matters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POSITIVE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White City: Grade A vacancy 11.5% against 17.9% overall, gap widening</a:t>
            </a:r>
          </a:p>
          <a:p>
            <a:r>
              <a:rPr sz="900"/>
              <a:t>New and refurbished space in White City is 11.5% vacant against 17.9% for all space in Q2 2026, a gap of 6.4pp (from 5.0pp the quarter before). [1]</a:t>
            </a:r>
          </a:p>
          <a:p>
            <a:r>
              <a:rPr sz="900" i="1">
                <a:solidFill>
                  <a:srgbClr val="6B7385"/>
                </a:solidFill>
              </a:rPr>
              <a:t>Occupiers are concentrating on the best space: Grade A buildings let first while second-hand space waits. Supports Grade A rents and the case for refurbishment; raises the risk on older stock.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POSITIVE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Barclays buys 1 Churchill Place, Canary Wharf, for £750m</a:t>
            </a:r>
          </a:p>
          <a:p>
            <a:r>
              <a:rPr sz="900"/>
              <a:t>Barclays has acquired its Canary Wharf headquarters at 1 Churchill Place for £750m, reflecting a 5.62% yield. The deal lifted Docklands &amp; Stratford investment turnover to… [10]</a:t>
            </a:r>
          </a:p>
          <a:p>
            <a:r>
              <a:rPr sz="900" i="1">
                <a:solidFill>
                  <a:srgbClr val="6B7385"/>
                </a:solidFill>
              </a:rPr>
              <a:t>Sets fresh pricing (yield) evidence for valuations and acquisitions.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NEGATIVE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Investment sentiment hit by renewed interest rate volatility</a:t>
            </a:r>
          </a:p>
          <a:p>
            <a:r>
              <a:rPr sz="900"/>
              <a:t>London office investment edged up to £2.0bn in Q2 2026, but sentiment was affected by renewed interest rate volatility. [10]</a:t>
            </a:r>
          </a:p>
          <a:p>
            <a:r>
              <a:rPr sz="900" i="1">
                <a:solidFill>
                  <a:srgbClr val="6B7385"/>
                </a:solidFill>
              </a:rPr>
              <a:t>Sets fresh pricing (yield) evidence for valuations and acquisitions.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NEGATIVE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City &amp; Southbank investment volume -77% vs long-term average</a:t>
            </a:r>
          </a:p>
          <a:p>
            <a:r>
              <a:rPr sz="900"/>
              <a:t>Investment volume in City &amp; Southbank was £0.37bn in Q2 2026 against a long-term average of £1.60bn. [1]</a:t>
            </a:r>
          </a:p>
          <a:p>
            <a:r>
              <a:rPr sz="900" i="1">
                <a:solidFill>
                  <a:srgbClr val="6B7385"/>
                </a:solidFill>
              </a:rPr>
              <a:t>Investment is well below trend: thin liquidity and little pricing evidence.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4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POSITIVE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Docklands &amp; Stratford investment volume +525% vs long-term average</a:t>
            </a:r>
          </a:p>
          <a:p>
            <a:r>
              <a:rPr sz="900"/>
              <a:t>Investment volume in Docklands &amp; Stratford was £0.75bn in Q2 2026 against a long-term average of £0.12bn. [1]</a:t>
            </a:r>
          </a:p>
          <a:p>
            <a:r>
              <a:rPr sz="900" i="1">
                <a:solidFill>
                  <a:srgbClr val="6B7385"/>
                </a:solidFill>
              </a:rPr>
              <a:t>Investment is above trend: more pricing evidence and better liquidity.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NEGATIVE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F2A44"/>
                </a:solidFill>
                <a:latin typeface="Cambria"/>
              </a:rPr>
              <a:t>540,000 sq ft speculative scheme due Q4 2027 in Rest of Docklands</a:t>
            </a:r>
          </a:p>
          <a:p>
            <a:r>
              <a:rPr sz="900"/>
              <a:t>One North Quay, E14 (540,000 sq ft) is under construction without a pre-let and is expected to complete in Q4 2027. [6]</a:t>
            </a:r>
          </a:p>
          <a:p>
            <a:r>
              <a:rPr sz="900" i="1">
                <a:solidFill>
                  <a:srgbClr val="6B7385"/>
                </a:solidFill>
              </a:rPr>
              <a:t>New speculative space will compete for tenants with existing buildings nearby.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645920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547872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SOURCES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Sources and caveats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>
          <a:xfrm>
            <a:off x="548640" y="1645920"/>
            <a:ext cx="11064240" cy="4389120"/>
          </a:xfrm>
        </p:spPr>
        <p:txBody>
          <a:bodyPr wrap="square"/>
          <a:lstStyle/>
          <a:p>
            <a:r>
              <a:rPr/>
              <a:t>[1] London Offices Spotlight Q2 2026 (Uploaded by PoC seed · 2026-10-10) - https://www.knightfrank.co.uk/site-assets/research/report-pdfs/london-office-spotlight/spotlight-q2-2026.pdf</a:t>
            </a:r>
          </a:p>
          <a:p>
            <a:r>
              <a:rPr/>
              <a:t>[2] Bank of England Bank Rate - https://www.bankofengland.co.uk/boeapps/database/Bank-Rate.asp</a:t>
            </a:r>
          </a:p>
          <a:p>
            <a:r>
              <a:rPr/>
              <a:t>[3] The London Office Market Report Q1 2024 (Uploaded by PoC seed · 2026-10-10) - https://content.knightfrank.com/research/104/documents/en/the-london-office-market-report-q1-2024-11170.pdf</a:t>
            </a:r>
          </a:p>
          <a:p>
            <a:r>
              <a:rPr/>
              <a:t>[4] London Offices Spotlight Q2 2024 (Uploaded by PoC seed · 2026-10-10) - https://content.knightfrank.com/research/1903/documents/en/london-offices-spotlight-q2-2024-11338.pdf</a:t>
            </a:r>
          </a:p>
          <a:p>
            <a:r>
              <a:rPr/>
              <a:t>[5] The London Office Market Report Q3 2024 (Uploaded by PoC seed · 2026-10-10) - https://www.knightfrank.co.uk/research/reports/the-london-office-market-report-104/contentassets/the-london-office-market-report-q3-2024-11701.pdf</a:t>
            </a:r>
          </a:p>
          <a:p>
            <a:r>
              <a:rPr/>
              <a:t>[6] The London Office Market Report Q2 2025 (Uploaded by PoC seed · 2026-10-10) - https://content.knightfrank.com/research/104/documents/en/the-london-office-market-report-q2-2025-12541.pdf</a:t>
            </a:r>
          </a:p>
          <a:p>
            <a:r>
              <a:rPr/>
              <a:t>[7] London Offices Spotlight Q3 2025 (Uploaded by PoC seed · 2026-10-10) - https://content.knightfrank.com/research/1903/documents/en/london-offices-spotlight-q3-2025-12540.pdf</a:t>
            </a:r>
          </a:p>
          <a:p>
            <a:r>
              <a:rPr/>
              <a:t>[8] London Offices Spotlight Q4 2025 (Uploaded by PoC seed · 2026-10-10) - https://www.knightfrank.co.uk/site-assets/research/report-pdfs/spotlight/spotlight-q4-2025-2.pdf</a:t>
            </a:r>
          </a:p>
          <a:p>
            <a:r>
              <a:rPr/>
              <a:t>[9] London Offices Spotlight Q1 2026 (Uploaded by PoC seed · 2026-10-10) - https://www.knightfrank.co.uk/site-assets/research/report-pdfs/london-office-spotlight/spotlight-q1-2026v3.pdf</a:t>
            </a:r>
          </a:p>
          <a:p>
            <a:r>
              <a:rPr/>
              <a:t>[10] Knight Frank research (seed) (2026-06-30) - https://www.knightfrank.co.uk/site-assets/research/report-pdfs/london-office-spotlight/spotlight-q2-2026.pdf</a:t>
            </a:r>
          </a:p>
          <a:p>
            <a:r>
              <a:rPr/>
              <a:t/>
            </a:r>
          </a:p>
          <a:p>
            <a:r>
              <a:rPr i="1">
                <a:solidFill>
                  <a:srgbClr val="6B7385"/>
                </a:solidFill>
              </a:rPr>
              <a:t>Figures restated from public research for this proof of concept (Knight Frank terms bar AI use of their data); verify against the original before external use.</a:t>
            </a:r>
          </a:p>
        </p:txBody>
      </p:sp>
      <p:sp>
        <p:nvSpPr>
          <p:cNvPr id="5" name="tier dot open"/>
          <p:cNvSpPr/>
          <p:nvPr/>
        </p:nvSpPr>
        <p:spPr>
          <a:xfrm>
            <a:off x="548640" y="6227064"/>
            <a:ext cx="88900" cy="88900"/>
          </a:xfrm>
          <a:prstGeom prst="ellipse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5640" y="6144768"/>
            <a:ext cx="2138679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B7385"/>
                </a:solidFill>
              </a:rPr>
              <a:t>Open data, collected automatically</a:t>
            </a:r>
          </a:p>
        </p:txBody>
      </p:sp>
      <p:sp>
        <p:nvSpPr>
          <p:cNvPr id="7" name="tier dot uploaded"/>
          <p:cNvSpPr/>
          <p:nvPr/>
        </p:nvSpPr>
        <p:spPr>
          <a:xfrm>
            <a:off x="2997199" y="6227064"/>
            <a:ext cx="88900" cy="88900"/>
          </a:xfrm>
          <a:prstGeom prst="ellipse">
            <a:avLst/>
          </a:prstGeom>
          <a:solidFill>
            <a:srgbClr val="B9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24199" y="6144768"/>
            <a:ext cx="313182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B7385"/>
                </a:solidFill>
              </a:rPr>
              <a:t>Uploaded by a colleague under the team's own access</a:t>
            </a:r>
          </a:p>
        </p:txBody>
      </p:sp>
      <p:sp>
        <p:nvSpPr>
          <p:cNvPr id="9" name="tier dot internal"/>
          <p:cNvSpPr/>
          <p:nvPr/>
        </p:nvSpPr>
        <p:spPr>
          <a:xfrm>
            <a:off x="6438899" y="6227064"/>
            <a:ext cx="88900" cy="88900"/>
          </a:xfrm>
          <a:prstGeom prst="ellipse">
            <a:avLst/>
          </a:prstGeom>
          <a:solidFill>
            <a:srgbClr val="2F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899" y="6144768"/>
            <a:ext cx="1612899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B7385"/>
                </a:solidFill>
              </a:rPr>
              <a:t>Internal, our own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385"/>
                </a:solidFill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office team: weekly brief</dc:title>
  <dc:subject>PptxGenJS Presentation</dc:subject>
  <dc:creator>London Office Market Agent</dc:creator>
  <cp:lastModifiedBy>PptxGenJS</cp:lastModifiedBy>
  <cp:revision>1</cp:revision>
  <dcterms:created xsi:type="dcterms:W3CDTF">2026-10-10T18:16:15Z</dcterms:created>
  <dcterms:modified xsi:type="dcterms:W3CDTF">2026-10-10T18:16:15Z</dcterms:modified>
</cp:coreProperties>
</file>